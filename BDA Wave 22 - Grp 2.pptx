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embeddedFontLst>
    <p:embeddedFont>
      <p:font typeface="Play" panose="020B0604020202020204" charset="0"/>
      <p:regular r:id="rId45"/>
      <p:bold r:id="rId46"/>
    </p:embeddedFont>
    <p:embeddedFont>
      <p:font typeface="Roboto" panose="02000000000000000000" pitchFamily="2" charset="0"/>
      <p:regular r:id="rId47"/>
      <p:bold r:id="rId48"/>
      <p:italic r:id="rId49"/>
      <p:boldItalic r:id="rId50"/>
    </p:embeddedFont>
    <p:embeddedFont>
      <p:font typeface="Roboto Mono" panose="00000009000000000000" pitchFamily="49"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i2OnoNtH6gKFHLb2xuaAcN6YtVb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0F31FA-75AA-4DF5-8931-7ACD70D262A8}">
  <a:tblStyle styleId="{7D0F31FA-75AA-4DF5-8931-7ACD70D262A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2B5A190-04D3-4EA2-AE85-54BD0693BC2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7a46a85c3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Qinet Retailer App: </a:t>
            </a:r>
            <a:br>
              <a:rPr lang="en-US"/>
            </a:br>
            <a:r>
              <a:rPr lang="en-US">
                <a:solidFill>
                  <a:schemeClr val="dk1"/>
                </a:solidFill>
              </a:rPr>
              <a:t>B2B ecommerce platform meticulously crafted to streamline order placement process between FMCG retailers and distributors, enhancing operational efficiencies and strengthening competitive positioning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Business Challenge: </a:t>
            </a:r>
            <a:br>
              <a:rPr lang="en-US">
                <a:solidFill>
                  <a:schemeClr val="dk1"/>
                </a:solidFill>
              </a:rPr>
            </a:br>
            <a:r>
              <a:rPr lang="en-US">
                <a:solidFill>
                  <a:schemeClr val="dk1"/>
                </a:solidFill>
              </a:rPr>
              <a:t>Amid intense market competition, Qinet seeks to understand their retailer profiles and segments, identifying those who may likely be reducing their engagement and devising retention strategies for re-engagement </a:t>
            </a:r>
            <a:endParaRPr>
              <a:solidFill>
                <a:schemeClr val="dk1"/>
              </a:solidFill>
            </a:endParaRPr>
          </a:p>
        </p:txBody>
      </p:sp>
      <p:sp>
        <p:nvSpPr>
          <p:cNvPr id="100" name="Google Shape;100;g37a46a85c33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8548b80df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g38548b80df1_0_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82d17c7edc_3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114300" algn="l" rtl="0">
              <a:spcBef>
                <a:spcPts val="0"/>
              </a:spcBef>
              <a:spcAft>
                <a:spcPts val="0"/>
              </a:spcAft>
              <a:buClr>
                <a:schemeClr val="dk1"/>
              </a:buClr>
              <a:buSzPts val="1000"/>
              <a:buChar char="•"/>
            </a:pPr>
            <a:r>
              <a:rPr lang="en-US" sz="1000">
                <a:solidFill>
                  <a:schemeClr val="dk1"/>
                </a:solidFill>
              </a:rPr>
              <a:t>Simple data clean up and Power BI Analysis</a:t>
            </a:r>
            <a:endParaRPr sz="1000">
              <a:solidFill>
                <a:schemeClr val="dk1"/>
              </a:solidFill>
            </a:endParaRPr>
          </a:p>
          <a:p>
            <a:pPr marL="228600" lvl="0" indent="-114300" algn="l" rtl="0">
              <a:spcBef>
                <a:spcPts val="0"/>
              </a:spcBef>
              <a:spcAft>
                <a:spcPts val="0"/>
              </a:spcAft>
              <a:buClr>
                <a:schemeClr val="dk1"/>
              </a:buClr>
              <a:buSzPts val="1000"/>
              <a:buChar char="•"/>
            </a:pPr>
            <a:r>
              <a:rPr lang="en-US" sz="1000">
                <a:solidFill>
                  <a:schemeClr val="dk1"/>
                </a:solidFill>
              </a:rPr>
              <a:t>What is the behaviour analysis – Quantity Sold, Invoice Date</a:t>
            </a:r>
            <a:endParaRPr sz="1000">
              <a:solidFill>
                <a:schemeClr val="dk1"/>
              </a:solidFill>
            </a:endParaRPr>
          </a:p>
          <a:p>
            <a:pPr marL="228600" lvl="0" indent="-114300" algn="l" rtl="0">
              <a:spcBef>
                <a:spcPts val="0"/>
              </a:spcBef>
              <a:spcAft>
                <a:spcPts val="0"/>
              </a:spcAft>
              <a:buClr>
                <a:schemeClr val="dk1"/>
              </a:buClr>
              <a:buSzPts val="1000"/>
              <a:buChar char="•"/>
            </a:pPr>
            <a:r>
              <a:rPr lang="en-US" sz="1000">
                <a:solidFill>
                  <a:schemeClr val="dk1"/>
                </a:solidFill>
              </a:rPr>
              <a:t>What is the Distributor and Retailer Relationship – Quantity sold, List Price, Price Sold (base on economic of scales ?)</a:t>
            </a:r>
            <a:endParaRPr sz="1000">
              <a:solidFill>
                <a:schemeClr val="dk1"/>
              </a:solidFill>
            </a:endParaRPr>
          </a:p>
          <a:p>
            <a:pPr marL="228600" lvl="0" indent="-114300" algn="l" rtl="0">
              <a:spcBef>
                <a:spcPts val="0"/>
              </a:spcBef>
              <a:spcAft>
                <a:spcPts val="0"/>
              </a:spcAft>
              <a:buClr>
                <a:schemeClr val="dk1"/>
              </a:buClr>
              <a:buSzPts val="1000"/>
              <a:buChar char="•"/>
            </a:pPr>
            <a:r>
              <a:rPr lang="en-US" sz="1000">
                <a:solidFill>
                  <a:schemeClr val="dk1"/>
                </a:solidFill>
              </a:rPr>
              <a:t>Any data collected for – Customer Feedback, Upon “termination of service”, Subscription Model</a:t>
            </a:r>
            <a:endParaRPr sz="100"/>
          </a:p>
        </p:txBody>
      </p:sp>
      <p:sp>
        <p:nvSpPr>
          <p:cNvPr id="117" name="Google Shape;117;g382d17c7edc_3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7a4ab458f7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7a4ab458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2d17c7edc_3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114300" algn="l" rtl="0">
              <a:spcBef>
                <a:spcPts val="0"/>
              </a:spcBef>
              <a:spcAft>
                <a:spcPts val="0"/>
              </a:spcAft>
              <a:buClr>
                <a:schemeClr val="dk1"/>
              </a:buClr>
              <a:buSzPts val="1000"/>
              <a:buChar char="•"/>
            </a:pPr>
            <a:r>
              <a:rPr lang="en-US" sz="1000">
                <a:solidFill>
                  <a:schemeClr val="dk1"/>
                </a:solidFill>
              </a:rPr>
              <a:t>Simple data clean up and Power BI Analysis</a:t>
            </a:r>
            <a:endParaRPr sz="1000">
              <a:solidFill>
                <a:schemeClr val="dk1"/>
              </a:solidFill>
            </a:endParaRPr>
          </a:p>
          <a:p>
            <a:pPr marL="228600" lvl="0" indent="-114300" algn="l" rtl="0">
              <a:spcBef>
                <a:spcPts val="0"/>
              </a:spcBef>
              <a:spcAft>
                <a:spcPts val="0"/>
              </a:spcAft>
              <a:buClr>
                <a:schemeClr val="dk1"/>
              </a:buClr>
              <a:buSzPts val="1000"/>
              <a:buChar char="•"/>
            </a:pPr>
            <a:r>
              <a:rPr lang="en-US" sz="1000">
                <a:solidFill>
                  <a:schemeClr val="dk1"/>
                </a:solidFill>
              </a:rPr>
              <a:t>What is the behaviour analysis – Quantity Sold, Invoice Date</a:t>
            </a:r>
            <a:endParaRPr sz="1000">
              <a:solidFill>
                <a:schemeClr val="dk1"/>
              </a:solidFill>
            </a:endParaRPr>
          </a:p>
          <a:p>
            <a:pPr marL="228600" lvl="0" indent="-114300" algn="l" rtl="0">
              <a:spcBef>
                <a:spcPts val="0"/>
              </a:spcBef>
              <a:spcAft>
                <a:spcPts val="0"/>
              </a:spcAft>
              <a:buClr>
                <a:schemeClr val="dk1"/>
              </a:buClr>
              <a:buSzPts val="1000"/>
              <a:buChar char="•"/>
            </a:pPr>
            <a:r>
              <a:rPr lang="en-US" sz="1000">
                <a:solidFill>
                  <a:schemeClr val="dk1"/>
                </a:solidFill>
              </a:rPr>
              <a:t>What is the Distributor and Retailer Relationship – Quantity sold, List Price, Price Sold (base on economic of scales ?)</a:t>
            </a:r>
            <a:endParaRPr sz="1000">
              <a:solidFill>
                <a:schemeClr val="dk1"/>
              </a:solidFill>
            </a:endParaRPr>
          </a:p>
          <a:p>
            <a:pPr marL="228600" lvl="0" indent="-114300" algn="l" rtl="0">
              <a:spcBef>
                <a:spcPts val="0"/>
              </a:spcBef>
              <a:spcAft>
                <a:spcPts val="0"/>
              </a:spcAft>
              <a:buClr>
                <a:schemeClr val="dk1"/>
              </a:buClr>
              <a:buSzPts val="1000"/>
              <a:buChar char="•"/>
            </a:pPr>
            <a:r>
              <a:rPr lang="en-US" sz="1000">
                <a:solidFill>
                  <a:schemeClr val="dk1"/>
                </a:solidFill>
              </a:rPr>
              <a:t>Any data collected for – Customer Feedback, Upon “termination of service”, Subscription Model</a:t>
            </a:r>
            <a:endParaRPr sz="100"/>
          </a:p>
        </p:txBody>
      </p:sp>
      <p:sp>
        <p:nvSpPr>
          <p:cNvPr id="132" name="Google Shape;132;g382d17c7edc_3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For our reference!</a:t>
            </a:r>
            <a:endParaRPr/>
          </a:p>
        </p:txBody>
      </p:sp>
      <p:sp>
        <p:nvSpPr>
          <p:cNvPr id="140" name="Google Shape;14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8548b80df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g38548b80df1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79461babfd_2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79461babfd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RFM scores by Quantiles vs. K-Means</a:t>
            </a:r>
            <a:endParaRPr/>
          </a:p>
          <a:p>
            <a:pPr marL="0" lvl="0" indent="0" algn="l" rtl="0">
              <a:spcBef>
                <a:spcPts val="0"/>
              </a:spcBef>
              <a:spcAft>
                <a:spcPts val="0"/>
              </a:spcAft>
              <a:buNone/>
            </a:pPr>
            <a:endParaRPr/>
          </a:p>
          <a:p>
            <a:pPr marL="0" lvl="0" indent="0" algn="l" rtl="0">
              <a:spcBef>
                <a:spcPts val="0"/>
              </a:spcBef>
              <a:spcAft>
                <a:spcPts val="0"/>
              </a:spcAft>
              <a:buNone/>
            </a:pPr>
            <a:r>
              <a:rPr lang="en-US" b="1" u="sng"/>
              <a:t>RFM by Quantiles</a:t>
            </a:r>
            <a:endParaRPr b="1" u="sng"/>
          </a:p>
          <a:p>
            <a:pPr marL="0" lvl="0" indent="0" algn="l" rtl="0">
              <a:spcBef>
                <a:spcPts val="0"/>
              </a:spcBef>
              <a:spcAft>
                <a:spcPts val="0"/>
              </a:spcAft>
              <a:buNone/>
            </a:pPr>
            <a:r>
              <a:rPr lang="en-US"/>
              <a:t>Pros:</a:t>
            </a:r>
            <a:endParaRPr/>
          </a:p>
          <a:p>
            <a:pPr marL="457200" lvl="0" indent="-298450" algn="l" rtl="0">
              <a:spcBef>
                <a:spcPts val="0"/>
              </a:spcBef>
              <a:spcAft>
                <a:spcPts val="0"/>
              </a:spcAft>
              <a:buSzPts val="1100"/>
              <a:buChar char="-"/>
            </a:pPr>
            <a:r>
              <a:rPr lang="en-US"/>
              <a:t>Simple and transparent (Top 20% of recent customer, R=5)</a:t>
            </a:r>
            <a:endParaRPr/>
          </a:p>
          <a:p>
            <a:pPr marL="457200" lvl="0" indent="-298450" algn="l" rtl="0">
              <a:spcBef>
                <a:spcPts val="0"/>
              </a:spcBef>
              <a:spcAft>
                <a:spcPts val="0"/>
              </a:spcAft>
              <a:buSzPts val="1100"/>
              <a:buChar char="-"/>
            </a:pPr>
            <a:r>
              <a:rPr lang="en-US"/>
              <a:t>Easy to Interpret (</a:t>
            </a:r>
            <a:r>
              <a:rPr lang="en-US">
                <a:solidFill>
                  <a:schemeClr val="dk1"/>
                </a:solidFill>
              </a:rPr>
              <a:t>R=5, F=1, M=1 is clearly recent but not frequent/high-spending)</a:t>
            </a:r>
            <a:endParaRPr/>
          </a:p>
          <a:p>
            <a:pPr marL="0" lvl="0" indent="0" algn="l" rtl="0">
              <a:spcBef>
                <a:spcPts val="0"/>
              </a:spcBef>
              <a:spcAft>
                <a:spcPts val="0"/>
              </a:spcAft>
              <a:buNone/>
            </a:pPr>
            <a:r>
              <a:rPr lang="en-US"/>
              <a:t>Cons:</a:t>
            </a:r>
            <a:endParaRPr/>
          </a:p>
          <a:p>
            <a:pPr marL="457200" lvl="0" indent="-298450" algn="l" rtl="0">
              <a:spcBef>
                <a:spcPts val="0"/>
              </a:spcBef>
              <a:spcAft>
                <a:spcPts val="0"/>
              </a:spcAft>
              <a:buSzPts val="1100"/>
              <a:buChar char="-"/>
            </a:pPr>
            <a:r>
              <a:rPr lang="en-US"/>
              <a:t>Cutoff may split similar customers </a:t>
            </a:r>
            <a:endParaRPr/>
          </a:p>
          <a:p>
            <a:pPr marL="457200" lvl="0" indent="-298450" algn="l" rtl="0">
              <a:spcBef>
                <a:spcPts val="0"/>
              </a:spcBef>
              <a:spcAft>
                <a:spcPts val="0"/>
              </a:spcAft>
              <a:buSzPts val="1100"/>
              <a:buChar char="-"/>
            </a:pPr>
            <a:r>
              <a:rPr lang="en-US"/>
              <a:t>Equal-size group - Does not reflect natural clusters </a:t>
            </a:r>
            <a:endParaRPr/>
          </a:p>
          <a:p>
            <a:pPr marL="0" lvl="0" indent="0" algn="l" rtl="0">
              <a:spcBef>
                <a:spcPts val="0"/>
              </a:spcBef>
              <a:spcAft>
                <a:spcPts val="0"/>
              </a:spcAft>
              <a:buNone/>
            </a:pPr>
            <a:endParaRPr/>
          </a:p>
          <a:p>
            <a:pPr marL="0" lvl="0" indent="0" algn="l" rtl="0">
              <a:spcBef>
                <a:spcPts val="0"/>
              </a:spcBef>
              <a:spcAft>
                <a:spcPts val="0"/>
              </a:spcAft>
              <a:buNone/>
            </a:pPr>
            <a:r>
              <a:rPr lang="en-US" b="1" u="sng"/>
              <a:t>RFM by K-Means</a:t>
            </a:r>
            <a:endParaRPr b="1" u="sng"/>
          </a:p>
          <a:p>
            <a:pPr marL="0" lvl="0" indent="0" algn="l" rtl="0">
              <a:spcBef>
                <a:spcPts val="0"/>
              </a:spcBef>
              <a:spcAft>
                <a:spcPts val="0"/>
              </a:spcAft>
              <a:buNone/>
            </a:pPr>
            <a:r>
              <a:rPr lang="en-US"/>
              <a:t>Pros:</a:t>
            </a:r>
            <a:endParaRPr/>
          </a:p>
          <a:p>
            <a:pPr marL="457200" lvl="0" indent="-298450" algn="l" rtl="0">
              <a:spcBef>
                <a:spcPts val="0"/>
              </a:spcBef>
              <a:spcAft>
                <a:spcPts val="0"/>
              </a:spcAft>
              <a:buSzPts val="1100"/>
              <a:buChar char="-"/>
            </a:pPr>
            <a:r>
              <a:rPr lang="en-US"/>
              <a:t>Natural groupings (cluster by similarity)</a:t>
            </a:r>
            <a:endParaRPr/>
          </a:p>
          <a:p>
            <a:pPr marL="0" lvl="0" indent="0" algn="l" rtl="0">
              <a:spcBef>
                <a:spcPts val="0"/>
              </a:spcBef>
              <a:spcAft>
                <a:spcPts val="0"/>
              </a:spcAft>
              <a:buNone/>
            </a:pPr>
            <a:r>
              <a:rPr lang="en-US"/>
              <a:t>Cons:</a:t>
            </a:r>
            <a:endParaRPr/>
          </a:p>
          <a:p>
            <a:pPr marL="457200" lvl="0" indent="-298450" algn="l" rtl="0">
              <a:spcBef>
                <a:spcPts val="0"/>
              </a:spcBef>
              <a:spcAft>
                <a:spcPts val="0"/>
              </a:spcAft>
              <a:buSzPts val="1100"/>
              <a:buChar char="-"/>
            </a:pPr>
            <a:r>
              <a:rPr lang="en-US"/>
              <a:t>Harder to interpret (“Cluster 2” doesn’t tell you anything without profiling)</a:t>
            </a:r>
            <a:endParaRPr/>
          </a:p>
          <a:p>
            <a:pPr marL="457200" lvl="0" indent="-298450" algn="l" rtl="0">
              <a:spcBef>
                <a:spcPts val="0"/>
              </a:spcBef>
              <a:spcAft>
                <a:spcPts val="0"/>
              </a:spcAft>
              <a:buSzPts val="1100"/>
              <a:buChar char="-"/>
            </a:pPr>
            <a:r>
              <a:rPr lang="en-US"/>
              <a:t>Requires scaling</a:t>
            </a:r>
            <a:endParaRPr/>
          </a:p>
          <a:p>
            <a:pPr marL="0" lvl="0" indent="0" algn="l" rtl="0">
              <a:spcBef>
                <a:spcPts val="0"/>
              </a:spcBef>
              <a:spcAft>
                <a:spcPts val="0"/>
              </a:spcAft>
              <a:buNone/>
            </a:pPr>
            <a:endParaRPr/>
          </a:p>
          <a:p>
            <a:pPr marL="0" lvl="0" indent="0" algn="l" rtl="0">
              <a:spcBef>
                <a:spcPts val="0"/>
              </a:spcBef>
              <a:spcAft>
                <a:spcPts val="0"/>
              </a:spcAft>
              <a:buNone/>
            </a:pPr>
            <a:r>
              <a:rPr lang="en-US" b="1" u="sng"/>
              <a:t>Why did we use RFM by Quantiles?</a:t>
            </a:r>
            <a:endParaRPr b="1" u="sng"/>
          </a:p>
          <a:p>
            <a:pPr marL="457200" lvl="0" indent="-298450" algn="l" rtl="0">
              <a:spcBef>
                <a:spcPts val="0"/>
              </a:spcBef>
              <a:spcAft>
                <a:spcPts val="0"/>
              </a:spcAft>
              <a:buClr>
                <a:schemeClr val="dk1"/>
              </a:buClr>
              <a:buSzPts val="1100"/>
              <a:buAutoNum type="arabicPeriod"/>
            </a:pPr>
            <a:r>
              <a:rPr lang="en-US">
                <a:solidFill>
                  <a:schemeClr val="dk1"/>
                </a:solidFill>
              </a:rPr>
              <a:t>Easier to start with </a:t>
            </a:r>
            <a:r>
              <a:rPr lang="en-US" b="1">
                <a:solidFill>
                  <a:schemeClr val="dk1"/>
                </a:solidFill>
              </a:rPr>
              <a:t>quantile-based RFM scores</a:t>
            </a:r>
            <a:endParaRPr>
              <a:solidFill>
                <a:schemeClr val="dk1"/>
              </a:solidFill>
            </a:endParaRPr>
          </a:p>
          <a:p>
            <a:pPr marL="914400" lvl="1" indent="-298450" algn="l" rtl="0">
              <a:spcBef>
                <a:spcPts val="0"/>
              </a:spcBef>
              <a:spcAft>
                <a:spcPts val="0"/>
              </a:spcAft>
              <a:buClr>
                <a:schemeClr val="dk1"/>
              </a:buClr>
              <a:buSzPts val="1100"/>
              <a:buAutoNum type="alphaLcPeriod"/>
            </a:pPr>
            <a:r>
              <a:rPr lang="en-US">
                <a:solidFill>
                  <a:schemeClr val="dk1"/>
                </a:solidFill>
              </a:rPr>
              <a:t>Simple</a:t>
            </a:r>
            <a:endParaRPr>
              <a:solidFill>
                <a:schemeClr val="dk1"/>
              </a:solidFill>
            </a:endParaRPr>
          </a:p>
          <a:p>
            <a:pPr marL="914400" lvl="1" indent="-298450" algn="l" rtl="0">
              <a:spcBef>
                <a:spcPts val="0"/>
              </a:spcBef>
              <a:spcAft>
                <a:spcPts val="0"/>
              </a:spcAft>
              <a:buClr>
                <a:schemeClr val="dk1"/>
              </a:buClr>
              <a:buSzPts val="1100"/>
              <a:buAutoNum type="alphaLcPeriod"/>
            </a:pPr>
            <a:r>
              <a:rPr lang="en-US">
                <a:solidFill>
                  <a:schemeClr val="dk1"/>
                </a:solidFill>
              </a:rPr>
              <a:t>Interpretable and explainable</a:t>
            </a:r>
            <a:endParaRPr>
              <a:solidFill>
                <a:schemeClr val="dk1"/>
              </a:solidFill>
            </a:endParaRPr>
          </a:p>
          <a:p>
            <a:pPr marL="457200" lvl="0" indent="-298450" algn="l" rtl="0">
              <a:spcBef>
                <a:spcPts val="0"/>
              </a:spcBef>
              <a:spcAft>
                <a:spcPts val="0"/>
              </a:spcAft>
              <a:buClr>
                <a:schemeClr val="dk1"/>
              </a:buClr>
              <a:buSzPts val="1100"/>
              <a:buAutoNum type="arabicPeriod"/>
            </a:pPr>
            <a:r>
              <a:rPr lang="en-US">
                <a:solidFill>
                  <a:schemeClr val="dk1"/>
                </a:solidFill>
              </a:rPr>
              <a:t>Avoid unbalanced clusters</a:t>
            </a:r>
            <a:endParaRPr>
              <a:solidFill>
                <a:schemeClr val="dk1"/>
              </a:solidFill>
            </a:endParaRPr>
          </a:p>
          <a:p>
            <a:pPr marL="457200" lvl="0" indent="-298450" algn="l" rtl="0">
              <a:spcBef>
                <a:spcPts val="0"/>
              </a:spcBef>
              <a:spcAft>
                <a:spcPts val="0"/>
              </a:spcAft>
              <a:buClr>
                <a:schemeClr val="dk1"/>
              </a:buClr>
              <a:buSzPts val="1100"/>
              <a:buAutoNum type="arabicPeriod"/>
            </a:pPr>
            <a:r>
              <a:rPr lang="en-US">
                <a:solidFill>
                  <a:schemeClr val="dk1"/>
                </a:solidFill>
              </a:rPr>
              <a:t>Then, if the business needs </a:t>
            </a:r>
            <a:r>
              <a:rPr lang="en-US" b="1">
                <a:solidFill>
                  <a:schemeClr val="dk1"/>
                </a:solidFill>
              </a:rPr>
              <a:t>more nuanced segmentation</a:t>
            </a:r>
            <a:r>
              <a:rPr lang="en-US">
                <a:solidFill>
                  <a:schemeClr val="dk1"/>
                </a:solidFill>
              </a:rPr>
              <a:t>, experiment with </a:t>
            </a:r>
            <a:r>
              <a:rPr lang="en-US" b="1">
                <a:solidFill>
                  <a:schemeClr val="dk1"/>
                </a:solidFill>
              </a:rPr>
              <a:t>K-Means (or other clustering like Gaussian Mixture Models)</a:t>
            </a:r>
            <a:r>
              <a:rPr lang="en-US">
                <a:solidFill>
                  <a:schemeClr val="dk1"/>
                </a:solidFill>
              </a:rPr>
              <a:t> on the RFM features and compare results.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7b178df6df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7b178df6d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RFM scores by Quantiles vs. K-Means</a:t>
            </a:r>
            <a:endParaRPr/>
          </a:p>
          <a:p>
            <a:pPr marL="0" lvl="0" indent="0" algn="l" rtl="0">
              <a:spcBef>
                <a:spcPts val="0"/>
              </a:spcBef>
              <a:spcAft>
                <a:spcPts val="0"/>
              </a:spcAft>
              <a:buNone/>
            </a:pPr>
            <a:endParaRPr/>
          </a:p>
          <a:p>
            <a:pPr marL="0" lvl="0" indent="0" algn="l" rtl="0">
              <a:spcBef>
                <a:spcPts val="0"/>
              </a:spcBef>
              <a:spcAft>
                <a:spcPts val="0"/>
              </a:spcAft>
              <a:buNone/>
            </a:pPr>
            <a:r>
              <a:rPr lang="en-US" b="1" u="sng"/>
              <a:t>RFM by Quantiles</a:t>
            </a:r>
            <a:endParaRPr b="1" u="sng"/>
          </a:p>
          <a:p>
            <a:pPr marL="0" lvl="0" indent="0" algn="l" rtl="0">
              <a:spcBef>
                <a:spcPts val="0"/>
              </a:spcBef>
              <a:spcAft>
                <a:spcPts val="0"/>
              </a:spcAft>
              <a:buNone/>
            </a:pPr>
            <a:r>
              <a:rPr lang="en-US"/>
              <a:t>Pros:</a:t>
            </a:r>
            <a:endParaRPr/>
          </a:p>
          <a:p>
            <a:pPr marL="457200" lvl="0" indent="-298450" algn="l" rtl="0">
              <a:spcBef>
                <a:spcPts val="0"/>
              </a:spcBef>
              <a:spcAft>
                <a:spcPts val="0"/>
              </a:spcAft>
              <a:buSzPts val="1100"/>
              <a:buChar char="-"/>
            </a:pPr>
            <a:r>
              <a:rPr lang="en-US"/>
              <a:t>Simple and transparent (Top 20% of recent customer, R=5)</a:t>
            </a:r>
            <a:endParaRPr/>
          </a:p>
          <a:p>
            <a:pPr marL="457200" lvl="0" indent="-298450" algn="l" rtl="0">
              <a:spcBef>
                <a:spcPts val="0"/>
              </a:spcBef>
              <a:spcAft>
                <a:spcPts val="0"/>
              </a:spcAft>
              <a:buSzPts val="1100"/>
              <a:buChar char="-"/>
            </a:pPr>
            <a:r>
              <a:rPr lang="en-US"/>
              <a:t>Easy to Interpret (</a:t>
            </a:r>
            <a:r>
              <a:rPr lang="en-US">
                <a:solidFill>
                  <a:schemeClr val="dk1"/>
                </a:solidFill>
              </a:rPr>
              <a:t>R=5, F=1, M=1 is clearly recent but not frequent/high-spending)</a:t>
            </a:r>
            <a:endParaRPr/>
          </a:p>
          <a:p>
            <a:pPr marL="0" lvl="0" indent="0" algn="l" rtl="0">
              <a:spcBef>
                <a:spcPts val="0"/>
              </a:spcBef>
              <a:spcAft>
                <a:spcPts val="0"/>
              </a:spcAft>
              <a:buNone/>
            </a:pPr>
            <a:r>
              <a:rPr lang="en-US"/>
              <a:t>Cons:</a:t>
            </a:r>
            <a:endParaRPr/>
          </a:p>
          <a:p>
            <a:pPr marL="457200" lvl="0" indent="-298450" algn="l" rtl="0">
              <a:spcBef>
                <a:spcPts val="0"/>
              </a:spcBef>
              <a:spcAft>
                <a:spcPts val="0"/>
              </a:spcAft>
              <a:buSzPts val="1100"/>
              <a:buChar char="-"/>
            </a:pPr>
            <a:r>
              <a:rPr lang="en-US"/>
              <a:t>Cutoff may split similar customers </a:t>
            </a:r>
            <a:endParaRPr/>
          </a:p>
          <a:p>
            <a:pPr marL="457200" lvl="0" indent="-298450" algn="l" rtl="0">
              <a:spcBef>
                <a:spcPts val="0"/>
              </a:spcBef>
              <a:spcAft>
                <a:spcPts val="0"/>
              </a:spcAft>
              <a:buSzPts val="1100"/>
              <a:buChar char="-"/>
            </a:pPr>
            <a:r>
              <a:rPr lang="en-US"/>
              <a:t>Equal-size group - Does not reflect natural clusters </a:t>
            </a:r>
            <a:endParaRPr/>
          </a:p>
          <a:p>
            <a:pPr marL="0" lvl="0" indent="0" algn="l" rtl="0">
              <a:spcBef>
                <a:spcPts val="0"/>
              </a:spcBef>
              <a:spcAft>
                <a:spcPts val="0"/>
              </a:spcAft>
              <a:buNone/>
            </a:pPr>
            <a:endParaRPr/>
          </a:p>
          <a:p>
            <a:pPr marL="0" lvl="0" indent="0" algn="l" rtl="0">
              <a:spcBef>
                <a:spcPts val="0"/>
              </a:spcBef>
              <a:spcAft>
                <a:spcPts val="0"/>
              </a:spcAft>
              <a:buNone/>
            </a:pPr>
            <a:r>
              <a:rPr lang="en-US" b="1" u="sng"/>
              <a:t>RFM by K-Means</a:t>
            </a:r>
            <a:endParaRPr b="1" u="sng"/>
          </a:p>
          <a:p>
            <a:pPr marL="0" lvl="0" indent="0" algn="l" rtl="0">
              <a:spcBef>
                <a:spcPts val="0"/>
              </a:spcBef>
              <a:spcAft>
                <a:spcPts val="0"/>
              </a:spcAft>
              <a:buNone/>
            </a:pPr>
            <a:r>
              <a:rPr lang="en-US"/>
              <a:t>Pros:</a:t>
            </a:r>
            <a:endParaRPr/>
          </a:p>
          <a:p>
            <a:pPr marL="457200" lvl="0" indent="-298450" algn="l" rtl="0">
              <a:spcBef>
                <a:spcPts val="0"/>
              </a:spcBef>
              <a:spcAft>
                <a:spcPts val="0"/>
              </a:spcAft>
              <a:buSzPts val="1100"/>
              <a:buChar char="-"/>
            </a:pPr>
            <a:r>
              <a:rPr lang="en-US"/>
              <a:t>Natural groupings (cluster by similarity)</a:t>
            </a:r>
            <a:endParaRPr/>
          </a:p>
          <a:p>
            <a:pPr marL="0" lvl="0" indent="0" algn="l" rtl="0">
              <a:spcBef>
                <a:spcPts val="0"/>
              </a:spcBef>
              <a:spcAft>
                <a:spcPts val="0"/>
              </a:spcAft>
              <a:buNone/>
            </a:pPr>
            <a:r>
              <a:rPr lang="en-US"/>
              <a:t>Cons:</a:t>
            </a:r>
            <a:endParaRPr/>
          </a:p>
          <a:p>
            <a:pPr marL="457200" lvl="0" indent="-298450" algn="l" rtl="0">
              <a:spcBef>
                <a:spcPts val="0"/>
              </a:spcBef>
              <a:spcAft>
                <a:spcPts val="0"/>
              </a:spcAft>
              <a:buSzPts val="1100"/>
              <a:buChar char="-"/>
            </a:pPr>
            <a:r>
              <a:rPr lang="en-US"/>
              <a:t>Harder to interpret (“Cluster 2” doesn’t tell you anything without profiling)</a:t>
            </a:r>
            <a:endParaRPr/>
          </a:p>
          <a:p>
            <a:pPr marL="457200" lvl="0" indent="-298450" algn="l" rtl="0">
              <a:spcBef>
                <a:spcPts val="0"/>
              </a:spcBef>
              <a:spcAft>
                <a:spcPts val="0"/>
              </a:spcAft>
              <a:buSzPts val="1100"/>
              <a:buChar char="-"/>
            </a:pPr>
            <a:r>
              <a:rPr lang="en-US"/>
              <a:t>Requires scaling</a:t>
            </a:r>
            <a:endParaRPr/>
          </a:p>
          <a:p>
            <a:pPr marL="0" lvl="0" indent="0" algn="l" rtl="0">
              <a:spcBef>
                <a:spcPts val="0"/>
              </a:spcBef>
              <a:spcAft>
                <a:spcPts val="0"/>
              </a:spcAft>
              <a:buNone/>
            </a:pPr>
            <a:endParaRPr/>
          </a:p>
          <a:p>
            <a:pPr marL="0" lvl="0" indent="0" algn="l" rtl="0">
              <a:spcBef>
                <a:spcPts val="0"/>
              </a:spcBef>
              <a:spcAft>
                <a:spcPts val="0"/>
              </a:spcAft>
              <a:buNone/>
            </a:pPr>
            <a:r>
              <a:rPr lang="en-US" b="1" u="sng"/>
              <a:t>Why did we use RFM by Quantiles?</a:t>
            </a:r>
            <a:endParaRPr b="1" u="sng"/>
          </a:p>
          <a:p>
            <a:pPr marL="457200" lvl="0" indent="-298450" algn="l" rtl="0">
              <a:spcBef>
                <a:spcPts val="0"/>
              </a:spcBef>
              <a:spcAft>
                <a:spcPts val="0"/>
              </a:spcAft>
              <a:buClr>
                <a:schemeClr val="dk1"/>
              </a:buClr>
              <a:buSzPts val="1100"/>
              <a:buAutoNum type="arabicPeriod"/>
            </a:pPr>
            <a:r>
              <a:rPr lang="en-US">
                <a:solidFill>
                  <a:schemeClr val="dk1"/>
                </a:solidFill>
              </a:rPr>
              <a:t>Easier to start with </a:t>
            </a:r>
            <a:r>
              <a:rPr lang="en-US" b="1">
                <a:solidFill>
                  <a:schemeClr val="dk1"/>
                </a:solidFill>
              </a:rPr>
              <a:t>quantile-based RFM scores</a:t>
            </a:r>
            <a:endParaRPr>
              <a:solidFill>
                <a:schemeClr val="dk1"/>
              </a:solidFill>
            </a:endParaRPr>
          </a:p>
          <a:p>
            <a:pPr marL="914400" lvl="1" indent="-298450" algn="l" rtl="0">
              <a:spcBef>
                <a:spcPts val="0"/>
              </a:spcBef>
              <a:spcAft>
                <a:spcPts val="0"/>
              </a:spcAft>
              <a:buClr>
                <a:schemeClr val="dk1"/>
              </a:buClr>
              <a:buSzPts val="1100"/>
              <a:buAutoNum type="alphaLcPeriod"/>
            </a:pPr>
            <a:r>
              <a:rPr lang="en-US">
                <a:solidFill>
                  <a:schemeClr val="dk1"/>
                </a:solidFill>
              </a:rPr>
              <a:t>Simple</a:t>
            </a:r>
            <a:endParaRPr>
              <a:solidFill>
                <a:schemeClr val="dk1"/>
              </a:solidFill>
            </a:endParaRPr>
          </a:p>
          <a:p>
            <a:pPr marL="914400" lvl="1" indent="-298450" algn="l" rtl="0">
              <a:spcBef>
                <a:spcPts val="0"/>
              </a:spcBef>
              <a:spcAft>
                <a:spcPts val="0"/>
              </a:spcAft>
              <a:buClr>
                <a:schemeClr val="dk1"/>
              </a:buClr>
              <a:buSzPts val="1100"/>
              <a:buAutoNum type="alphaLcPeriod"/>
            </a:pPr>
            <a:r>
              <a:rPr lang="en-US">
                <a:solidFill>
                  <a:schemeClr val="dk1"/>
                </a:solidFill>
              </a:rPr>
              <a:t>Interpretable and explainable</a:t>
            </a:r>
            <a:endParaRPr>
              <a:solidFill>
                <a:schemeClr val="dk1"/>
              </a:solidFill>
            </a:endParaRPr>
          </a:p>
          <a:p>
            <a:pPr marL="457200" lvl="0" indent="-298450" algn="l" rtl="0">
              <a:spcBef>
                <a:spcPts val="0"/>
              </a:spcBef>
              <a:spcAft>
                <a:spcPts val="0"/>
              </a:spcAft>
              <a:buClr>
                <a:schemeClr val="dk1"/>
              </a:buClr>
              <a:buSzPts val="1100"/>
              <a:buAutoNum type="arabicPeriod"/>
            </a:pPr>
            <a:r>
              <a:rPr lang="en-US">
                <a:solidFill>
                  <a:schemeClr val="dk1"/>
                </a:solidFill>
              </a:rPr>
              <a:t>Avoid unbalanced clusters</a:t>
            </a:r>
            <a:endParaRPr>
              <a:solidFill>
                <a:schemeClr val="dk1"/>
              </a:solidFill>
            </a:endParaRPr>
          </a:p>
          <a:p>
            <a:pPr marL="457200" lvl="0" indent="-298450" algn="l" rtl="0">
              <a:spcBef>
                <a:spcPts val="0"/>
              </a:spcBef>
              <a:spcAft>
                <a:spcPts val="0"/>
              </a:spcAft>
              <a:buClr>
                <a:schemeClr val="dk1"/>
              </a:buClr>
              <a:buSzPts val="1100"/>
              <a:buAutoNum type="arabicPeriod"/>
            </a:pPr>
            <a:r>
              <a:rPr lang="en-US">
                <a:solidFill>
                  <a:schemeClr val="dk1"/>
                </a:solidFill>
              </a:rPr>
              <a:t>Then, if the business needs </a:t>
            </a:r>
            <a:r>
              <a:rPr lang="en-US" b="1">
                <a:solidFill>
                  <a:schemeClr val="dk1"/>
                </a:solidFill>
              </a:rPr>
              <a:t>more nuanced segmentation</a:t>
            </a:r>
            <a:r>
              <a:rPr lang="en-US">
                <a:solidFill>
                  <a:schemeClr val="dk1"/>
                </a:solidFill>
              </a:rPr>
              <a:t>, experiment with </a:t>
            </a:r>
            <a:r>
              <a:rPr lang="en-US" b="1">
                <a:solidFill>
                  <a:schemeClr val="dk1"/>
                </a:solidFill>
              </a:rPr>
              <a:t>K-Means (or other clustering like Gaussian Mixture Models)</a:t>
            </a:r>
            <a:r>
              <a:rPr lang="en-US">
                <a:solidFill>
                  <a:schemeClr val="dk1"/>
                </a:solidFill>
              </a:rPr>
              <a:t> on the RFM features and compare results.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8316c78182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8316c7818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3 biggest contributors 2024: Champions, Loyal, Needs Attention [Unchanged]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82d17c7edc_3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82d17c7edc_3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a:t>Top 3 contribution% and total revenue: Champion, Loyal, Needs attention</a:t>
            </a:r>
            <a:endParaRPr sz="20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7b1e9927e7_0_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7b1e9927e7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79461babfd_2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200">
                <a:solidFill>
                  <a:schemeClr val="dk1"/>
                </a:solidFill>
              </a:rPr>
              <a:t>CHAIN retailer drastically dropped off </a:t>
            </a:r>
            <a:r>
              <a:rPr lang="en-US" sz="1200" b="1">
                <a:solidFill>
                  <a:schemeClr val="dk1"/>
                </a:solidFill>
              </a:rPr>
              <a:t>(Re-engage) </a:t>
            </a:r>
            <a:endParaRPr sz="1200">
              <a:solidFill>
                <a:schemeClr val="dk1"/>
              </a:solidFill>
            </a:endParaRPr>
          </a:p>
          <a:p>
            <a:pPr marL="0" lvl="0" indent="0" algn="l" rtl="0">
              <a:spcBef>
                <a:spcPts val="0"/>
              </a:spcBef>
              <a:spcAft>
                <a:spcPts val="0"/>
              </a:spcAft>
              <a:buClr>
                <a:schemeClr val="dk1"/>
              </a:buClr>
              <a:buSzPts val="1100"/>
              <a:buFont typeface="Arial"/>
              <a:buNone/>
            </a:pPr>
            <a:r>
              <a:rPr lang="en-US" sz="1200">
                <a:solidFill>
                  <a:schemeClr val="dk1"/>
                </a:solidFill>
              </a:rPr>
              <a:t>INDEPENDENT increased (~ +21.15pp) </a:t>
            </a:r>
            <a:r>
              <a:rPr lang="en-US" sz="1200" b="1">
                <a:solidFill>
                  <a:schemeClr val="dk1"/>
                </a:solidFill>
              </a:rPr>
              <a:t>(Reward) </a:t>
            </a:r>
            <a:endParaRPr sz="600">
              <a:solidFill>
                <a:schemeClr val="dk1"/>
              </a:solidFill>
            </a:endParaRPr>
          </a:p>
          <a:p>
            <a:pPr marL="0" lvl="0" indent="0" algn="l" rtl="0">
              <a:lnSpc>
                <a:spcPct val="100000"/>
              </a:lnSpc>
              <a:spcBef>
                <a:spcPts val="0"/>
              </a:spcBef>
              <a:spcAft>
                <a:spcPts val="0"/>
              </a:spcAft>
              <a:buNone/>
            </a:pPr>
            <a:endParaRPr sz="1500">
              <a:solidFill>
                <a:schemeClr val="dk1"/>
              </a:solidFill>
            </a:endParaRPr>
          </a:p>
          <a:p>
            <a:pPr marL="0" lvl="0" indent="0" algn="l" rtl="0">
              <a:lnSpc>
                <a:spcPct val="100000"/>
              </a:lnSpc>
              <a:spcBef>
                <a:spcPts val="0"/>
              </a:spcBef>
              <a:spcAft>
                <a:spcPts val="0"/>
              </a:spcAft>
              <a:buNone/>
            </a:pPr>
            <a:r>
              <a:rPr lang="en-US" sz="1500">
                <a:solidFill>
                  <a:schemeClr val="dk1"/>
                </a:solidFill>
              </a:rPr>
              <a:t>*Update text box for the % of revenue in 2024 and amount</a:t>
            </a:r>
            <a:endParaRPr sz="1500">
              <a:solidFill>
                <a:schemeClr val="dk1"/>
              </a:solidFill>
            </a:endParaRPr>
          </a:p>
        </p:txBody>
      </p:sp>
      <p:sp>
        <p:nvSpPr>
          <p:cNvPr id="213" name="Google Shape;213;g379461babfd_2_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79461babfd_2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200">
                <a:solidFill>
                  <a:schemeClr val="dk1"/>
                </a:solidFill>
              </a:rPr>
              <a:t>INDEPENDENT generally consistent but decreased slightly 2023 &gt; 2024</a:t>
            </a:r>
            <a:endParaRPr sz="1200">
              <a:solidFill>
                <a:schemeClr val="dk1"/>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Clr>
                <a:schemeClr val="dk1"/>
              </a:buClr>
              <a:buSzPts val="1100"/>
              <a:buFont typeface="Arial"/>
              <a:buNone/>
            </a:pPr>
            <a:r>
              <a:rPr lang="en-US" sz="1200">
                <a:solidFill>
                  <a:schemeClr val="dk1"/>
                </a:solidFill>
              </a:rPr>
              <a:t>2023 sharp increase in CHAIN &amp; OTHERS (Did Qinet do something?)</a:t>
            </a:r>
            <a:endParaRPr sz="1200">
              <a:solidFill>
                <a:schemeClr val="dk1"/>
              </a:solidFill>
            </a:endParaRPr>
          </a:p>
          <a:p>
            <a:pPr marL="0" lvl="0" indent="0" algn="l" rtl="0">
              <a:spcBef>
                <a:spcPts val="0"/>
              </a:spcBef>
              <a:spcAft>
                <a:spcPts val="0"/>
              </a:spcAft>
              <a:buClr>
                <a:schemeClr val="dk1"/>
              </a:buClr>
              <a:buSzPts val="1100"/>
              <a:buFont typeface="Arial"/>
              <a:buNone/>
            </a:pPr>
            <a:r>
              <a:rPr lang="en-US" sz="1200">
                <a:solidFill>
                  <a:schemeClr val="dk1"/>
                </a:solidFill>
              </a:rPr>
              <a:t>WHOLESALER generally consistent as well, increased slightly 2023 &gt; 2024</a:t>
            </a:r>
            <a:endParaRPr sz="1200">
              <a:solidFill>
                <a:schemeClr val="dk1"/>
              </a:solidFill>
            </a:endParaRPr>
          </a:p>
        </p:txBody>
      </p:sp>
      <p:sp>
        <p:nvSpPr>
          <p:cNvPr id="222" name="Google Shape;222;g379461babfd_2_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7a4ab458f7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a:solidFill>
                  <a:srgbClr val="188038"/>
                </a:solidFill>
                <a:latin typeface="Roboto Mono"/>
                <a:ea typeface="Roboto Mono"/>
                <a:cs typeface="Roboto Mono"/>
                <a:sym typeface="Roboto Mono"/>
              </a:rPr>
              <a:t>max_date</a:t>
            </a:r>
            <a:r>
              <a:rPr lang="en-US">
                <a:solidFill>
                  <a:schemeClr val="dk1"/>
                </a:solidFill>
              </a:rPr>
              <a:t> is the anchor point for </a:t>
            </a:r>
            <a:r>
              <a:rPr lang="en-US" b="1">
                <a:solidFill>
                  <a:schemeClr val="dk1"/>
                </a:solidFill>
              </a:rPr>
              <a:t>Recency</a:t>
            </a:r>
            <a:r>
              <a:rPr lang="en-US">
                <a:solidFill>
                  <a:schemeClr val="dk1"/>
                </a:solidFill>
              </a:rPr>
              <a:t> score and for deciding whether a retailer has churned.</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a:solidFill>
                  <a:schemeClr val="dk1"/>
                </a:solidFill>
              </a:rPr>
              <a:t>For each retailer, look at the last purchase date vs. the max date in the dataset. If the number of days since last purchase is greater than three times their average purchase interval (with min/max/fallback safeguards), mark them as churn (1). Otherwise, mark as active (0)</a:t>
            </a:r>
            <a:endParaRPr>
              <a:solidFill>
                <a:schemeClr val="dk1"/>
              </a:solidFill>
            </a:endParaRPr>
          </a:p>
          <a:p>
            <a:pPr marL="0" lvl="0" indent="0" algn="l" rtl="0">
              <a:lnSpc>
                <a:spcPct val="100000"/>
              </a:lnSpc>
              <a:spcBef>
                <a:spcPts val="0"/>
              </a:spcBef>
              <a:spcAft>
                <a:spcPts val="0"/>
              </a:spcAft>
              <a:buNone/>
            </a:pPr>
            <a:endParaRPr sz="700">
              <a:solidFill>
                <a:schemeClr val="dk1"/>
              </a:solidFill>
            </a:endParaRPr>
          </a:p>
        </p:txBody>
      </p:sp>
      <p:sp>
        <p:nvSpPr>
          <p:cNvPr id="232" name="Google Shape;232;g37a4ab458f7_1_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7b1e9927e7_0_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7b1e9927e7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700" u="sng">
              <a:solidFill>
                <a:schemeClr val="dk1"/>
              </a:solidFill>
            </a:endParaRPr>
          </a:p>
          <a:p>
            <a:pPr marL="0" lvl="0" indent="0" algn="l" rtl="0">
              <a:lnSpc>
                <a:spcPct val="100000"/>
              </a:lnSpc>
              <a:spcBef>
                <a:spcPts val="0"/>
              </a:spcBef>
              <a:spcAft>
                <a:spcPts val="0"/>
              </a:spcAft>
              <a:buNone/>
            </a:pPr>
            <a:r>
              <a:rPr lang="en-US" sz="700" u="sng">
                <a:solidFill>
                  <a:schemeClr val="dk1"/>
                </a:solidFill>
              </a:rPr>
              <a:t>Interpretation:</a:t>
            </a:r>
            <a:br>
              <a:rPr lang="en-US" sz="700" u="sng">
                <a:solidFill>
                  <a:schemeClr val="dk1"/>
                </a:solidFill>
              </a:rPr>
            </a:br>
            <a:br>
              <a:rPr lang="en-US" sz="700">
                <a:solidFill>
                  <a:schemeClr val="dk1"/>
                </a:solidFill>
              </a:rPr>
            </a:br>
            <a:r>
              <a:rPr lang="en-US" sz="700" b="1">
                <a:solidFill>
                  <a:schemeClr val="dk1"/>
                </a:solidFill>
              </a:rPr>
              <a:t>At Risk &amp; Hibernating:</a:t>
            </a:r>
            <a:r>
              <a:rPr lang="en-US" sz="700">
                <a:solidFill>
                  <a:schemeClr val="dk1"/>
                </a:solidFill>
              </a:rPr>
              <a:t> basically all of them are flagged as churned — not surprising given their inactivity.</a:t>
            </a:r>
            <a:endParaRPr sz="700">
              <a:solidFill>
                <a:schemeClr val="dk1"/>
              </a:solidFill>
            </a:endParaRPr>
          </a:p>
          <a:p>
            <a:pPr marL="0" lvl="0" indent="0" algn="l" rtl="0">
              <a:lnSpc>
                <a:spcPct val="100000"/>
              </a:lnSpc>
              <a:spcBef>
                <a:spcPts val="0"/>
              </a:spcBef>
              <a:spcAft>
                <a:spcPts val="0"/>
              </a:spcAft>
              <a:buNone/>
            </a:pPr>
            <a:endParaRPr sz="700">
              <a:solidFill>
                <a:schemeClr val="dk1"/>
              </a:solidFill>
            </a:endParaRPr>
          </a:p>
          <a:p>
            <a:pPr marL="0" lvl="0" indent="0" algn="l" rtl="0">
              <a:lnSpc>
                <a:spcPct val="100000"/>
              </a:lnSpc>
              <a:spcBef>
                <a:spcPts val="0"/>
              </a:spcBef>
              <a:spcAft>
                <a:spcPts val="0"/>
              </a:spcAft>
              <a:buNone/>
            </a:pPr>
            <a:r>
              <a:rPr lang="en-US" sz="700" b="1">
                <a:solidFill>
                  <a:schemeClr val="dk1"/>
                </a:solidFill>
                <a:highlight>
                  <a:srgbClr val="D9EAD3"/>
                </a:highlight>
              </a:rPr>
              <a:t>Needs Attention</a:t>
            </a:r>
            <a:r>
              <a:rPr lang="en-US" sz="700">
                <a:solidFill>
                  <a:schemeClr val="dk1"/>
                </a:solidFill>
              </a:rPr>
              <a:t>: very high churn (83%), meaning this group is slipping fast.</a:t>
            </a:r>
            <a:endParaRPr sz="700">
              <a:solidFill>
                <a:schemeClr val="dk1"/>
              </a:solidFill>
            </a:endParaRPr>
          </a:p>
          <a:p>
            <a:pPr marL="0" lvl="0" indent="0" algn="l" rtl="0">
              <a:lnSpc>
                <a:spcPct val="100000"/>
              </a:lnSpc>
              <a:spcBef>
                <a:spcPts val="0"/>
              </a:spcBef>
              <a:spcAft>
                <a:spcPts val="0"/>
              </a:spcAft>
              <a:buNone/>
            </a:pPr>
            <a:endParaRPr sz="700">
              <a:solidFill>
                <a:schemeClr val="dk1"/>
              </a:solidFill>
            </a:endParaRPr>
          </a:p>
          <a:p>
            <a:pPr marL="0" lvl="0" indent="0" algn="l" rtl="0">
              <a:lnSpc>
                <a:spcPct val="100000"/>
              </a:lnSpc>
              <a:spcBef>
                <a:spcPts val="0"/>
              </a:spcBef>
              <a:spcAft>
                <a:spcPts val="0"/>
              </a:spcAft>
              <a:buNone/>
            </a:pPr>
            <a:r>
              <a:rPr lang="en-US" sz="700" b="1">
                <a:solidFill>
                  <a:schemeClr val="dk1"/>
                </a:solidFill>
                <a:highlight>
                  <a:srgbClr val="D9EAD3"/>
                </a:highlight>
              </a:rPr>
              <a:t>Loyal</a:t>
            </a:r>
            <a:r>
              <a:rPr lang="en-US" sz="700" b="1">
                <a:solidFill>
                  <a:schemeClr val="dk1"/>
                </a:solidFill>
              </a:rPr>
              <a:t>:</a:t>
            </a:r>
            <a:r>
              <a:rPr lang="en-US" sz="700">
                <a:solidFill>
                  <a:schemeClr val="dk1"/>
                </a:solidFill>
              </a:rPr>
              <a:t> two-thirds churn — this is alarming, suggests </a:t>
            </a:r>
            <a:r>
              <a:rPr lang="en-US" sz="700">
                <a:solidFill>
                  <a:schemeClr val="dk1"/>
                </a:solidFill>
                <a:highlight>
                  <a:srgbClr val="FFFF00"/>
                </a:highlight>
              </a:rPr>
              <a:t>“loyal” group isn’t very sticky.</a:t>
            </a:r>
            <a:endParaRPr sz="700">
              <a:solidFill>
                <a:schemeClr val="dk1"/>
              </a:solidFill>
              <a:highlight>
                <a:srgbClr val="FFFF00"/>
              </a:highlight>
            </a:endParaRPr>
          </a:p>
          <a:p>
            <a:pPr marL="0" lvl="0" indent="0" algn="l" rtl="0">
              <a:lnSpc>
                <a:spcPct val="100000"/>
              </a:lnSpc>
              <a:spcBef>
                <a:spcPts val="0"/>
              </a:spcBef>
              <a:spcAft>
                <a:spcPts val="0"/>
              </a:spcAft>
              <a:buNone/>
            </a:pPr>
            <a:endParaRPr sz="700">
              <a:solidFill>
                <a:schemeClr val="dk1"/>
              </a:solidFill>
            </a:endParaRPr>
          </a:p>
          <a:p>
            <a:pPr marL="0" lvl="0" indent="0" algn="l" rtl="0">
              <a:lnSpc>
                <a:spcPct val="100000"/>
              </a:lnSpc>
              <a:spcBef>
                <a:spcPts val="0"/>
              </a:spcBef>
              <a:spcAft>
                <a:spcPts val="0"/>
              </a:spcAft>
              <a:buNone/>
            </a:pPr>
            <a:r>
              <a:rPr lang="en-US" sz="700" b="1">
                <a:solidFill>
                  <a:schemeClr val="dk1"/>
                </a:solidFill>
                <a:highlight>
                  <a:srgbClr val="D9EAD3"/>
                </a:highlight>
              </a:rPr>
              <a:t>Potential Loyalists</a:t>
            </a:r>
            <a:r>
              <a:rPr lang="en-US" sz="700" b="1">
                <a:solidFill>
                  <a:schemeClr val="dk1"/>
                </a:solidFill>
              </a:rPr>
              <a:t>:</a:t>
            </a:r>
            <a:r>
              <a:rPr lang="en-US" sz="700">
                <a:solidFill>
                  <a:schemeClr val="dk1"/>
                </a:solidFill>
              </a:rPr>
              <a:t> about 1 in 4 churned, manageable but watch closely.</a:t>
            </a:r>
            <a:endParaRPr sz="700">
              <a:solidFill>
                <a:schemeClr val="dk1"/>
              </a:solidFill>
            </a:endParaRPr>
          </a:p>
          <a:p>
            <a:pPr marL="0" lvl="0" indent="0" algn="l" rtl="0">
              <a:lnSpc>
                <a:spcPct val="100000"/>
              </a:lnSpc>
              <a:spcBef>
                <a:spcPts val="0"/>
              </a:spcBef>
              <a:spcAft>
                <a:spcPts val="0"/>
              </a:spcAft>
              <a:buNone/>
            </a:pPr>
            <a:endParaRPr sz="700">
              <a:solidFill>
                <a:schemeClr val="dk1"/>
              </a:solidFill>
            </a:endParaRPr>
          </a:p>
          <a:p>
            <a:pPr marL="0" lvl="0" indent="0" algn="l" rtl="0">
              <a:lnSpc>
                <a:spcPct val="100000"/>
              </a:lnSpc>
              <a:spcBef>
                <a:spcPts val="0"/>
              </a:spcBef>
              <a:spcAft>
                <a:spcPts val="0"/>
              </a:spcAft>
              <a:buNone/>
            </a:pPr>
            <a:r>
              <a:rPr lang="en-US" sz="700" b="1">
                <a:solidFill>
                  <a:schemeClr val="dk1"/>
                </a:solidFill>
              </a:rPr>
              <a:t>Champions</a:t>
            </a:r>
            <a:r>
              <a:rPr lang="en-US" sz="700">
                <a:solidFill>
                  <a:schemeClr val="dk1"/>
                </a:solidFill>
              </a:rPr>
              <a:t>: only ~13% churn, strong retention.</a:t>
            </a:r>
            <a:endParaRPr sz="700">
              <a:solidFill>
                <a:schemeClr val="dk1"/>
              </a:solidFill>
            </a:endParaRPr>
          </a:p>
          <a:p>
            <a:pPr marL="0" lvl="0" indent="0" algn="l" rtl="0">
              <a:lnSpc>
                <a:spcPct val="100000"/>
              </a:lnSpc>
              <a:spcBef>
                <a:spcPts val="0"/>
              </a:spcBef>
              <a:spcAft>
                <a:spcPts val="0"/>
              </a:spcAft>
              <a:buNone/>
            </a:pPr>
            <a:endParaRPr sz="700">
              <a:solidFill>
                <a:schemeClr val="dk1"/>
              </a:solidFill>
            </a:endParaRPr>
          </a:p>
          <a:p>
            <a:pPr marL="0" lvl="0" indent="0" algn="l" rtl="0">
              <a:lnSpc>
                <a:spcPct val="100000"/>
              </a:lnSpc>
              <a:spcBef>
                <a:spcPts val="0"/>
              </a:spcBef>
              <a:spcAft>
                <a:spcPts val="0"/>
              </a:spcAft>
              <a:buNone/>
            </a:pPr>
            <a:endParaRPr sz="700">
              <a:solidFill>
                <a:schemeClr val="dk1"/>
              </a:solidFill>
            </a:endParaRPr>
          </a:p>
        </p:txBody>
      </p:sp>
      <p:sp>
        <p:nvSpPr>
          <p:cNvPr id="266" name="Google Shape;26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853bc6cd8b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g3853bc6cd8b_1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857b23907f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857b2390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7a4ab458f7_1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7a4ab458f7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8316c7818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1000"/>
              </a:spcBef>
              <a:spcAft>
                <a:spcPts val="0"/>
              </a:spcAft>
              <a:buNone/>
            </a:pPr>
            <a:r>
              <a:rPr lang="en-US">
                <a:solidFill>
                  <a:schemeClr val="dk1"/>
                </a:solidFill>
              </a:rPr>
              <a:t>Need to do a further analysis to provide additional insights for improvement strategies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a:solidFill>
                  <a:schemeClr val="dk1"/>
                </a:solidFill>
              </a:rPr>
              <a:t>·</a:t>
            </a:r>
            <a:r>
              <a:rPr lang="en-US">
                <a:solidFill>
                  <a:schemeClr val="dk1"/>
                </a:solidFill>
                <a:latin typeface="Times New Roman"/>
                <a:ea typeface="Times New Roman"/>
                <a:cs typeface="Times New Roman"/>
                <a:sym typeface="Times New Roman"/>
              </a:rPr>
              <a:t>   	</a:t>
            </a:r>
            <a:r>
              <a:rPr lang="en-US">
                <a:solidFill>
                  <a:schemeClr val="dk1"/>
                </a:solidFill>
              </a:rPr>
              <a:t>Internal Business Analysis on existing customers: Is the app fully maximized? AI components? Were initial expectations of the app met? Ordering/ Delivery</a:t>
            </a:r>
            <a:endParaRPr>
              <a:solidFill>
                <a:schemeClr val="dk1"/>
              </a:solidFill>
            </a:endParaRPr>
          </a:p>
        </p:txBody>
      </p:sp>
      <p:sp>
        <p:nvSpPr>
          <p:cNvPr id="313" name="Google Shape;313;g38316c78182_0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7a46a85c33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Impact: </a:t>
            </a:r>
            <a:br>
              <a:rPr lang="en-US"/>
            </a:br>
            <a:r>
              <a:rPr lang="en-US">
                <a:solidFill>
                  <a:schemeClr val="dk1"/>
                </a:solidFill>
              </a:rPr>
              <a:t>Our recommendations will propel Qinet to further heights, leveraging technology while remaining fully committed and engaged with their valued retailer business partners to drive further growth and revenue through customer retention </a:t>
            </a:r>
            <a:endParaRPr/>
          </a:p>
        </p:txBody>
      </p:sp>
      <p:sp>
        <p:nvSpPr>
          <p:cNvPr id="346" name="Google Shape;346;g37a46a85c33_0_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79461babfd_2_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79461babfd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8" name="Google Shape;38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7a46a85c3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For our reference!</a:t>
            </a:r>
            <a:endParaRPr/>
          </a:p>
        </p:txBody>
      </p:sp>
      <p:sp>
        <p:nvSpPr>
          <p:cNvPr id="396" name="Google Shape;396;g37a46a85c33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79461babfd_2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79461babfd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3 biggest contributors OVERALL: Champions, Loyal, Needs Attention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82d17c7edc_3_3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82d17c7edc_3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3 biggest contributors 2024: Champions, Loyal, Needs Attention [Unchanged]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82d17c7edc_3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500">
                <a:solidFill>
                  <a:schemeClr val="dk1"/>
                </a:solidFill>
              </a:rPr>
              <a:t>Overall Information - LOYAL cluster</a:t>
            </a:r>
            <a:endParaRPr sz="1500">
              <a:solidFill>
                <a:schemeClr val="dk1"/>
              </a:solidFill>
            </a:endParaRPr>
          </a:p>
          <a:p>
            <a:pPr marL="0" lvl="0" indent="0" algn="l" rtl="0">
              <a:lnSpc>
                <a:spcPct val="100000"/>
              </a:lnSpc>
              <a:spcBef>
                <a:spcPts val="0"/>
              </a:spcBef>
              <a:spcAft>
                <a:spcPts val="0"/>
              </a:spcAft>
              <a:buNone/>
            </a:pPr>
            <a:endParaRPr sz="1500">
              <a:solidFill>
                <a:schemeClr val="dk1"/>
              </a:solidFill>
            </a:endParaRPr>
          </a:p>
          <a:p>
            <a:pPr marL="0" lvl="0" indent="0" algn="l" rtl="0">
              <a:lnSpc>
                <a:spcPct val="100000"/>
              </a:lnSpc>
              <a:spcBef>
                <a:spcPts val="0"/>
              </a:spcBef>
              <a:spcAft>
                <a:spcPts val="0"/>
              </a:spcAft>
              <a:buNone/>
            </a:pPr>
            <a:endParaRPr sz="1500">
              <a:solidFill>
                <a:schemeClr val="dk1"/>
              </a:solidFill>
            </a:endParaRPr>
          </a:p>
        </p:txBody>
      </p:sp>
      <p:sp>
        <p:nvSpPr>
          <p:cNvPr id="418" name="Google Shape;418;g382d17c7edc_3_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79461babfd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500">
                <a:solidFill>
                  <a:schemeClr val="dk1"/>
                </a:solidFill>
              </a:rPr>
              <a:t>Wait do we go by year for the revenue?</a:t>
            </a:r>
            <a:endParaRPr sz="1500">
              <a:solidFill>
                <a:schemeClr val="dk1"/>
              </a:solidFill>
            </a:endParaRPr>
          </a:p>
          <a:p>
            <a:pPr marL="0" lvl="0" indent="0" algn="l" rtl="0">
              <a:spcBef>
                <a:spcPts val="0"/>
              </a:spcBef>
              <a:spcAft>
                <a:spcPts val="0"/>
              </a:spcAft>
              <a:buNone/>
            </a:pPr>
            <a:r>
              <a:rPr lang="en-US" sz="1500">
                <a:solidFill>
                  <a:schemeClr val="dk1"/>
                </a:solidFill>
              </a:rPr>
              <a:t>this is overall oo yeah can!</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a:solidFill>
                  <a:schemeClr val="dk1"/>
                </a:solidFill>
              </a:rPr>
              <a:t>got it i past below</a:t>
            </a:r>
            <a:endParaRPr sz="700">
              <a:solidFill>
                <a:schemeClr val="dk1"/>
              </a:solidFill>
            </a:endParaRPr>
          </a:p>
        </p:txBody>
      </p:sp>
      <p:sp>
        <p:nvSpPr>
          <p:cNvPr id="425" name="Google Shape;425;g379461babfd_2_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7b1e9927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700">
                <a:solidFill>
                  <a:schemeClr val="dk1"/>
                </a:solidFill>
              </a:rPr>
              <a:t>ignore just a duplicate backup</a:t>
            </a:r>
            <a:endParaRPr sz="700">
              <a:solidFill>
                <a:schemeClr val="dk1"/>
              </a:solidFill>
            </a:endParaRPr>
          </a:p>
        </p:txBody>
      </p:sp>
      <p:sp>
        <p:nvSpPr>
          <p:cNvPr id="433" name="Google Shape;433;g37b1e9927e7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379461babfd_2_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379461babfd_2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79461babfd_2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379461babfd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rPr>
              <a:t>Which group rakes in the most $? (More interested in the revenue contribution of each group - how have they been transacting in recent time) </a:t>
            </a:r>
            <a:br>
              <a:rPr lang="en-US">
                <a:solidFill>
                  <a:schemeClr val="dk1"/>
                </a:solidFill>
              </a:rPr>
            </a:br>
            <a:r>
              <a:rPr lang="en-US">
                <a:solidFill>
                  <a:schemeClr val="dk1"/>
                </a:solidFill>
              </a:rPr>
              <a:t>Observe the trend (sales amount over time) </a:t>
            </a:r>
            <a:br>
              <a:rPr lang="en-US">
                <a:solidFill>
                  <a:schemeClr val="dk1"/>
                </a:solidFill>
              </a:rPr>
            </a:br>
            <a:r>
              <a:rPr lang="en-US">
                <a:solidFill>
                  <a:schemeClr val="dk1"/>
                </a:solidFill>
              </a:rPr>
              <a:t>Invest and focus more on the group that may show a worrying trend </a:t>
            </a:r>
            <a:br>
              <a:rPr lang="en-US">
                <a:solidFill>
                  <a:schemeClr val="dk1"/>
                </a:solidFill>
              </a:rPr>
            </a:br>
            <a:r>
              <a:rPr lang="en-US">
                <a:solidFill>
                  <a:schemeClr val="dk1"/>
                </a:solidFill>
              </a:rPr>
              <a:t>Percentage share in revenue, timeline of each retailer over the years etc </a:t>
            </a: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Present analytic workflow, thought process - visibility of the thought flow, sequence (how power BI was used, which model was used for each trend/analysis etc.)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853bc6cd8b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3853bc6cd8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853bc6cd8b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3853bc6cd8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8"/>
          <p:cNvSpPr>
            <a:spLocks noGrp="1"/>
          </p:cNvSpPr>
          <p:nvPr>
            <p:ph type="pic" idx="2"/>
          </p:nvPr>
        </p:nvSpPr>
        <p:spPr>
          <a:xfrm>
            <a:off x="5183188" y="987425"/>
            <a:ext cx="6172200" cy="4873625"/>
          </a:xfrm>
          <a:prstGeom prst="rect">
            <a:avLst/>
          </a:prstGeom>
          <a:noFill/>
          <a:ln>
            <a:noFill/>
          </a:ln>
        </p:spPr>
      </p:sp>
      <p:sp>
        <p:nvSpPr>
          <p:cNvPr id="64" name="Google Shape;64;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
          <p:cNvSpPr/>
          <p:nvPr/>
        </p:nvSpPr>
        <p:spPr>
          <a:xfrm>
            <a:off x="1500" y="489875"/>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5" name="Google Shape;85;p1"/>
          <p:cNvSpPr txBox="1">
            <a:spLocks noGrp="1"/>
          </p:cNvSpPr>
          <p:nvPr>
            <p:ph type="subTitle" idx="1"/>
          </p:nvPr>
        </p:nvSpPr>
        <p:spPr>
          <a:xfrm>
            <a:off x="838200" y="4371950"/>
            <a:ext cx="4551600" cy="1737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a:t>QINET Retailer Case Study </a:t>
            </a:r>
            <a:endParaRPr/>
          </a:p>
          <a:p>
            <a:pPr marL="0" lvl="0" indent="0" algn="l" rtl="0">
              <a:lnSpc>
                <a:spcPct val="90000"/>
              </a:lnSpc>
              <a:spcBef>
                <a:spcPts val="0"/>
              </a:spcBef>
              <a:spcAft>
                <a:spcPts val="0"/>
              </a:spcAft>
              <a:buClr>
                <a:schemeClr val="dk1"/>
              </a:buClr>
              <a:buSzPts val="2400"/>
              <a:buNone/>
            </a:pPr>
            <a:endParaRPr/>
          </a:p>
          <a:p>
            <a:pPr marL="0" lvl="0" indent="0" algn="l" rtl="0">
              <a:lnSpc>
                <a:spcPct val="90000"/>
              </a:lnSpc>
              <a:spcBef>
                <a:spcPts val="0"/>
              </a:spcBef>
              <a:spcAft>
                <a:spcPts val="0"/>
              </a:spcAft>
              <a:buClr>
                <a:schemeClr val="dk1"/>
              </a:buClr>
              <a:buSzPts val="2400"/>
              <a:buNone/>
            </a:pPr>
            <a:r>
              <a:rPr lang="en-US"/>
              <a:t>September 2025  </a:t>
            </a:r>
            <a:endParaRPr/>
          </a:p>
        </p:txBody>
      </p:sp>
      <p:sp>
        <p:nvSpPr>
          <p:cNvPr id="86" name="Google Shape;86;p1"/>
          <p:cNvSpPr/>
          <p:nvPr/>
        </p:nvSpPr>
        <p:spPr>
          <a:xfrm>
            <a:off x="838200" y="1495807"/>
            <a:ext cx="10576941" cy="2971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7" name="Google Shape;87;p1"/>
          <p:cNvSpPr txBox="1">
            <a:spLocks noGrp="1"/>
          </p:cNvSpPr>
          <p:nvPr>
            <p:ph type="ctrTitle"/>
          </p:nvPr>
        </p:nvSpPr>
        <p:spPr>
          <a:xfrm>
            <a:off x="752275" y="234775"/>
            <a:ext cx="10512600" cy="11055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Play"/>
              <a:buNone/>
            </a:pPr>
            <a:r>
              <a:rPr lang="en-US" sz="6600"/>
              <a:t>BCG RISE 2.0 </a:t>
            </a:r>
            <a:endParaRPr/>
          </a:p>
        </p:txBody>
      </p:sp>
      <p:sp>
        <p:nvSpPr>
          <p:cNvPr id="88" name="Google Shape;88;p1"/>
          <p:cNvSpPr txBox="1">
            <a:spLocks noGrp="1"/>
          </p:cNvSpPr>
          <p:nvPr>
            <p:ph type="ctrTitle"/>
          </p:nvPr>
        </p:nvSpPr>
        <p:spPr>
          <a:xfrm>
            <a:off x="839700" y="1667912"/>
            <a:ext cx="10512600" cy="2108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400"/>
              <a:buFont typeface="Arial"/>
              <a:buNone/>
            </a:pPr>
            <a:r>
              <a:rPr lang="en-US" sz="6600"/>
              <a:t>BDA Wave 22  </a:t>
            </a:r>
            <a:br>
              <a:rPr lang="en-US" sz="6600"/>
            </a:br>
            <a:r>
              <a:rPr lang="en-US" sz="6600"/>
              <a:t>Capstone Project - Group 2</a:t>
            </a:r>
            <a:endParaRPr/>
          </a:p>
        </p:txBody>
      </p:sp>
      <p:sp>
        <p:nvSpPr>
          <p:cNvPr id="89" name="Google Shape;89;p1"/>
          <p:cNvSpPr txBox="1">
            <a:spLocks noGrp="1"/>
          </p:cNvSpPr>
          <p:nvPr>
            <p:ph type="subTitle" idx="1"/>
          </p:nvPr>
        </p:nvSpPr>
        <p:spPr>
          <a:xfrm>
            <a:off x="6012150" y="4458175"/>
            <a:ext cx="5340300" cy="1737900"/>
          </a:xfrm>
          <a:prstGeom prst="rect">
            <a:avLst/>
          </a:prstGeom>
          <a:noFill/>
          <a:ln>
            <a:noFill/>
          </a:ln>
        </p:spPr>
        <p:txBody>
          <a:bodyPr spcFirstLastPara="1" wrap="square" lIns="91425" tIns="45700" rIns="91425" bIns="45700" anchor="t" anchorCtr="0">
            <a:normAutofit lnSpcReduction="20000"/>
          </a:bodyPr>
          <a:lstStyle/>
          <a:p>
            <a:pPr marL="0" lvl="0" indent="0" algn="r" rtl="0">
              <a:lnSpc>
                <a:spcPct val="90000"/>
              </a:lnSpc>
              <a:spcBef>
                <a:spcPts val="0"/>
              </a:spcBef>
              <a:spcAft>
                <a:spcPts val="0"/>
              </a:spcAft>
              <a:buClr>
                <a:schemeClr val="dk1"/>
              </a:buClr>
              <a:buSzPts val="2400"/>
              <a:buNone/>
            </a:pPr>
            <a:r>
              <a:rPr lang="en-US" b="1"/>
              <a:t>Team Members: </a:t>
            </a:r>
            <a:br>
              <a:rPr lang="en-US"/>
            </a:br>
            <a:r>
              <a:rPr lang="en-US"/>
              <a:t>ANG HWEE SIANG</a:t>
            </a:r>
            <a:endParaRPr/>
          </a:p>
          <a:p>
            <a:pPr marL="0" lvl="0" indent="0" algn="r" rtl="0">
              <a:lnSpc>
                <a:spcPct val="90000"/>
              </a:lnSpc>
              <a:spcBef>
                <a:spcPts val="0"/>
              </a:spcBef>
              <a:spcAft>
                <a:spcPts val="0"/>
              </a:spcAft>
              <a:buClr>
                <a:schemeClr val="dk1"/>
              </a:buClr>
              <a:buSzPts val="2400"/>
              <a:buNone/>
            </a:pPr>
            <a:r>
              <a:rPr lang="en-US"/>
              <a:t>LI KAH YAN </a:t>
            </a:r>
            <a:br>
              <a:rPr lang="en-US"/>
            </a:br>
            <a:r>
              <a:rPr lang="en-US"/>
              <a:t>O WOON LENG </a:t>
            </a:r>
            <a:br>
              <a:rPr lang="en-US"/>
            </a:br>
            <a:r>
              <a:rPr lang="en-US"/>
              <a:t>SARIKA SINGH </a:t>
            </a:r>
            <a:br>
              <a:rPr lang="en-US"/>
            </a:br>
            <a:r>
              <a:rPr lang="en-US"/>
              <a:t>SEAH XIN NI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
        <p:cNvGrpSpPr/>
        <p:nvPr/>
      </p:nvGrpSpPr>
      <p:grpSpPr>
        <a:xfrm>
          <a:off x="0" y="0"/>
          <a:ext cx="0" cy="0"/>
          <a:chOff x="0" y="0"/>
          <a:chExt cx="0" cy="0"/>
        </a:xfrm>
      </p:grpSpPr>
      <p:sp>
        <p:nvSpPr>
          <p:cNvPr id="94" name="Google Shape;94;p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US" sz="5400"/>
              <a:t>AGENDA</a:t>
            </a:r>
            <a:endParaRPr/>
          </a:p>
        </p:txBody>
      </p:sp>
      <p:sp>
        <p:nvSpPr>
          <p:cNvPr id="96" name="Google Shape;96;p2"/>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7" name="Google Shape;97;p2"/>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3200"/>
              <a:buChar char="●"/>
            </a:pPr>
            <a:r>
              <a:rPr lang="en-US" sz="3200"/>
              <a:t>Overview</a:t>
            </a:r>
            <a:endParaRPr sz="3200"/>
          </a:p>
          <a:p>
            <a:pPr marL="457200" lvl="0" indent="-431800" algn="l" rtl="0">
              <a:lnSpc>
                <a:spcPct val="90000"/>
              </a:lnSpc>
              <a:spcBef>
                <a:spcPts val="0"/>
              </a:spcBef>
              <a:spcAft>
                <a:spcPts val="0"/>
              </a:spcAft>
              <a:buSzPts val="3200"/>
              <a:buChar char="●"/>
            </a:pPr>
            <a:r>
              <a:rPr lang="en-US" sz="3200"/>
              <a:t>Preliminary Findings and Observations</a:t>
            </a:r>
            <a:endParaRPr sz="3200"/>
          </a:p>
          <a:p>
            <a:pPr marL="457200" lvl="0" indent="-431800" algn="l" rtl="0">
              <a:lnSpc>
                <a:spcPct val="90000"/>
              </a:lnSpc>
              <a:spcBef>
                <a:spcPts val="0"/>
              </a:spcBef>
              <a:spcAft>
                <a:spcPts val="0"/>
              </a:spcAft>
              <a:buSzPts val="3200"/>
              <a:buChar char="●"/>
            </a:pPr>
            <a:r>
              <a:rPr lang="en-US" sz="3200"/>
              <a:t>Data Analysis (Customer segmentation, Soft churn analysis, Profit analysis)</a:t>
            </a:r>
            <a:endParaRPr sz="3200"/>
          </a:p>
          <a:p>
            <a:pPr marL="457200" lvl="0" indent="-431800" algn="l" rtl="0">
              <a:lnSpc>
                <a:spcPct val="90000"/>
              </a:lnSpc>
              <a:spcBef>
                <a:spcPts val="0"/>
              </a:spcBef>
              <a:spcAft>
                <a:spcPts val="0"/>
              </a:spcAft>
              <a:buSzPts val="3200"/>
              <a:buChar char="●"/>
            </a:pPr>
            <a:r>
              <a:rPr lang="en-US" sz="3200"/>
              <a:t>Forward Looking Map</a:t>
            </a:r>
            <a:endParaRPr sz="3200"/>
          </a:p>
          <a:p>
            <a:pPr marL="457200" lvl="0" indent="-431800" algn="l" rtl="0">
              <a:lnSpc>
                <a:spcPct val="90000"/>
              </a:lnSpc>
              <a:spcBef>
                <a:spcPts val="0"/>
              </a:spcBef>
              <a:spcAft>
                <a:spcPts val="0"/>
              </a:spcAft>
              <a:buSzPts val="3200"/>
              <a:buChar char="●"/>
            </a:pPr>
            <a:r>
              <a:rPr lang="en-US" sz="3200"/>
              <a:t>Q&amp;A</a:t>
            </a:r>
            <a:endParaRPr sz="3200"/>
          </a:p>
          <a:p>
            <a:pPr marL="228600" lvl="0" indent="-88900" algn="l" rtl="0">
              <a:lnSpc>
                <a:spcPct val="90000"/>
              </a:lnSpc>
              <a:spcBef>
                <a:spcPts val="1000"/>
              </a:spcBef>
              <a:spcAft>
                <a:spcPts val="0"/>
              </a:spcAft>
              <a:buClr>
                <a:schemeClr val="dk1"/>
              </a:buClr>
              <a:buSzPts val="2200"/>
              <a:buNone/>
            </a:pP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1"/>
        <p:cNvGrpSpPr/>
        <p:nvPr/>
      </p:nvGrpSpPr>
      <p:grpSpPr>
        <a:xfrm>
          <a:off x="0" y="0"/>
          <a:ext cx="0" cy="0"/>
          <a:chOff x="0" y="0"/>
          <a:chExt cx="0" cy="0"/>
        </a:xfrm>
      </p:grpSpPr>
      <p:sp>
        <p:nvSpPr>
          <p:cNvPr id="102" name="Google Shape;102;g37a46a85c33_0_20"/>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g37a46a85c33_0_2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US" sz="5400"/>
              <a:t>OVERVIEW</a:t>
            </a:r>
            <a:endParaRPr/>
          </a:p>
        </p:txBody>
      </p:sp>
      <p:sp>
        <p:nvSpPr>
          <p:cNvPr id="104" name="Google Shape;104;g37a46a85c33_0_20"/>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05" name="Google Shape;105;g37a46a85c33_0_20" descr="A logo with black and orange letters&#10;&#10;AI-generated content may be incorrect."/>
          <p:cNvPicPr preferRelativeResize="0">
            <a:picLocks noGrp="1"/>
          </p:cNvPicPr>
          <p:nvPr>
            <p:ph type="body" idx="1"/>
          </p:nvPr>
        </p:nvPicPr>
        <p:blipFill rotWithShape="1">
          <a:blip r:embed="rId3">
            <a:alphaModFix/>
          </a:blip>
          <a:srcRect/>
          <a:stretch/>
        </p:blipFill>
        <p:spPr>
          <a:xfrm>
            <a:off x="9218142" y="456073"/>
            <a:ext cx="2356800" cy="796800"/>
          </a:xfrm>
          <a:prstGeom prst="rect">
            <a:avLst/>
          </a:prstGeom>
          <a:noFill/>
          <a:ln>
            <a:noFill/>
          </a:ln>
        </p:spPr>
      </p:pic>
      <p:sp>
        <p:nvSpPr>
          <p:cNvPr id="106" name="Google Shape;106;g37a46a85c33_0_20"/>
          <p:cNvSpPr txBox="1"/>
          <p:nvPr/>
        </p:nvSpPr>
        <p:spPr>
          <a:xfrm>
            <a:off x="838200" y="1929384"/>
            <a:ext cx="10515600" cy="42519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1000"/>
              </a:spcBef>
              <a:spcAft>
                <a:spcPts val="0"/>
              </a:spcAft>
              <a:buClr>
                <a:schemeClr val="dk1"/>
              </a:buClr>
              <a:buSzPts val="1100"/>
              <a:buFont typeface="Arial"/>
              <a:buNone/>
            </a:pPr>
            <a:r>
              <a:rPr lang="en-US" sz="3200" b="1">
                <a:solidFill>
                  <a:schemeClr val="accent2"/>
                </a:solidFill>
              </a:rPr>
              <a:t>3 Key Challenges</a:t>
            </a:r>
            <a:endParaRPr sz="3200" b="1">
              <a:solidFill>
                <a:schemeClr val="accent2"/>
              </a:solidFill>
            </a:endParaRPr>
          </a:p>
          <a:p>
            <a:pPr marL="457200" lvl="0" indent="-431800" algn="l" rtl="0">
              <a:lnSpc>
                <a:spcPct val="90000"/>
              </a:lnSpc>
              <a:spcBef>
                <a:spcPts val="1000"/>
              </a:spcBef>
              <a:spcAft>
                <a:spcPts val="0"/>
              </a:spcAft>
              <a:buClr>
                <a:schemeClr val="dk1"/>
              </a:buClr>
              <a:buSzPts val="3200"/>
              <a:buChar char="●"/>
            </a:pPr>
            <a:r>
              <a:rPr lang="en-US" sz="3200">
                <a:solidFill>
                  <a:schemeClr val="dk1"/>
                </a:solidFill>
              </a:rPr>
              <a:t>Churn</a:t>
            </a:r>
            <a:endParaRPr sz="3200">
              <a:solidFill>
                <a:schemeClr val="dk1"/>
              </a:solidFill>
            </a:endParaRPr>
          </a:p>
          <a:p>
            <a:pPr marL="457200" lvl="0" indent="-431800" algn="l" rtl="0">
              <a:lnSpc>
                <a:spcPct val="90000"/>
              </a:lnSpc>
              <a:spcBef>
                <a:spcPts val="0"/>
              </a:spcBef>
              <a:spcAft>
                <a:spcPts val="0"/>
              </a:spcAft>
              <a:buClr>
                <a:schemeClr val="dk1"/>
              </a:buClr>
              <a:buSzPts val="3200"/>
              <a:buChar char="●"/>
            </a:pPr>
            <a:r>
              <a:rPr lang="en-US" sz="3200">
                <a:solidFill>
                  <a:schemeClr val="dk1"/>
                </a:solidFill>
              </a:rPr>
              <a:t>Profitability</a:t>
            </a:r>
            <a:endParaRPr sz="3200">
              <a:solidFill>
                <a:schemeClr val="dk1"/>
              </a:solidFill>
            </a:endParaRPr>
          </a:p>
          <a:p>
            <a:pPr marL="457200" lvl="0" indent="-431800" algn="l" rtl="0">
              <a:lnSpc>
                <a:spcPct val="90000"/>
              </a:lnSpc>
              <a:spcBef>
                <a:spcPts val="0"/>
              </a:spcBef>
              <a:spcAft>
                <a:spcPts val="0"/>
              </a:spcAft>
              <a:buClr>
                <a:schemeClr val="dk1"/>
              </a:buClr>
              <a:buSzPts val="3200"/>
              <a:buChar char="●"/>
            </a:pPr>
            <a:r>
              <a:rPr lang="en-US" sz="3200">
                <a:solidFill>
                  <a:schemeClr val="dk1"/>
                </a:solidFill>
              </a:rPr>
              <a:t>Engagement</a:t>
            </a:r>
            <a:endParaRPr sz="3200">
              <a:solidFill>
                <a:schemeClr val="dk1"/>
              </a:solidFill>
            </a:endParaRPr>
          </a:p>
          <a:p>
            <a:pPr marL="0" marR="0" lvl="0" indent="0" algn="l" rtl="0">
              <a:lnSpc>
                <a:spcPct val="90000"/>
              </a:lnSpc>
              <a:spcBef>
                <a:spcPts val="1000"/>
              </a:spcBef>
              <a:spcAft>
                <a:spcPts val="0"/>
              </a:spcAft>
              <a:buClr>
                <a:schemeClr val="dk1"/>
              </a:buClr>
              <a:buSzPts val="2200"/>
              <a:buFont typeface="Arial"/>
              <a:buNone/>
            </a:pPr>
            <a:endParaRPr sz="3200" b="1">
              <a:solidFill>
                <a:schemeClr val="accent2"/>
              </a:solidFill>
            </a:endParaRPr>
          </a:p>
          <a:p>
            <a:pPr marL="0" marR="0" lvl="0" indent="0" algn="l" rtl="0">
              <a:lnSpc>
                <a:spcPct val="90000"/>
              </a:lnSpc>
              <a:spcBef>
                <a:spcPts val="1000"/>
              </a:spcBef>
              <a:spcAft>
                <a:spcPts val="0"/>
              </a:spcAft>
              <a:buClr>
                <a:schemeClr val="dk1"/>
              </a:buClr>
              <a:buSzPts val="2200"/>
              <a:buFont typeface="Arial"/>
              <a:buNone/>
            </a:pPr>
            <a:r>
              <a:rPr lang="en-US" sz="3200" b="1">
                <a:solidFill>
                  <a:schemeClr val="accent2"/>
                </a:solidFill>
              </a:rPr>
              <a:t>Solution Focus</a:t>
            </a:r>
            <a:endParaRPr sz="3200" b="1">
              <a:solidFill>
                <a:schemeClr val="accent2"/>
              </a:solidFill>
            </a:endParaRPr>
          </a:p>
          <a:p>
            <a:pPr marL="457200" marR="0" lvl="0" indent="-431800" algn="l" rtl="0">
              <a:lnSpc>
                <a:spcPct val="90000"/>
              </a:lnSpc>
              <a:spcBef>
                <a:spcPts val="1000"/>
              </a:spcBef>
              <a:spcAft>
                <a:spcPts val="0"/>
              </a:spcAft>
              <a:buClr>
                <a:schemeClr val="dk1"/>
              </a:buClr>
              <a:buSzPts val="3200"/>
              <a:buChar char="●"/>
            </a:pPr>
            <a:r>
              <a:rPr lang="en-US" sz="3200">
                <a:solidFill>
                  <a:schemeClr val="dk1"/>
                </a:solidFill>
              </a:rPr>
              <a:t>Know retailer behavior</a:t>
            </a:r>
            <a:endParaRPr sz="3200">
              <a:solidFill>
                <a:schemeClr val="dk1"/>
              </a:solidFill>
            </a:endParaRPr>
          </a:p>
          <a:p>
            <a:pPr marL="457200" marR="0" lvl="0" indent="-431800" algn="l" rtl="0">
              <a:lnSpc>
                <a:spcPct val="90000"/>
              </a:lnSpc>
              <a:spcBef>
                <a:spcPts val="0"/>
              </a:spcBef>
              <a:spcAft>
                <a:spcPts val="0"/>
              </a:spcAft>
              <a:buClr>
                <a:schemeClr val="dk1"/>
              </a:buClr>
              <a:buSzPts val="3200"/>
              <a:buChar char="●"/>
            </a:pPr>
            <a:r>
              <a:rPr lang="en-US" sz="3200">
                <a:solidFill>
                  <a:schemeClr val="dk1"/>
                </a:solidFill>
              </a:rPr>
              <a:t>Detect risks early</a:t>
            </a:r>
            <a:endParaRPr sz="3200">
              <a:solidFill>
                <a:schemeClr val="dk1"/>
              </a:solidFill>
            </a:endParaRPr>
          </a:p>
          <a:p>
            <a:pPr marL="457200" marR="0" lvl="0" indent="-431800" algn="l" rtl="0">
              <a:lnSpc>
                <a:spcPct val="90000"/>
              </a:lnSpc>
              <a:spcBef>
                <a:spcPts val="0"/>
              </a:spcBef>
              <a:spcAft>
                <a:spcPts val="0"/>
              </a:spcAft>
              <a:buClr>
                <a:schemeClr val="dk1"/>
              </a:buClr>
              <a:buSzPts val="3200"/>
              <a:buChar char="●"/>
            </a:pPr>
            <a:r>
              <a:rPr lang="en-US" sz="3200">
                <a:solidFill>
                  <a:schemeClr val="dk1"/>
                </a:solidFill>
              </a:rPr>
              <a:t>Re-engage retailers effectively</a:t>
            </a:r>
            <a:endParaRPr sz="3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g38548b80df1_0_22"/>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2" name="Google Shape;112;g38548b80df1_0_22"/>
          <p:cNvSpPr txBox="1">
            <a:spLocks noGrp="1"/>
          </p:cNvSpPr>
          <p:nvPr>
            <p:ph type="ctrTitle"/>
          </p:nvPr>
        </p:nvSpPr>
        <p:spPr>
          <a:xfrm>
            <a:off x="838200" y="451381"/>
            <a:ext cx="10512600" cy="40665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Play"/>
              <a:buNone/>
            </a:pPr>
            <a:r>
              <a:rPr lang="en-US" sz="3900"/>
              <a:t>PRELIMINARY FINDINGS AND OBSERVATIONS</a:t>
            </a:r>
            <a:endParaRPr sz="3300"/>
          </a:p>
        </p:txBody>
      </p:sp>
      <p:sp>
        <p:nvSpPr>
          <p:cNvPr id="113" name="Google Shape;113;g38548b80df1_0_22"/>
          <p:cNvSpPr txBox="1">
            <a:spLocks noGrp="1"/>
          </p:cNvSpPr>
          <p:nvPr>
            <p:ph type="subTitle" idx="1"/>
          </p:nvPr>
        </p:nvSpPr>
        <p:spPr>
          <a:xfrm>
            <a:off x="838199" y="4983276"/>
            <a:ext cx="10512600" cy="1126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a:p>
        </p:txBody>
      </p:sp>
      <p:sp>
        <p:nvSpPr>
          <p:cNvPr id="114" name="Google Shape;114;g38548b80df1_0_22"/>
          <p:cNvSpPr/>
          <p:nvPr/>
        </p:nvSpPr>
        <p:spPr>
          <a:xfrm>
            <a:off x="838200" y="4718595"/>
            <a:ext cx="5410200" cy="1828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8"/>
        <p:cNvGrpSpPr/>
        <p:nvPr/>
      </p:nvGrpSpPr>
      <p:grpSpPr>
        <a:xfrm>
          <a:off x="0" y="0"/>
          <a:ext cx="0" cy="0"/>
          <a:chOff x="0" y="0"/>
          <a:chExt cx="0" cy="0"/>
        </a:xfrm>
      </p:grpSpPr>
      <p:sp>
        <p:nvSpPr>
          <p:cNvPr id="119" name="Google Shape;119;g382d17c7edc_3_7"/>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0" name="Google Shape;120;g382d17c7edc_3_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endParaRPr/>
          </a:p>
        </p:txBody>
      </p:sp>
      <p:sp>
        <p:nvSpPr>
          <p:cNvPr id="121" name="Google Shape;121;g382d17c7edc_3_7"/>
          <p:cNvSpPr txBox="1">
            <a:spLocks noGrp="1"/>
          </p:cNvSpPr>
          <p:nvPr>
            <p:ph type="body" idx="1"/>
          </p:nvPr>
        </p:nvSpPr>
        <p:spPr>
          <a:xfrm>
            <a:off x="838200" y="1929384"/>
            <a:ext cx="10515600" cy="42519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2800"/>
              <a:buChar char="•"/>
            </a:pPr>
            <a:endParaRPr/>
          </a:p>
          <a:p>
            <a:pPr marL="0" lvl="0" indent="0" algn="l" rtl="0">
              <a:lnSpc>
                <a:spcPct val="100000"/>
              </a:lnSpc>
              <a:spcBef>
                <a:spcPts val="0"/>
              </a:spcBef>
              <a:spcAft>
                <a:spcPts val="0"/>
              </a:spcAft>
              <a:buClr>
                <a:schemeClr val="dk1"/>
              </a:buClr>
              <a:buSzPts val="2800"/>
              <a:buNone/>
            </a:pPr>
            <a:r>
              <a:rPr lang="en-US"/>
              <a:t> </a:t>
            </a:r>
            <a:endParaRPr/>
          </a:p>
        </p:txBody>
      </p:sp>
      <p:pic>
        <p:nvPicPr>
          <p:cNvPr id="122" name="Google Shape;122;g382d17c7edc_3_7"/>
          <p:cNvPicPr preferRelativeResize="0"/>
          <p:nvPr/>
        </p:nvPicPr>
        <p:blipFill>
          <a:blip r:embed="rId3">
            <a:alphaModFix/>
          </a:blip>
          <a:stretch>
            <a:fillRect/>
          </a:stretch>
        </p:blipFill>
        <p:spPr>
          <a:xfrm>
            <a:off x="0" y="10903"/>
            <a:ext cx="12192001" cy="683619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37a4ab458f7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128" name="Google Shape;128;g37a4ab458f7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129" name="Google Shape;129;g37a4ab458f7_0_0"/>
          <p:cNvPicPr preferRelativeResize="0"/>
          <p:nvPr/>
        </p:nvPicPr>
        <p:blipFill>
          <a:blip r:embed="rId3">
            <a:alphaModFix/>
          </a:blip>
          <a:stretch>
            <a:fillRect/>
          </a:stretch>
        </p:blipFill>
        <p:spPr>
          <a:xfrm>
            <a:off x="11530" y="0"/>
            <a:ext cx="12168941"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g382d17c7edc_3_15"/>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5" name="Google Shape;135;g382d17c7edc_3_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endParaRPr/>
          </a:p>
        </p:txBody>
      </p:sp>
      <p:sp>
        <p:nvSpPr>
          <p:cNvPr id="136" name="Google Shape;136;g382d17c7edc_3_15"/>
          <p:cNvSpPr txBox="1">
            <a:spLocks noGrp="1"/>
          </p:cNvSpPr>
          <p:nvPr>
            <p:ph type="body" idx="1"/>
          </p:nvPr>
        </p:nvSpPr>
        <p:spPr>
          <a:xfrm>
            <a:off x="838200" y="1929384"/>
            <a:ext cx="10515600" cy="42519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2800"/>
              <a:buChar char="•"/>
            </a:pPr>
            <a:endParaRPr/>
          </a:p>
          <a:p>
            <a:pPr marL="0" lvl="0" indent="0" algn="l" rtl="0">
              <a:lnSpc>
                <a:spcPct val="100000"/>
              </a:lnSpc>
              <a:spcBef>
                <a:spcPts val="0"/>
              </a:spcBef>
              <a:spcAft>
                <a:spcPts val="0"/>
              </a:spcAft>
              <a:buClr>
                <a:schemeClr val="dk1"/>
              </a:buClr>
              <a:buSzPts val="2800"/>
              <a:buNone/>
            </a:pPr>
            <a:r>
              <a:rPr lang="en-US"/>
              <a:t> </a:t>
            </a:r>
            <a:endParaRPr/>
          </a:p>
        </p:txBody>
      </p:sp>
      <p:pic>
        <p:nvPicPr>
          <p:cNvPr id="137" name="Google Shape;137;g382d17c7edc_3_15"/>
          <p:cNvPicPr preferRelativeResize="0"/>
          <p:nvPr/>
        </p:nvPicPr>
        <p:blipFill>
          <a:blip r:embed="rId3">
            <a:alphaModFix/>
          </a:blip>
          <a:stretch>
            <a:fillRect/>
          </a:stretch>
        </p:blipFill>
        <p:spPr>
          <a:xfrm>
            <a:off x="0" y="1187"/>
            <a:ext cx="12192001" cy="68556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1"/>
        <p:cNvGrpSpPr/>
        <p:nvPr/>
      </p:nvGrpSpPr>
      <p:grpSpPr>
        <a:xfrm>
          <a:off x="0" y="0"/>
          <a:ext cx="0" cy="0"/>
          <a:chOff x="0" y="0"/>
          <a:chExt cx="0" cy="0"/>
        </a:xfrm>
      </p:grpSpPr>
      <p:sp>
        <p:nvSpPr>
          <p:cNvPr id="142" name="Google Shape;142;p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3" name="Google Shape;143;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860"/>
              <a:buFont typeface="Play"/>
              <a:buNone/>
            </a:pPr>
            <a:r>
              <a:rPr lang="en-US" sz="3900"/>
              <a:t>PRELIMINARY FINDINGS AND OBSERVATIONS</a:t>
            </a:r>
            <a:endParaRPr sz="3900"/>
          </a:p>
        </p:txBody>
      </p:sp>
      <p:sp>
        <p:nvSpPr>
          <p:cNvPr id="144" name="Google Shape;144;p6"/>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5" name="Google Shape;145;p6"/>
          <p:cNvSpPr txBox="1">
            <a:spLocks noGrp="1"/>
          </p:cNvSpPr>
          <p:nvPr>
            <p:ph type="body" idx="1"/>
          </p:nvPr>
        </p:nvSpPr>
        <p:spPr>
          <a:xfrm>
            <a:off x="838200" y="1929375"/>
            <a:ext cx="10684800" cy="4251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2000" dirty="0"/>
              <a:t>This decline raises critical questions:</a:t>
            </a:r>
            <a:endParaRPr sz="2000" dirty="0"/>
          </a:p>
          <a:p>
            <a:pPr marL="914400" lvl="0" indent="-400050" algn="l" rtl="0">
              <a:lnSpc>
                <a:spcPct val="150000"/>
              </a:lnSpc>
              <a:spcBef>
                <a:spcPts val="1200"/>
              </a:spcBef>
              <a:spcAft>
                <a:spcPts val="0"/>
              </a:spcAft>
              <a:buSzPts val="2700"/>
              <a:buChar char="●"/>
            </a:pPr>
            <a:r>
              <a:rPr lang="en-US" sz="2000" dirty="0"/>
              <a:t>Are costs or product requirements driving the change?</a:t>
            </a:r>
          </a:p>
          <a:p>
            <a:pPr marL="914400" lvl="0" indent="-400050" algn="l" rtl="0">
              <a:lnSpc>
                <a:spcPct val="150000"/>
              </a:lnSpc>
              <a:spcBef>
                <a:spcPts val="1200"/>
              </a:spcBef>
              <a:spcAft>
                <a:spcPts val="0"/>
              </a:spcAft>
              <a:buSzPts val="2700"/>
              <a:buChar char="●"/>
            </a:pPr>
            <a:r>
              <a:rPr lang="en-US" sz="2000" dirty="0"/>
              <a:t>Could the subscription model or app system issues be discouraging retailers?</a:t>
            </a:r>
            <a:endParaRPr sz="2000" dirty="0"/>
          </a:p>
          <a:p>
            <a:pPr marL="914400" lvl="0" indent="-400050" algn="l" rtl="0">
              <a:lnSpc>
                <a:spcPct val="150000"/>
              </a:lnSpc>
              <a:spcBef>
                <a:spcPts val="0"/>
              </a:spcBef>
              <a:spcAft>
                <a:spcPts val="0"/>
              </a:spcAft>
              <a:buSzPts val="2700"/>
              <a:buChar char="●"/>
            </a:pPr>
            <a:r>
              <a:rPr lang="en-US" sz="2000" dirty="0"/>
              <a:t>Are buyer behavior patterns shifting in ways not captured?</a:t>
            </a:r>
            <a:endParaRPr sz="2000" dirty="0"/>
          </a:p>
          <a:p>
            <a:pPr marL="914400" lvl="0" indent="-400050" algn="l" rtl="0">
              <a:lnSpc>
                <a:spcPct val="150000"/>
              </a:lnSpc>
              <a:spcBef>
                <a:spcPts val="0"/>
              </a:spcBef>
              <a:spcAft>
                <a:spcPts val="0"/>
              </a:spcAft>
              <a:buSzPts val="2700"/>
              <a:buChar char="●"/>
            </a:pPr>
            <a:r>
              <a:rPr lang="en-US" sz="2000" dirty="0"/>
              <a:t>Is feedback data being acted upon?</a:t>
            </a:r>
            <a:endParaRPr sz="2000" dirty="0"/>
          </a:p>
          <a:p>
            <a:pPr marL="914400" lvl="0" indent="-400050" algn="l" rtl="0">
              <a:lnSpc>
                <a:spcPct val="150000"/>
              </a:lnSpc>
              <a:spcBef>
                <a:spcPts val="0"/>
              </a:spcBef>
              <a:spcAft>
                <a:spcPts val="0"/>
              </a:spcAft>
              <a:buSzPts val="2700"/>
              <a:buChar char="●"/>
            </a:pPr>
            <a:r>
              <a:rPr lang="en-US" sz="2000" dirty="0"/>
              <a:t>Or is it simply the economics of scale at play?</a:t>
            </a:r>
            <a:endParaRPr sz="2000" dirty="0"/>
          </a:p>
          <a:p>
            <a:pPr marL="914400" lvl="0" indent="-400050" algn="l" rtl="0">
              <a:lnSpc>
                <a:spcPct val="150000"/>
              </a:lnSpc>
              <a:spcBef>
                <a:spcPts val="0"/>
              </a:spcBef>
              <a:spcAft>
                <a:spcPts val="0"/>
              </a:spcAft>
              <a:buSzPts val="2700"/>
              <a:buChar char="●"/>
            </a:pPr>
            <a:r>
              <a:rPr lang="en-US" sz="2000" dirty="0"/>
              <a:t>These insights highlight the need for deeper analysis — to truly understand retailer behavior, detect risks early, and re-engage with precision.</a:t>
            </a:r>
            <a:endParaRPr sz="2000" dirty="0"/>
          </a:p>
          <a:p>
            <a:pPr marL="0" lvl="0" indent="0" algn="l" rtl="0">
              <a:lnSpc>
                <a:spcPct val="100000"/>
              </a:lnSpc>
              <a:spcBef>
                <a:spcPts val="1200"/>
              </a:spcBef>
              <a:spcAft>
                <a:spcPts val="0"/>
              </a:spcAft>
              <a:buClr>
                <a:schemeClr val="dk1"/>
              </a:buClr>
              <a:buSzPts val="2800"/>
              <a:buNone/>
            </a:pPr>
            <a:r>
              <a:rPr lang="en-US" dirty="0">
                <a:highlight>
                  <a:schemeClr val="lt1"/>
                </a:highlight>
              </a:rPr>
              <a:t> </a:t>
            </a:r>
            <a:endParaRPr dirty="0">
              <a:highlight>
                <a:schemeClr val="lt1"/>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
        <p:cNvGrpSpPr/>
        <p:nvPr/>
      </p:nvGrpSpPr>
      <p:grpSpPr>
        <a:xfrm>
          <a:off x="0" y="0"/>
          <a:ext cx="0" cy="0"/>
          <a:chOff x="0" y="0"/>
          <a:chExt cx="0" cy="0"/>
        </a:xfrm>
      </p:grpSpPr>
      <p:sp>
        <p:nvSpPr>
          <p:cNvPr id="150" name="Google Shape;150;g38548b80df1_0_15"/>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1" name="Google Shape;151;g38548b80df1_0_15"/>
          <p:cNvSpPr txBox="1">
            <a:spLocks noGrp="1"/>
          </p:cNvSpPr>
          <p:nvPr>
            <p:ph type="ctrTitle"/>
          </p:nvPr>
        </p:nvSpPr>
        <p:spPr>
          <a:xfrm>
            <a:off x="838200" y="451381"/>
            <a:ext cx="10512600" cy="40665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Play"/>
              <a:buNone/>
            </a:pPr>
            <a:r>
              <a:rPr lang="en-US" sz="5700"/>
              <a:t>DATA ANALYSIS</a:t>
            </a:r>
            <a:endParaRPr sz="5100"/>
          </a:p>
        </p:txBody>
      </p:sp>
      <p:sp>
        <p:nvSpPr>
          <p:cNvPr id="152" name="Google Shape;152;g38548b80df1_0_15"/>
          <p:cNvSpPr txBox="1">
            <a:spLocks noGrp="1"/>
          </p:cNvSpPr>
          <p:nvPr>
            <p:ph type="subTitle" idx="1"/>
          </p:nvPr>
        </p:nvSpPr>
        <p:spPr>
          <a:xfrm>
            <a:off x="838199" y="4983276"/>
            <a:ext cx="10512600" cy="1126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a:p>
        </p:txBody>
      </p:sp>
      <p:sp>
        <p:nvSpPr>
          <p:cNvPr id="153" name="Google Shape;153;g38548b80df1_0_15"/>
          <p:cNvSpPr/>
          <p:nvPr/>
        </p:nvSpPr>
        <p:spPr>
          <a:xfrm>
            <a:off x="838200" y="4718595"/>
            <a:ext cx="5410200" cy="1828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79461babfd_2_11"/>
          <p:cNvSpPr txBox="1">
            <a:spLocks noGrp="1"/>
          </p:cNvSpPr>
          <p:nvPr>
            <p:ph type="title"/>
          </p:nvPr>
        </p:nvSpPr>
        <p:spPr>
          <a:xfrm>
            <a:off x="838200" y="365125"/>
            <a:ext cx="10515600" cy="10443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CUSTOMER SEGMENTATION</a:t>
            </a:r>
            <a:endParaRPr/>
          </a:p>
        </p:txBody>
      </p:sp>
      <p:sp>
        <p:nvSpPr>
          <p:cNvPr id="159" name="Google Shape;159;g379461babfd_2_11"/>
          <p:cNvSpPr/>
          <p:nvPr/>
        </p:nvSpPr>
        <p:spPr>
          <a:xfrm>
            <a:off x="669036" y="140942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0" name="Google Shape;160;g379461babfd_2_11"/>
          <p:cNvSpPr/>
          <p:nvPr/>
        </p:nvSpPr>
        <p:spPr>
          <a:xfrm>
            <a:off x="9242698" y="2695400"/>
            <a:ext cx="6486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1" name="Google Shape;161;g379461babfd_2_11"/>
          <p:cNvSpPr/>
          <p:nvPr/>
        </p:nvSpPr>
        <p:spPr>
          <a:xfrm>
            <a:off x="2453150" y="3951200"/>
            <a:ext cx="14802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2" name="Google Shape;162;g379461babfd_2_11"/>
          <p:cNvSpPr/>
          <p:nvPr/>
        </p:nvSpPr>
        <p:spPr>
          <a:xfrm>
            <a:off x="891003" y="3579025"/>
            <a:ext cx="1577700" cy="79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A7291E"/>
                </a:solidFill>
                <a:latin typeface="Roboto"/>
                <a:ea typeface="Roboto"/>
                <a:cs typeface="Roboto"/>
                <a:sym typeface="Roboto"/>
              </a:rPr>
              <a:t>Data Cleaning &amp; Pre-Processing</a:t>
            </a:r>
            <a:endParaRPr/>
          </a:p>
        </p:txBody>
      </p:sp>
      <p:sp>
        <p:nvSpPr>
          <p:cNvPr id="163" name="Google Shape;163;g379461babfd_2_11"/>
          <p:cNvSpPr txBox="1"/>
          <p:nvPr/>
        </p:nvSpPr>
        <p:spPr>
          <a:xfrm>
            <a:off x="1602157" y="3681800"/>
            <a:ext cx="582300" cy="4281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endParaRPr sz="2400" b="1">
              <a:solidFill>
                <a:srgbClr val="A7291E"/>
              </a:solidFill>
              <a:latin typeface="Roboto"/>
              <a:ea typeface="Roboto"/>
              <a:cs typeface="Roboto"/>
              <a:sym typeface="Roboto"/>
            </a:endParaRPr>
          </a:p>
        </p:txBody>
      </p:sp>
      <p:sp>
        <p:nvSpPr>
          <p:cNvPr id="164" name="Google Shape;164;g379461babfd_2_11"/>
          <p:cNvSpPr/>
          <p:nvPr/>
        </p:nvSpPr>
        <p:spPr>
          <a:xfrm>
            <a:off x="3946690" y="3579025"/>
            <a:ext cx="1639200" cy="79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A7291E"/>
                </a:solidFill>
                <a:latin typeface="Roboto"/>
                <a:ea typeface="Roboto"/>
                <a:cs typeface="Roboto"/>
                <a:sym typeface="Roboto"/>
              </a:rPr>
              <a:t>Feature Engineering</a:t>
            </a:r>
            <a:endParaRPr/>
          </a:p>
        </p:txBody>
      </p:sp>
      <p:sp>
        <p:nvSpPr>
          <p:cNvPr id="165" name="Google Shape;165;g379461babfd_2_11"/>
          <p:cNvSpPr/>
          <p:nvPr/>
        </p:nvSpPr>
        <p:spPr>
          <a:xfrm>
            <a:off x="7349125" y="2443250"/>
            <a:ext cx="1903800" cy="55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1300" b="1">
                <a:solidFill>
                  <a:srgbClr val="858585"/>
                </a:solidFill>
                <a:latin typeface="Roboto"/>
                <a:ea typeface="Roboto"/>
                <a:cs typeface="Roboto"/>
                <a:sym typeface="Roboto"/>
              </a:rPr>
              <a:t>RFM Segmentation</a:t>
            </a:r>
            <a:endParaRPr/>
          </a:p>
        </p:txBody>
      </p:sp>
      <p:sp>
        <p:nvSpPr>
          <p:cNvPr id="166" name="Google Shape;166;g379461babfd_2_11"/>
          <p:cNvSpPr/>
          <p:nvPr/>
        </p:nvSpPr>
        <p:spPr>
          <a:xfrm>
            <a:off x="6814925" y="5207575"/>
            <a:ext cx="5436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7" name="Google Shape;167;g379461babfd_2_11"/>
          <p:cNvSpPr/>
          <p:nvPr/>
        </p:nvSpPr>
        <p:spPr>
          <a:xfrm>
            <a:off x="6814921" y="2694800"/>
            <a:ext cx="5382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8" name="Google Shape;168;g379461babfd_2_11"/>
          <p:cNvSpPr/>
          <p:nvPr/>
        </p:nvSpPr>
        <p:spPr>
          <a:xfrm rot="5400000">
            <a:off x="5559125" y="3950600"/>
            <a:ext cx="25608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9" name="Google Shape;169;g379461babfd_2_11"/>
          <p:cNvSpPr/>
          <p:nvPr/>
        </p:nvSpPr>
        <p:spPr>
          <a:xfrm>
            <a:off x="7349125" y="4954900"/>
            <a:ext cx="1903800" cy="55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858585"/>
                </a:solidFill>
                <a:latin typeface="Roboto"/>
                <a:ea typeface="Roboto"/>
                <a:cs typeface="Roboto"/>
                <a:sym typeface="Roboto"/>
              </a:rPr>
              <a:t>KMeans</a:t>
            </a:r>
            <a:endParaRPr/>
          </a:p>
        </p:txBody>
      </p:sp>
      <p:sp>
        <p:nvSpPr>
          <p:cNvPr id="170" name="Google Shape;170;g379461babfd_2_11"/>
          <p:cNvSpPr/>
          <p:nvPr/>
        </p:nvSpPr>
        <p:spPr>
          <a:xfrm>
            <a:off x="5589963" y="3951188"/>
            <a:ext cx="12369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1" name="Google Shape;171;g379461babfd_2_11"/>
          <p:cNvSpPr/>
          <p:nvPr/>
        </p:nvSpPr>
        <p:spPr>
          <a:xfrm>
            <a:off x="9886100" y="2443250"/>
            <a:ext cx="1990800" cy="31125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300" b="1">
                <a:solidFill>
                  <a:srgbClr val="858585"/>
                </a:solidFill>
                <a:latin typeface="Roboto"/>
                <a:ea typeface="Roboto"/>
                <a:cs typeface="Roboto"/>
                <a:sym typeface="Roboto"/>
              </a:rPr>
              <a:t>RFM Segmentation  is the most fitting:</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r>
              <a:rPr lang="en-US" sz="1300" b="1">
                <a:solidFill>
                  <a:schemeClr val="accent2"/>
                </a:solidFill>
                <a:latin typeface="Roboto"/>
                <a:ea typeface="Roboto"/>
                <a:cs typeface="Roboto"/>
                <a:sym typeface="Roboto"/>
              </a:rPr>
              <a:t>✔</a:t>
            </a:r>
            <a:r>
              <a:rPr lang="en-US" sz="1300" b="1">
                <a:solidFill>
                  <a:srgbClr val="858585"/>
                </a:solidFill>
                <a:latin typeface="Roboto"/>
                <a:ea typeface="Roboto"/>
                <a:cs typeface="Roboto"/>
                <a:sym typeface="Roboto"/>
              </a:rPr>
              <a:t> Clear rules and stable</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r>
              <a:rPr lang="en-US" sz="1300" b="1">
                <a:solidFill>
                  <a:schemeClr val="accent2"/>
                </a:solidFill>
                <a:latin typeface="Roboto"/>
                <a:ea typeface="Roboto"/>
                <a:cs typeface="Roboto"/>
                <a:sym typeface="Roboto"/>
              </a:rPr>
              <a:t>✔</a:t>
            </a:r>
            <a:r>
              <a:rPr lang="en-US" sz="1300" b="1">
                <a:solidFill>
                  <a:srgbClr val="858585"/>
                </a:solidFill>
                <a:latin typeface="Roboto"/>
                <a:ea typeface="Roboto"/>
                <a:cs typeface="Roboto"/>
                <a:sym typeface="Roboto"/>
              </a:rPr>
              <a:t> Interpretable and explainable </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300" b="1">
                <a:solidFill>
                  <a:schemeClr val="accent2"/>
                </a:solidFill>
                <a:latin typeface="Roboto"/>
                <a:ea typeface="Roboto"/>
                <a:cs typeface="Roboto"/>
                <a:sym typeface="Roboto"/>
              </a:rPr>
              <a:t>✔</a:t>
            </a:r>
            <a:r>
              <a:rPr lang="en-US" sz="1300" b="1">
                <a:solidFill>
                  <a:srgbClr val="858585"/>
                </a:solidFill>
                <a:latin typeface="Roboto"/>
                <a:ea typeface="Roboto"/>
                <a:cs typeface="Roboto"/>
                <a:sym typeface="Roboto"/>
              </a:rPr>
              <a:t> Avoid unbalanced clusters</a:t>
            </a:r>
            <a:endParaRPr sz="1300" b="1">
              <a:solidFill>
                <a:srgbClr val="858585"/>
              </a:solidFill>
              <a:latin typeface="Roboto"/>
              <a:ea typeface="Roboto"/>
              <a:cs typeface="Roboto"/>
              <a:sym typeface="Roboto"/>
            </a:endParaRPr>
          </a:p>
        </p:txBody>
      </p:sp>
      <p:sp>
        <p:nvSpPr>
          <p:cNvPr id="172" name="Google Shape;172;g379461babfd_2_11"/>
          <p:cNvSpPr txBox="1"/>
          <p:nvPr/>
        </p:nvSpPr>
        <p:spPr>
          <a:xfrm>
            <a:off x="344625" y="4513725"/>
            <a:ext cx="2794500" cy="19038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100">
                <a:solidFill>
                  <a:srgbClr val="A7291E"/>
                </a:solidFill>
                <a:highlight>
                  <a:schemeClr val="lt2"/>
                </a:highlight>
                <a:latin typeface="Roboto"/>
                <a:ea typeface="Roboto"/>
                <a:cs typeface="Roboto"/>
                <a:sym typeface="Roboto"/>
              </a:rPr>
              <a:t>Date Parsing</a:t>
            </a:r>
            <a:r>
              <a:rPr lang="en-US" sz="1100">
                <a:solidFill>
                  <a:srgbClr val="A7291E"/>
                </a:solidFill>
                <a:latin typeface="Roboto"/>
                <a:ea typeface="Roboto"/>
                <a:cs typeface="Roboto"/>
                <a:sym typeface="Roboto"/>
              </a:rPr>
              <a:t> - Standardised date format dd/mm/yyyy across the data </a:t>
            </a:r>
            <a:endParaRPr sz="1100">
              <a:solidFill>
                <a:srgbClr val="A7291E"/>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100">
                <a:solidFill>
                  <a:srgbClr val="A7291E"/>
                </a:solidFill>
                <a:highlight>
                  <a:schemeClr val="lt2"/>
                </a:highlight>
                <a:latin typeface="Roboto"/>
                <a:ea typeface="Roboto"/>
                <a:cs typeface="Roboto"/>
                <a:sym typeface="Roboto"/>
              </a:rPr>
              <a:t>Handling missing or null values </a:t>
            </a:r>
            <a:r>
              <a:rPr lang="en-US" sz="1100">
                <a:solidFill>
                  <a:srgbClr val="A7291E"/>
                </a:solidFill>
                <a:latin typeface="Roboto"/>
                <a:ea typeface="Roboto"/>
                <a:cs typeface="Roboto"/>
                <a:sym typeface="Roboto"/>
              </a:rPr>
              <a:t> - Either remove or fill in values </a:t>
            </a:r>
            <a:endParaRPr sz="1100">
              <a:solidFill>
                <a:srgbClr val="A7291E"/>
              </a:solidFill>
              <a:latin typeface="Roboto"/>
              <a:ea typeface="Roboto"/>
              <a:cs typeface="Roboto"/>
              <a:sym typeface="Roboto"/>
            </a:endParaRPr>
          </a:p>
          <a:p>
            <a:pPr marL="0" lvl="0" indent="0" algn="l" rtl="0">
              <a:lnSpc>
                <a:spcPct val="115000"/>
              </a:lnSpc>
              <a:spcBef>
                <a:spcPts val="0"/>
              </a:spcBef>
              <a:spcAft>
                <a:spcPts val="0"/>
              </a:spcAft>
              <a:buNone/>
            </a:pPr>
            <a:r>
              <a:rPr lang="en-US" sz="1100">
                <a:solidFill>
                  <a:srgbClr val="A7291E"/>
                </a:solidFill>
                <a:highlight>
                  <a:schemeClr val="lt2"/>
                </a:highlight>
                <a:latin typeface="Roboto"/>
                <a:ea typeface="Roboto"/>
                <a:cs typeface="Roboto"/>
                <a:sym typeface="Roboto"/>
              </a:rPr>
              <a:t>Handling duplicates and unused columns </a:t>
            </a:r>
            <a:r>
              <a:rPr lang="en-US" sz="1100">
                <a:solidFill>
                  <a:srgbClr val="A7291E"/>
                </a:solidFill>
                <a:latin typeface="Roboto"/>
                <a:ea typeface="Roboto"/>
                <a:cs typeface="Roboto"/>
                <a:sym typeface="Roboto"/>
              </a:rPr>
              <a:t> - Removing entries to ensure accuracy and performance efficiency </a:t>
            </a:r>
            <a:endParaRPr sz="1100">
              <a:solidFill>
                <a:srgbClr val="A7291E"/>
              </a:solidFill>
              <a:latin typeface="Roboto"/>
              <a:ea typeface="Roboto"/>
              <a:cs typeface="Roboto"/>
              <a:sym typeface="Roboto"/>
            </a:endParaRPr>
          </a:p>
        </p:txBody>
      </p:sp>
      <p:sp>
        <p:nvSpPr>
          <p:cNvPr id="173" name="Google Shape;173;g379461babfd_2_11"/>
          <p:cNvSpPr txBox="1"/>
          <p:nvPr/>
        </p:nvSpPr>
        <p:spPr>
          <a:xfrm>
            <a:off x="3433125" y="4513725"/>
            <a:ext cx="2794500" cy="15993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100">
                <a:solidFill>
                  <a:srgbClr val="A7291E"/>
                </a:solidFill>
                <a:highlight>
                  <a:schemeClr val="lt2"/>
                </a:highlight>
                <a:latin typeface="Roboto"/>
                <a:ea typeface="Roboto"/>
                <a:cs typeface="Roboto"/>
                <a:sym typeface="Roboto"/>
              </a:rPr>
              <a:t>Creating new columns</a:t>
            </a:r>
            <a:r>
              <a:rPr lang="en-US" sz="1100">
                <a:solidFill>
                  <a:srgbClr val="A7291E"/>
                </a:solidFill>
                <a:latin typeface="Roboto"/>
                <a:ea typeface="Roboto"/>
                <a:cs typeface="Roboto"/>
                <a:sym typeface="Roboto"/>
              </a:rPr>
              <a:t> - Aggregate the total sales_amount based on unique invoice number </a:t>
            </a:r>
            <a:endParaRPr sz="1100">
              <a:solidFill>
                <a:srgbClr val="A7291E"/>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7b178df6df_0_13"/>
          <p:cNvSpPr txBox="1">
            <a:spLocks noGrp="1"/>
          </p:cNvSpPr>
          <p:nvPr>
            <p:ph type="title"/>
          </p:nvPr>
        </p:nvSpPr>
        <p:spPr>
          <a:xfrm>
            <a:off x="838200" y="365125"/>
            <a:ext cx="10515600" cy="10443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CUSTOMER SEGMENTATION</a:t>
            </a:r>
            <a:endParaRPr/>
          </a:p>
        </p:txBody>
      </p:sp>
      <p:graphicFrame>
        <p:nvGraphicFramePr>
          <p:cNvPr id="179" name="Google Shape;179;g37b178df6df_0_13"/>
          <p:cNvGraphicFramePr/>
          <p:nvPr/>
        </p:nvGraphicFramePr>
        <p:xfrm>
          <a:off x="198200" y="1849642"/>
          <a:ext cx="3000000" cy="3000000"/>
        </p:xfrm>
        <a:graphic>
          <a:graphicData uri="http://schemas.openxmlformats.org/drawingml/2006/table">
            <a:tbl>
              <a:tblPr>
                <a:noFill/>
                <a:tableStyleId>{7D0F31FA-75AA-4DF5-8931-7ACD70D262A8}</a:tableStyleId>
              </a:tblPr>
              <a:tblGrid>
                <a:gridCol w="1524700">
                  <a:extLst>
                    <a:ext uri="{9D8B030D-6E8A-4147-A177-3AD203B41FA5}">
                      <a16:colId xmlns:a16="http://schemas.microsoft.com/office/drawing/2014/main" val="20000"/>
                    </a:ext>
                  </a:extLst>
                </a:gridCol>
                <a:gridCol w="3884800">
                  <a:extLst>
                    <a:ext uri="{9D8B030D-6E8A-4147-A177-3AD203B41FA5}">
                      <a16:colId xmlns:a16="http://schemas.microsoft.com/office/drawing/2014/main" val="20001"/>
                    </a:ext>
                  </a:extLst>
                </a:gridCol>
              </a:tblGrid>
              <a:tr h="699250">
                <a:tc>
                  <a:txBody>
                    <a:bodyPr/>
                    <a:lstStyle/>
                    <a:p>
                      <a:pPr marL="0" lvl="0" indent="0" algn="ctr" rtl="0">
                        <a:spcBef>
                          <a:spcPts val="0"/>
                        </a:spcBef>
                        <a:spcAft>
                          <a:spcPts val="0"/>
                        </a:spcAft>
                        <a:buNone/>
                      </a:pPr>
                      <a:r>
                        <a:rPr lang="en-US"/>
                        <a:t>Champions</a:t>
                      </a:r>
                      <a:endParaRPr/>
                    </a:p>
                  </a:txBody>
                  <a:tcPr marL="91425" marR="91425" marT="91425" marB="91425" anchor="ctr"/>
                </a:tc>
                <a:tc>
                  <a:txBody>
                    <a:bodyPr/>
                    <a:lstStyle/>
                    <a:p>
                      <a:pPr marL="0" lvl="0" indent="0" algn="l" rtl="0">
                        <a:spcBef>
                          <a:spcPts val="0"/>
                        </a:spcBef>
                        <a:spcAft>
                          <a:spcPts val="0"/>
                        </a:spcAft>
                        <a:buNone/>
                      </a:pPr>
                      <a:r>
                        <a:rPr lang="en-US"/>
                        <a:t>High Recency (4–5) = purchased very recently</a:t>
                      </a:r>
                      <a:endParaRPr/>
                    </a:p>
                    <a:p>
                      <a:pPr marL="0" lvl="0" indent="0" algn="l" rtl="0">
                        <a:spcBef>
                          <a:spcPts val="0"/>
                        </a:spcBef>
                        <a:spcAft>
                          <a:spcPts val="0"/>
                        </a:spcAft>
                        <a:buNone/>
                      </a:pPr>
                      <a:r>
                        <a:rPr lang="en-US"/>
                        <a:t>High Frequency (4–5) = purchased very often</a:t>
                      </a:r>
                      <a:endParaRPr/>
                    </a:p>
                    <a:p>
                      <a:pPr marL="0" lvl="0" indent="0" algn="l" rtl="0">
                        <a:spcBef>
                          <a:spcPts val="0"/>
                        </a:spcBef>
                        <a:spcAft>
                          <a:spcPts val="0"/>
                        </a:spcAft>
                        <a:buNone/>
                      </a:pPr>
                      <a:r>
                        <a:rPr lang="en-US"/>
                        <a:t>High Monetary (4–5) = spend the most</a:t>
                      </a:r>
                      <a:endParaRPr/>
                    </a:p>
                  </a:txBody>
                  <a:tcPr marL="91425" marR="91425" marT="91425" marB="91425"/>
                </a:tc>
                <a:extLst>
                  <a:ext uri="{0D108BD9-81ED-4DB2-BD59-A6C34878D82A}">
                    <a16:rowId xmlns:a16="http://schemas.microsoft.com/office/drawing/2014/main" val="10000"/>
                  </a:ext>
                </a:extLst>
              </a:tr>
              <a:tr h="699250">
                <a:tc>
                  <a:txBody>
                    <a:bodyPr/>
                    <a:lstStyle/>
                    <a:p>
                      <a:pPr marL="0" lvl="0" indent="0" algn="ctr" rtl="0">
                        <a:spcBef>
                          <a:spcPts val="0"/>
                        </a:spcBef>
                        <a:spcAft>
                          <a:spcPts val="0"/>
                        </a:spcAft>
                        <a:buNone/>
                      </a:pPr>
                      <a:r>
                        <a:rPr lang="en-US"/>
                        <a:t>Loyal</a:t>
                      </a:r>
                      <a:endParaRPr/>
                    </a:p>
                  </a:txBody>
                  <a:tcPr marL="91425" marR="91425" marT="91425" marB="91425" anchor="ctr"/>
                </a:tc>
                <a:tc>
                  <a:txBody>
                    <a:bodyPr/>
                    <a:lstStyle/>
                    <a:p>
                      <a:pPr marL="0" lvl="0" indent="0" algn="l" rtl="0">
                        <a:spcBef>
                          <a:spcPts val="0"/>
                        </a:spcBef>
                        <a:spcAft>
                          <a:spcPts val="0"/>
                        </a:spcAft>
                        <a:buNone/>
                      </a:pPr>
                      <a:r>
                        <a:rPr lang="en-US">
                          <a:solidFill>
                            <a:schemeClr val="dk1"/>
                          </a:solidFill>
                        </a:rPr>
                        <a:t>Recency ≥ 3 and Frequency ≥ 4 </a:t>
                      </a:r>
                      <a:endParaRPr/>
                    </a:p>
                    <a:p>
                      <a:pPr marL="0" lvl="0" indent="0" algn="l" rtl="0">
                        <a:spcBef>
                          <a:spcPts val="0"/>
                        </a:spcBef>
                        <a:spcAft>
                          <a:spcPts val="0"/>
                        </a:spcAft>
                        <a:buNone/>
                      </a:pPr>
                      <a:r>
                        <a:rPr lang="en-US"/>
                        <a:t>Purchased frequently but may not spend as much as Champions.</a:t>
                      </a:r>
                      <a:endParaRPr/>
                    </a:p>
                  </a:txBody>
                  <a:tcPr marL="91425" marR="91425" marT="91425" marB="91425"/>
                </a:tc>
                <a:extLst>
                  <a:ext uri="{0D108BD9-81ED-4DB2-BD59-A6C34878D82A}">
                    <a16:rowId xmlns:a16="http://schemas.microsoft.com/office/drawing/2014/main" val="10001"/>
                  </a:ext>
                </a:extLst>
              </a:tr>
              <a:tr h="699250">
                <a:tc>
                  <a:txBody>
                    <a:bodyPr/>
                    <a:lstStyle/>
                    <a:p>
                      <a:pPr marL="0" lvl="0" indent="0" algn="ctr" rtl="0">
                        <a:spcBef>
                          <a:spcPts val="0"/>
                        </a:spcBef>
                        <a:spcAft>
                          <a:spcPts val="0"/>
                        </a:spcAft>
                        <a:buNone/>
                      </a:pPr>
                      <a:r>
                        <a:rPr lang="en-US"/>
                        <a:t>Potential Loyalist</a:t>
                      </a:r>
                      <a:endParaRPr/>
                    </a:p>
                  </a:txBody>
                  <a:tcPr marL="91425" marR="91425" marT="91425" marB="91425" anchor="ctr"/>
                </a:tc>
                <a:tc>
                  <a:txBody>
                    <a:bodyPr/>
                    <a:lstStyle/>
                    <a:p>
                      <a:pPr marL="0" lvl="0" indent="0" algn="l" rtl="0">
                        <a:spcBef>
                          <a:spcPts val="0"/>
                        </a:spcBef>
                        <a:spcAft>
                          <a:spcPts val="0"/>
                        </a:spcAft>
                        <a:buNone/>
                      </a:pPr>
                      <a:r>
                        <a:rPr lang="en-US"/>
                        <a:t>Recency ≥ 4 and Frequency ≥ 2</a:t>
                      </a:r>
                      <a:endParaRPr/>
                    </a:p>
                    <a:p>
                      <a:pPr marL="0" lvl="0" indent="0" algn="l" rtl="0">
                        <a:spcBef>
                          <a:spcPts val="0"/>
                        </a:spcBef>
                        <a:spcAft>
                          <a:spcPts val="0"/>
                        </a:spcAft>
                        <a:buNone/>
                      </a:pPr>
                      <a:r>
                        <a:rPr lang="en-US"/>
                        <a:t>Recent customers with medium frequency – Potential to be nurtured into Loyal customer</a:t>
                      </a:r>
                      <a:endParaRPr/>
                    </a:p>
                  </a:txBody>
                  <a:tcPr marL="91425" marR="91425" marT="91425" marB="91425"/>
                </a:tc>
                <a:extLst>
                  <a:ext uri="{0D108BD9-81ED-4DB2-BD59-A6C34878D82A}">
                    <a16:rowId xmlns:a16="http://schemas.microsoft.com/office/drawing/2014/main" val="10002"/>
                  </a:ext>
                </a:extLst>
              </a:tr>
              <a:tr h="699250">
                <a:tc>
                  <a:txBody>
                    <a:bodyPr/>
                    <a:lstStyle/>
                    <a:p>
                      <a:pPr marL="0" lvl="0" indent="0" algn="ctr" rtl="0">
                        <a:spcBef>
                          <a:spcPts val="0"/>
                        </a:spcBef>
                        <a:spcAft>
                          <a:spcPts val="0"/>
                        </a:spcAft>
                        <a:buNone/>
                      </a:pPr>
                      <a:r>
                        <a:rPr lang="en-US"/>
                        <a:t>Needs Attention</a:t>
                      </a:r>
                      <a:endParaRPr/>
                    </a:p>
                  </a:txBody>
                  <a:tcPr marL="91425" marR="91425" marT="91425" marB="91425" anchor="ctr"/>
                </a:tc>
                <a:tc>
                  <a:txBody>
                    <a:bodyPr/>
                    <a:lstStyle/>
                    <a:p>
                      <a:pPr marL="0" lvl="0" indent="0" algn="l" rtl="0">
                        <a:spcBef>
                          <a:spcPts val="0"/>
                        </a:spcBef>
                        <a:spcAft>
                          <a:spcPts val="0"/>
                        </a:spcAft>
                        <a:buNone/>
                      </a:pPr>
                      <a:r>
                        <a:rPr lang="en-US"/>
                        <a:t>Recency = 3 and low Frequency </a:t>
                      </a:r>
                      <a:br>
                        <a:rPr lang="en-US"/>
                      </a:br>
                      <a:r>
                        <a:rPr lang="en-US"/>
                        <a:t>Purchased within the last year - </a:t>
                      </a:r>
                      <a:br>
                        <a:rPr lang="en-US"/>
                      </a:br>
                      <a:r>
                        <a:rPr lang="en-US"/>
                        <a:t>Potential to be nurtured into Potential Loyalist </a:t>
                      </a:r>
                      <a:endParaRPr/>
                    </a:p>
                  </a:txBody>
                  <a:tcPr marL="91425" marR="91425" marT="91425" marB="91425"/>
                </a:tc>
                <a:extLst>
                  <a:ext uri="{0D108BD9-81ED-4DB2-BD59-A6C34878D82A}">
                    <a16:rowId xmlns:a16="http://schemas.microsoft.com/office/drawing/2014/main" val="10003"/>
                  </a:ext>
                </a:extLst>
              </a:tr>
              <a:tr h="517925">
                <a:tc>
                  <a:txBody>
                    <a:bodyPr/>
                    <a:lstStyle/>
                    <a:p>
                      <a:pPr marL="0" lvl="0" indent="0" algn="ctr" rtl="0">
                        <a:spcBef>
                          <a:spcPts val="0"/>
                        </a:spcBef>
                        <a:spcAft>
                          <a:spcPts val="0"/>
                        </a:spcAft>
                        <a:buNone/>
                      </a:pPr>
                      <a:r>
                        <a:rPr lang="en-US"/>
                        <a:t>At Risk</a:t>
                      </a:r>
                      <a:endParaRPr/>
                    </a:p>
                  </a:txBody>
                  <a:tcPr marL="91425" marR="91425" marT="91425" marB="91425" anchor="ctr"/>
                </a:tc>
                <a:tc>
                  <a:txBody>
                    <a:bodyPr/>
                    <a:lstStyle/>
                    <a:p>
                      <a:pPr marL="0" lvl="0" indent="0" algn="l" rtl="0">
                        <a:spcBef>
                          <a:spcPts val="0"/>
                        </a:spcBef>
                        <a:spcAft>
                          <a:spcPts val="0"/>
                        </a:spcAft>
                        <a:buNone/>
                      </a:pPr>
                      <a:r>
                        <a:rPr lang="en-US"/>
                        <a:t>Recency ≤ 2 but Frequency ≥ 3</a:t>
                      </a:r>
                      <a:endParaRPr/>
                    </a:p>
                    <a:p>
                      <a:pPr marL="0" lvl="0" indent="0" algn="l" rtl="0">
                        <a:spcBef>
                          <a:spcPts val="0"/>
                        </a:spcBef>
                        <a:spcAft>
                          <a:spcPts val="0"/>
                        </a:spcAft>
                        <a:buNone/>
                      </a:pPr>
                      <a:r>
                        <a:rPr lang="en-US"/>
                        <a:t>No recent purchases, used to buy often</a:t>
                      </a:r>
                      <a:endParaRPr/>
                    </a:p>
                  </a:txBody>
                  <a:tcPr marL="91425" marR="91425" marT="91425" marB="91425"/>
                </a:tc>
                <a:extLst>
                  <a:ext uri="{0D108BD9-81ED-4DB2-BD59-A6C34878D82A}">
                    <a16:rowId xmlns:a16="http://schemas.microsoft.com/office/drawing/2014/main" val="10004"/>
                  </a:ext>
                </a:extLst>
              </a:tr>
              <a:tr h="517925">
                <a:tc>
                  <a:txBody>
                    <a:bodyPr/>
                    <a:lstStyle/>
                    <a:p>
                      <a:pPr marL="0" lvl="0" indent="0" algn="ctr" rtl="0">
                        <a:spcBef>
                          <a:spcPts val="0"/>
                        </a:spcBef>
                        <a:spcAft>
                          <a:spcPts val="0"/>
                        </a:spcAft>
                        <a:buNone/>
                      </a:pPr>
                      <a:r>
                        <a:rPr lang="en-US"/>
                        <a:t>Hibernating</a:t>
                      </a:r>
                      <a:endParaRPr/>
                    </a:p>
                  </a:txBody>
                  <a:tcPr marL="91425" marR="91425" marT="91425" marB="91425" anchor="ctr"/>
                </a:tc>
                <a:tc>
                  <a:txBody>
                    <a:bodyPr/>
                    <a:lstStyle/>
                    <a:p>
                      <a:pPr marL="0" lvl="0" indent="0" algn="l" rtl="0">
                        <a:spcBef>
                          <a:spcPts val="0"/>
                        </a:spcBef>
                        <a:spcAft>
                          <a:spcPts val="0"/>
                        </a:spcAft>
                        <a:buNone/>
                      </a:pPr>
                      <a:r>
                        <a:rPr lang="en-US"/>
                        <a:t>Recency ≤ 2 and Frequency ≤ 2</a:t>
                      </a:r>
                      <a:endParaRPr/>
                    </a:p>
                    <a:p>
                      <a:pPr marL="0" lvl="0" indent="0" algn="l" rtl="0">
                        <a:spcBef>
                          <a:spcPts val="0"/>
                        </a:spcBef>
                        <a:spcAft>
                          <a:spcPts val="0"/>
                        </a:spcAft>
                        <a:buNone/>
                      </a:pPr>
                      <a:r>
                        <a:rPr lang="en-US"/>
                        <a:t>Inactive for a long time </a:t>
                      </a:r>
                      <a:endParaRPr/>
                    </a:p>
                  </a:txBody>
                  <a:tcPr marL="91425" marR="91425" marT="91425" marB="91425"/>
                </a:tc>
                <a:extLst>
                  <a:ext uri="{0D108BD9-81ED-4DB2-BD59-A6C34878D82A}">
                    <a16:rowId xmlns:a16="http://schemas.microsoft.com/office/drawing/2014/main" val="10005"/>
                  </a:ext>
                </a:extLst>
              </a:tr>
            </a:tbl>
          </a:graphicData>
        </a:graphic>
      </p:graphicFrame>
      <p:pic>
        <p:nvPicPr>
          <p:cNvPr id="180" name="Google Shape;180;g37b178df6df_0_13"/>
          <p:cNvPicPr preferRelativeResize="0"/>
          <p:nvPr/>
        </p:nvPicPr>
        <p:blipFill>
          <a:blip r:embed="rId3">
            <a:alphaModFix/>
          </a:blip>
          <a:stretch>
            <a:fillRect/>
          </a:stretch>
        </p:blipFill>
        <p:spPr>
          <a:xfrm>
            <a:off x="5760325" y="1690825"/>
            <a:ext cx="6357224" cy="4669625"/>
          </a:xfrm>
          <a:prstGeom prst="rect">
            <a:avLst/>
          </a:prstGeom>
          <a:noFill/>
          <a:ln>
            <a:noFill/>
          </a:ln>
        </p:spPr>
      </p:pic>
      <p:sp>
        <p:nvSpPr>
          <p:cNvPr id="181" name="Google Shape;181;g37b178df6df_0_13"/>
          <p:cNvSpPr/>
          <p:nvPr/>
        </p:nvSpPr>
        <p:spPr>
          <a:xfrm>
            <a:off x="669036" y="140942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g38316c78182_0_1"/>
          <p:cNvPicPr preferRelativeResize="0"/>
          <p:nvPr/>
        </p:nvPicPr>
        <p:blipFill rotWithShape="1">
          <a:blip r:embed="rId3">
            <a:alphaModFix/>
          </a:blip>
          <a:srcRect t="9371"/>
          <a:stretch/>
        </p:blipFill>
        <p:spPr>
          <a:xfrm>
            <a:off x="6304675" y="1858425"/>
            <a:ext cx="5111299" cy="4830625"/>
          </a:xfrm>
          <a:prstGeom prst="rect">
            <a:avLst/>
          </a:prstGeom>
          <a:noFill/>
          <a:ln>
            <a:noFill/>
          </a:ln>
        </p:spPr>
      </p:pic>
      <p:sp>
        <p:nvSpPr>
          <p:cNvPr id="187" name="Google Shape;187;g38316c78182_0_1"/>
          <p:cNvSpPr txBox="1">
            <a:spLocks noGrp="1"/>
          </p:cNvSpPr>
          <p:nvPr>
            <p:ph type="title"/>
          </p:nvPr>
        </p:nvSpPr>
        <p:spPr>
          <a:xfrm>
            <a:off x="929100" y="253700"/>
            <a:ext cx="10333800" cy="1006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600"/>
              <a:t>CUSTOMER SEGMENTATION - PROFIT ANALYSIS </a:t>
            </a:r>
            <a:endParaRPr sz="3600"/>
          </a:p>
        </p:txBody>
      </p:sp>
      <p:pic>
        <p:nvPicPr>
          <p:cNvPr id="188" name="Google Shape;188;g38316c78182_0_1"/>
          <p:cNvPicPr preferRelativeResize="0"/>
          <p:nvPr/>
        </p:nvPicPr>
        <p:blipFill rotWithShape="1">
          <a:blip r:embed="rId4">
            <a:alphaModFix/>
          </a:blip>
          <a:srcRect t="6305" r="7424"/>
          <a:stretch/>
        </p:blipFill>
        <p:spPr>
          <a:xfrm>
            <a:off x="776025" y="1695199"/>
            <a:ext cx="5027875" cy="4993849"/>
          </a:xfrm>
          <a:prstGeom prst="rect">
            <a:avLst/>
          </a:prstGeom>
          <a:noFill/>
          <a:ln>
            <a:noFill/>
          </a:ln>
        </p:spPr>
      </p:pic>
      <p:sp>
        <p:nvSpPr>
          <p:cNvPr id="189" name="Google Shape;189;g38316c78182_0_1"/>
          <p:cNvSpPr txBox="1"/>
          <p:nvPr/>
        </p:nvSpPr>
        <p:spPr>
          <a:xfrm>
            <a:off x="6477600" y="2715725"/>
            <a:ext cx="810900" cy="275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rPr>
              <a:t>Hibernating</a:t>
            </a:r>
            <a:endParaRPr sz="900">
              <a:solidFill>
                <a:schemeClr val="dk1"/>
              </a:solidFill>
            </a:endParaRPr>
          </a:p>
        </p:txBody>
      </p:sp>
      <p:sp>
        <p:nvSpPr>
          <p:cNvPr id="190" name="Google Shape;190;g38316c78182_0_1"/>
          <p:cNvSpPr txBox="1"/>
          <p:nvPr/>
        </p:nvSpPr>
        <p:spPr>
          <a:xfrm>
            <a:off x="6398200" y="2471550"/>
            <a:ext cx="1044900" cy="275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rPr>
              <a:t>Needs Attention</a:t>
            </a:r>
            <a:endParaRPr sz="900">
              <a:solidFill>
                <a:schemeClr val="dk1"/>
              </a:solidFill>
            </a:endParaRPr>
          </a:p>
        </p:txBody>
      </p:sp>
      <p:sp>
        <p:nvSpPr>
          <p:cNvPr id="191" name="Google Shape;191;g38316c78182_0_1"/>
          <p:cNvSpPr txBox="1"/>
          <p:nvPr/>
        </p:nvSpPr>
        <p:spPr>
          <a:xfrm>
            <a:off x="7377600" y="2184250"/>
            <a:ext cx="551400" cy="275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rPr>
              <a:t>Loyal</a:t>
            </a:r>
            <a:endParaRPr sz="900">
              <a:solidFill>
                <a:schemeClr val="dk1"/>
              </a:solidFill>
            </a:endParaRPr>
          </a:p>
        </p:txBody>
      </p:sp>
      <p:sp>
        <p:nvSpPr>
          <p:cNvPr id="192" name="Google Shape;192;g38316c78182_0_1"/>
          <p:cNvSpPr txBox="1"/>
          <p:nvPr/>
        </p:nvSpPr>
        <p:spPr>
          <a:xfrm>
            <a:off x="7443100" y="1802175"/>
            <a:ext cx="1112100" cy="275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rPr>
              <a:t>Potential Loyalist</a:t>
            </a:r>
            <a:endParaRPr sz="900">
              <a:solidFill>
                <a:schemeClr val="dk1"/>
              </a:solidFill>
            </a:endParaRPr>
          </a:p>
        </p:txBody>
      </p:sp>
      <p:sp>
        <p:nvSpPr>
          <p:cNvPr id="193" name="Google Shape;193;g38316c78182_0_1"/>
          <p:cNvSpPr txBox="1"/>
          <p:nvPr/>
        </p:nvSpPr>
        <p:spPr>
          <a:xfrm>
            <a:off x="6516375" y="3010025"/>
            <a:ext cx="649800" cy="275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rPr>
              <a:t>At risk</a:t>
            </a:r>
            <a:endParaRPr sz="900">
              <a:solidFill>
                <a:schemeClr val="dk1"/>
              </a:solidFill>
            </a:endParaRPr>
          </a:p>
        </p:txBody>
      </p:sp>
      <p:sp>
        <p:nvSpPr>
          <p:cNvPr id="194" name="Google Shape;194;g38316c78182_0_1"/>
          <p:cNvSpPr txBox="1"/>
          <p:nvPr/>
        </p:nvSpPr>
        <p:spPr>
          <a:xfrm>
            <a:off x="8337875" y="1259900"/>
            <a:ext cx="1044900" cy="435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a:solidFill>
                  <a:schemeClr val="dk1"/>
                </a:solidFill>
              </a:rPr>
              <a:t>2024</a:t>
            </a:r>
            <a:endParaRPr sz="2400" b="1">
              <a:solidFill>
                <a:schemeClr val="dk1"/>
              </a:solidFill>
            </a:endParaRPr>
          </a:p>
        </p:txBody>
      </p:sp>
      <p:sp>
        <p:nvSpPr>
          <p:cNvPr id="195" name="Google Shape;195;g38316c78182_0_1"/>
          <p:cNvSpPr txBox="1"/>
          <p:nvPr/>
        </p:nvSpPr>
        <p:spPr>
          <a:xfrm>
            <a:off x="2444862" y="1259900"/>
            <a:ext cx="1690200" cy="435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a:solidFill>
                  <a:schemeClr val="dk1"/>
                </a:solidFill>
              </a:rPr>
              <a:t>OVERALL</a:t>
            </a:r>
            <a:endParaRPr sz="2400" b="1">
              <a:solidFill>
                <a:schemeClr val="dk1"/>
              </a:solidFill>
            </a:endParaRPr>
          </a:p>
        </p:txBody>
      </p:sp>
      <p:sp>
        <p:nvSpPr>
          <p:cNvPr id="196" name="Google Shape;196;g38316c78182_0_1"/>
          <p:cNvSpPr/>
          <p:nvPr/>
        </p:nvSpPr>
        <p:spPr>
          <a:xfrm>
            <a:off x="669036" y="1134648"/>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82d17c7edc_3_46"/>
          <p:cNvSpPr txBox="1">
            <a:spLocks noGrp="1"/>
          </p:cNvSpPr>
          <p:nvPr>
            <p:ph type="title"/>
          </p:nvPr>
        </p:nvSpPr>
        <p:spPr>
          <a:xfrm>
            <a:off x="838200" y="365125"/>
            <a:ext cx="10333800" cy="894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SzPts val="990"/>
              <a:buNone/>
            </a:pPr>
            <a:r>
              <a:rPr lang="en-US" sz="4410"/>
              <a:t>PROFIT ANALYSIS (COMPARISON) </a:t>
            </a:r>
            <a:endParaRPr sz="4860"/>
          </a:p>
        </p:txBody>
      </p:sp>
      <p:graphicFrame>
        <p:nvGraphicFramePr>
          <p:cNvPr id="202" name="Google Shape;202;g382d17c7edc_3_46"/>
          <p:cNvGraphicFramePr/>
          <p:nvPr/>
        </p:nvGraphicFramePr>
        <p:xfrm>
          <a:off x="792688" y="1378375"/>
          <a:ext cx="3000000" cy="3000000"/>
        </p:xfrm>
        <a:graphic>
          <a:graphicData uri="http://schemas.openxmlformats.org/drawingml/2006/table">
            <a:tbl>
              <a:tblPr>
                <a:noFill/>
                <a:tableStyleId>{22B5A190-04D3-4EA2-AE85-54BD0693BC2F}</a:tableStyleId>
              </a:tblPr>
              <a:tblGrid>
                <a:gridCol w="1753925">
                  <a:extLst>
                    <a:ext uri="{9D8B030D-6E8A-4147-A177-3AD203B41FA5}">
                      <a16:colId xmlns:a16="http://schemas.microsoft.com/office/drawing/2014/main" val="20000"/>
                    </a:ext>
                  </a:extLst>
                </a:gridCol>
                <a:gridCol w="1484050">
                  <a:extLst>
                    <a:ext uri="{9D8B030D-6E8A-4147-A177-3AD203B41FA5}">
                      <a16:colId xmlns:a16="http://schemas.microsoft.com/office/drawing/2014/main" val="20001"/>
                    </a:ext>
                  </a:extLst>
                </a:gridCol>
                <a:gridCol w="1466475">
                  <a:extLst>
                    <a:ext uri="{9D8B030D-6E8A-4147-A177-3AD203B41FA5}">
                      <a16:colId xmlns:a16="http://schemas.microsoft.com/office/drawing/2014/main" val="20002"/>
                    </a:ext>
                  </a:extLst>
                </a:gridCol>
                <a:gridCol w="2037075">
                  <a:extLst>
                    <a:ext uri="{9D8B030D-6E8A-4147-A177-3AD203B41FA5}">
                      <a16:colId xmlns:a16="http://schemas.microsoft.com/office/drawing/2014/main" val="20003"/>
                    </a:ext>
                  </a:extLst>
                </a:gridCol>
                <a:gridCol w="1760300">
                  <a:extLst>
                    <a:ext uri="{9D8B030D-6E8A-4147-A177-3AD203B41FA5}">
                      <a16:colId xmlns:a16="http://schemas.microsoft.com/office/drawing/2014/main" val="20004"/>
                    </a:ext>
                  </a:extLst>
                </a:gridCol>
                <a:gridCol w="2104800">
                  <a:extLst>
                    <a:ext uri="{9D8B030D-6E8A-4147-A177-3AD203B41FA5}">
                      <a16:colId xmlns:a16="http://schemas.microsoft.com/office/drawing/2014/main" val="20005"/>
                    </a:ext>
                  </a:extLst>
                </a:gridCol>
              </a:tblGrid>
              <a:tr h="1098450">
                <a:tc>
                  <a:txBody>
                    <a:bodyPr/>
                    <a:lstStyle/>
                    <a:p>
                      <a:pPr marL="0" lvl="0" indent="0" algn="ctr" rtl="0">
                        <a:lnSpc>
                          <a:spcPct val="115000"/>
                        </a:lnSpc>
                        <a:spcBef>
                          <a:spcPts val="0"/>
                        </a:spcBef>
                        <a:spcAft>
                          <a:spcPts val="0"/>
                        </a:spcAft>
                        <a:buNone/>
                      </a:pPr>
                      <a:r>
                        <a:rPr lang="en-US" sz="2000" b="1"/>
                        <a:t>Segment</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Total Revenue</a:t>
                      </a:r>
                      <a:endParaRPr sz="2000" b="1"/>
                    </a:p>
                    <a:p>
                      <a:pPr marL="0" lvl="0" indent="0" algn="ctr" rtl="0">
                        <a:lnSpc>
                          <a:spcPct val="115000"/>
                        </a:lnSpc>
                        <a:spcBef>
                          <a:spcPts val="0"/>
                        </a:spcBef>
                        <a:spcAft>
                          <a:spcPts val="0"/>
                        </a:spcAft>
                        <a:buNone/>
                      </a:pPr>
                      <a:r>
                        <a:rPr lang="en-US" sz="2000" b="1"/>
                        <a:t>(2024)</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Avg Revenue</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Active  Retailers </a:t>
                      </a:r>
                      <a:endParaRPr sz="2000" b="1"/>
                    </a:p>
                    <a:p>
                      <a:pPr marL="0" lvl="0" indent="0" algn="ctr" rtl="0">
                        <a:lnSpc>
                          <a:spcPct val="115000"/>
                        </a:lnSpc>
                        <a:spcBef>
                          <a:spcPts val="0"/>
                        </a:spcBef>
                        <a:spcAft>
                          <a:spcPts val="0"/>
                        </a:spcAft>
                        <a:buNone/>
                      </a:pPr>
                      <a:r>
                        <a:rPr lang="en-US" sz="2000" b="1"/>
                        <a:t>(2024)</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1800" b="1"/>
                        <a:t>Contribution %</a:t>
                      </a:r>
                      <a:endParaRPr sz="1800" b="1"/>
                    </a:p>
                    <a:p>
                      <a:pPr marL="0" lvl="0" indent="0" algn="ctr" rtl="0">
                        <a:lnSpc>
                          <a:spcPct val="115000"/>
                        </a:lnSpc>
                        <a:spcBef>
                          <a:spcPts val="0"/>
                        </a:spcBef>
                        <a:spcAft>
                          <a:spcPts val="0"/>
                        </a:spcAft>
                        <a:buNone/>
                      </a:pPr>
                      <a:r>
                        <a:rPr lang="en-US" sz="1800" b="1"/>
                        <a:t>(Avg ‘21 - ’24)</a:t>
                      </a:r>
                      <a:endParaRPr sz="18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1800" b="1"/>
                        <a:t>Contribution % (2024)</a:t>
                      </a:r>
                      <a:endParaRPr sz="18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701925">
                <a:tc>
                  <a:txBody>
                    <a:bodyPr/>
                    <a:lstStyle/>
                    <a:p>
                      <a:pPr marL="0" lvl="0" indent="0" algn="l" rtl="0">
                        <a:spcBef>
                          <a:spcPts val="0"/>
                        </a:spcBef>
                        <a:spcAft>
                          <a:spcPts val="0"/>
                        </a:spcAft>
                        <a:buNone/>
                      </a:pPr>
                      <a:r>
                        <a:rPr lang="en-US" sz="2000"/>
                        <a:t>Champions</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US" sz="2000"/>
                        <a:t>$12.5M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US" sz="2000"/>
                        <a:t>$95k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US" sz="2000"/>
                        <a:t>132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US" sz="2000"/>
                        <a:t>51.3%</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US" sz="2000"/>
                        <a:t>52.0%</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r h="431950">
                <a:tc>
                  <a:txBody>
                    <a:bodyPr/>
                    <a:lstStyle/>
                    <a:p>
                      <a:pPr marL="0" lvl="0" indent="0" algn="l" rtl="0">
                        <a:spcBef>
                          <a:spcPts val="0"/>
                        </a:spcBef>
                        <a:spcAft>
                          <a:spcPts val="0"/>
                        </a:spcAft>
                        <a:buNone/>
                      </a:pPr>
                      <a:r>
                        <a:rPr lang="en-US" sz="2000"/>
                        <a:t>Loyal</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$6.2M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$68k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91</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25.6%</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25.9%</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701925">
                <a:tc>
                  <a:txBody>
                    <a:bodyPr/>
                    <a:lstStyle/>
                    <a:p>
                      <a:pPr marL="0" lvl="0" indent="0" algn="l" rtl="0">
                        <a:spcBef>
                          <a:spcPts val="0"/>
                        </a:spcBef>
                        <a:spcAft>
                          <a:spcPts val="0"/>
                        </a:spcAft>
                        <a:buNone/>
                      </a:pPr>
                      <a:r>
                        <a:rPr lang="en-US" sz="2000"/>
                        <a:t>Needs Attention</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$3.1M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$27k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115</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12.3%</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US" sz="2000"/>
                        <a:t>12.9%</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701925">
                <a:tc>
                  <a:txBody>
                    <a:bodyPr/>
                    <a:lstStyle/>
                    <a:p>
                      <a:pPr marL="0" lvl="0" indent="0" algn="l" rtl="0">
                        <a:spcBef>
                          <a:spcPts val="0"/>
                        </a:spcBef>
                        <a:spcAft>
                          <a:spcPts val="0"/>
                        </a:spcAft>
                        <a:buNone/>
                      </a:pPr>
                      <a:r>
                        <a:rPr lang="en-US" sz="2000"/>
                        <a:t>Potential Loyalists</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$1.5M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$18k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84</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US" sz="2000"/>
                        <a:t>At Risk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$0.7M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$12k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60</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3.0%</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2.9%</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701925">
                <a:tc>
                  <a:txBody>
                    <a:bodyPr/>
                    <a:lstStyle/>
                    <a:p>
                      <a:pPr marL="0" lvl="0" indent="0" algn="l" rtl="0">
                        <a:spcBef>
                          <a:spcPts val="0"/>
                        </a:spcBef>
                        <a:spcAft>
                          <a:spcPts val="0"/>
                        </a:spcAft>
                        <a:buNone/>
                      </a:pPr>
                      <a:r>
                        <a:rPr lang="en-US" sz="2000"/>
                        <a:t>Hibernating</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$0.2M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$3k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72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1.6%</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0.1%</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03" name="Google Shape;203;g382d17c7edc_3_46"/>
          <p:cNvSpPr/>
          <p:nvPr/>
        </p:nvSpPr>
        <p:spPr>
          <a:xfrm>
            <a:off x="669036" y="1148648"/>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207"/>
        <p:cNvGrpSpPr/>
        <p:nvPr/>
      </p:nvGrpSpPr>
      <p:grpSpPr>
        <a:xfrm>
          <a:off x="0" y="0"/>
          <a:ext cx="0" cy="0"/>
          <a:chOff x="0" y="0"/>
          <a:chExt cx="0" cy="0"/>
        </a:xfrm>
      </p:grpSpPr>
      <p:sp>
        <p:nvSpPr>
          <p:cNvPr id="208" name="Google Shape;208;g37b1e9927e7_0_5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“CHAMPION” - MONETARY TREND</a:t>
            </a:r>
            <a:endParaRPr/>
          </a:p>
        </p:txBody>
      </p:sp>
      <p:sp>
        <p:nvSpPr>
          <p:cNvPr id="209" name="Google Shape;209;g37b1e9927e7_0_5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
        <p:nvSpPr>
          <p:cNvPr id="210" name="Google Shape;210;g37b1e9927e7_0_56"/>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4"/>
        <p:cNvGrpSpPr/>
        <p:nvPr/>
      </p:nvGrpSpPr>
      <p:grpSpPr>
        <a:xfrm>
          <a:off x="0" y="0"/>
          <a:ext cx="0" cy="0"/>
          <a:chOff x="0" y="0"/>
          <a:chExt cx="0" cy="0"/>
        </a:xfrm>
      </p:grpSpPr>
      <p:sp>
        <p:nvSpPr>
          <p:cNvPr id="215" name="Google Shape;215;g379461babfd_2_48"/>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6" name="Google Shape;216;g379461babfd_2_48"/>
          <p:cNvSpPr txBox="1">
            <a:spLocks noGrp="1"/>
          </p:cNvSpPr>
          <p:nvPr>
            <p:ph type="title"/>
          </p:nvPr>
        </p:nvSpPr>
        <p:spPr>
          <a:xfrm>
            <a:off x="838200" y="365125"/>
            <a:ext cx="10854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Play"/>
              <a:buNone/>
            </a:pPr>
            <a:r>
              <a:rPr lang="en-US">
                <a:highlight>
                  <a:schemeClr val="lt1"/>
                </a:highlight>
              </a:rPr>
              <a:t>“LOYAL” - </a:t>
            </a:r>
            <a:r>
              <a:rPr lang="en-US"/>
              <a:t>MONETARY TREND</a:t>
            </a:r>
            <a:endParaRPr sz="4600"/>
          </a:p>
        </p:txBody>
      </p:sp>
      <p:sp>
        <p:nvSpPr>
          <p:cNvPr id="217" name="Google Shape;217;g379461babfd_2_48"/>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18" name="Google Shape;218;g379461babfd_2_48"/>
          <p:cNvPicPr preferRelativeResize="0"/>
          <p:nvPr/>
        </p:nvPicPr>
        <p:blipFill>
          <a:blip r:embed="rId3">
            <a:alphaModFix/>
          </a:blip>
          <a:stretch>
            <a:fillRect/>
          </a:stretch>
        </p:blipFill>
        <p:spPr>
          <a:xfrm>
            <a:off x="155050" y="1819263"/>
            <a:ext cx="8715375" cy="5038725"/>
          </a:xfrm>
          <a:prstGeom prst="rect">
            <a:avLst/>
          </a:prstGeom>
          <a:solidFill>
            <a:schemeClr val="lt1"/>
          </a:solidFill>
          <a:ln>
            <a:noFill/>
          </a:ln>
        </p:spPr>
      </p:pic>
      <p:graphicFrame>
        <p:nvGraphicFramePr>
          <p:cNvPr id="219" name="Google Shape;219;g379461babfd_2_48"/>
          <p:cNvGraphicFramePr/>
          <p:nvPr/>
        </p:nvGraphicFramePr>
        <p:xfrm>
          <a:off x="8870425" y="2594550"/>
          <a:ext cx="3000000" cy="3000000"/>
        </p:xfrm>
        <a:graphic>
          <a:graphicData uri="http://schemas.openxmlformats.org/drawingml/2006/table">
            <a:tbl>
              <a:tblPr>
                <a:noFill/>
                <a:tableStyleId>{22B5A190-04D3-4EA2-AE85-54BD0693BC2F}</a:tableStyleId>
              </a:tblPr>
              <a:tblGrid>
                <a:gridCol w="1591100">
                  <a:extLst>
                    <a:ext uri="{9D8B030D-6E8A-4147-A177-3AD203B41FA5}">
                      <a16:colId xmlns:a16="http://schemas.microsoft.com/office/drawing/2014/main" val="20000"/>
                    </a:ext>
                  </a:extLst>
                </a:gridCol>
                <a:gridCol w="1467775">
                  <a:extLst>
                    <a:ext uri="{9D8B030D-6E8A-4147-A177-3AD203B41FA5}">
                      <a16:colId xmlns:a16="http://schemas.microsoft.com/office/drawing/2014/main" val="20001"/>
                    </a:ext>
                  </a:extLst>
                </a:gridCol>
              </a:tblGrid>
              <a:tr h="982950">
                <a:tc>
                  <a:txBody>
                    <a:bodyPr/>
                    <a:lstStyle/>
                    <a:p>
                      <a:pPr marL="0" lvl="0" indent="0" algn="ctr" rtl="0">
                        <a:lnSpc>
                          <a:spcPct val="115000"/>
                        </a:lnSpc>
                        <a:spcBef>
                          <a:spcPts val="0"/>
                        </a:spcBef>
                        <a:spcAft>
                          <a:spcPts val="0"/>
                        </a:spcAft>
                        <a:buNone/>
                      </a:pPr>
                      <a:r>
                        <a:rPr lang="en-US" sz="1500" b="1"/>
                        <a:t>Retailer Type</a:t>
                      </a:r>
                      <a:endParaRPr sz="15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500" b="1"/>
                        <a:t>Revenue (Invoice Value)</a:t>
                      </a:r>
                      <a:endParaRPr sz="15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82950">
                <a:tc>
                  <a:txBody>
                    <a:bodyPr/>
                    <a:lstStyle/>
                    <a:p>
                      <a:pPr marL="0" lvl="0" indent="0" algn="l" rtl="0">
                        <a:spcBef>
                          <a:spcPts val="0"/>
                        </a:spcBef>
                        <a:spcAft>
                          <a:spcPts val="0"/>
                        </a:spcAft>
                        <a:buNone/>
                      </a:pPr>
                      <a:r>
                        <a:rPr lang="en-US" sz="1500"/>
                        <a:t>CHAIN</a:t>
                      </a:r>
                      <a:endParaRPr sz="15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500"/>
                        <a:t>$3,487,655</a:t>
                      </a:r>
                      <a:endParaRPr sz="15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82950">
                <a:tc>
                  <a:txBody>
                    <a:bodyPr/>
                    <a:lstStyle/>
                    <a:p>
                      <a:pPr marL="0" lvl="0" indent="0" algn="l" rtl="0">
                        <a:spcBef>
                          <a:spcPts val="0"/>
                        </a:spcBef>
                        <a:spcAft>
                          <a:spcPts val="0"/>
                        </a:spcAft>
                        <a:buNone/>
                      </a:pPr>
                      <a:r>
                        <a:rPr lang="en-US" sz="1500"/>
                        <a:t>INDEPENDENT</a:t>
                      </a:r>
                      <a:endParaRPr sz="15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500"/>
                        <a:t>$2,803,744</a:t>
                      </a:r>
                      <a:endParaRPr sz="15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3"/>
        <p:cNvGrpSpPr/>
        <p:nvPr/>
      </p:nvGrpSpPr>
      <p:grpSpPr>
        <a:xfrm>
          <a:off x="0" y="0"/>
          <a:ext cx="0" cy="0"/>
          <a:chOff x="0" y="0"/>
          <a:chExt cx="0" cy="0"/>
        </a:xfrm>
      </p:grpSpPr>
      <p:sp>
        <p:nvSpPr>
          <p:cNvPr id="224" name="Google Shape;224;g379461babfd_2_65"/>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5" name="Google Shape;225;g379461babfd_2_65"/>
          <p:cNvSpPr txBox="1">
            <a:spLocks noGrp="1"/>
          </p:cNvSpPr>
          <p:nvPr>
            <p:ph type="title"/>
          </p:nvPr>
        </p:nvSpPr>
        <p:spPr>
          <a:xfrm>
            <a:off x="838200" y="365125"/>
            <a:ext cx="110241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Play"/>
              <a:buNone/>
            </a:pPr>
            <a:r>
              <a:rPr lang="en-US">
                <a:highlight>
                  <a:schemeClr val="lt1"/>
                </a:highlight>
              </a:rPr>
              <a:t>“NEEDS ATTENTION” - MONETARY TREND</a:t>
            </a:r>
            <a:endParaRPr>
              <a:highlight>
                <a:schemeClr val="lt1"/>
              </a:highlight>
            </a:endParaRPr>
          </a:p>
        </p:txBody>
      </p:sp>
      <p:sp>
        <p:nvSpPr>
          <p:cNvPr id="226" name="Google Shape;226;g379461babfd_2_65"/>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27" name="Google Shape;227;g379461babfd_2_65"/>
          <p:cNvPicPr preferRelativeResize="0"/>
          <p:nvPr/>
        </p:nvPicPr>
        <p:blipFill>
          <a:blip r:embed="rId3">
            <a:alphaModFix/>
          </a:blip>
          <a:stretch>
            <a:fillRect/>
          </a:stretch>
        </p:blipFill>
        <p:spPr>
          <a:xfrm>
            <a:off x="212843" y="1679425"/>
            <a:ext cx="8571449" cy="5074075"/>
          </a:xfrm>
          <a:prstGeom prst="rect">
            <a:avLst/>
          </a:prstGeom>
          <a:noFill/>
          <a:ln>
            <a:noFill/>
          </a:ln>
        </p:spPr>
      </p:pic>
      <p:sp>
        <p:nvSpPr>
          <p:cNvPr id="228" name="Google Shape;228;g379461babfd_2_65"/>
          <p:cNvSpPr txBox="1"/>
          <p:nvPr/>
        </p:nvSpPr>
        <p:spPr>
          <a:xfrm>
            <a:off x="151600" y="1783925"/>
            <a:ext cx="2619300" cy="48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100">
              <a:solidFill>
                <a:schemeClr val="dk1"/>
              </a:solidFill>
            </a:endParaRPr>
          </a:p>
        </p:txBody>
      </p:sp>
      <p:graphicFrame>
        <p:nvGraphicFramePr>
          <p:cNvPr id="229" name="Google Shape;229;g379461babfd_2_65"/>
          <p:cNvGraphicFramePr/>
          <p:nvPr/>
        </p:nvGraphicFramePr>
        <p:xfrm>
          <a:off x="8822809" y="2223000"/>
          <a:ext cx="3000000" cy="3000000"/>
        </p:xfrm>
        <a:graphic>
          <a:graphicData uri="http://schemas.openxmlformats.org/drawingml/2006/table">
            <a:tbl>
              <a:tblPr>
                <a:noFill/>
                <a:tableStyleId>{22B5A190-04D3-4EA2-AE85-54BD0693BC2F}</a:tableStyleId>
              </a:tblPr>
              <a:tblGrid>
                <a:gridCol w="1674125">
                  <a:extLst>
                    <a:ext uri="{9D8B030D-6E8A-4147-A177-3AD203B41FA5}">
                      <a16:colId xmlns:a16="http://schemas.microsoft.com/office/drawing/2014/main" val="20000"/>
                    </a:ext>
                  </a:extLst>
                </a:gridCol>
                <a:gridCol w="1497275">
                  <a:extLst>
                    <a:ext uri="{9D8B030D-6E8A-4147-A177-3AD203B41FA5}">
                      <a16:colId xmlns:a16="http://schemas.microsoft.com/office/drawing/2014/main" val="20001"/>
                    </a:ext>
                  </a:extLst>
                </a:gridCol>
              </a:tblGrid>
              <a:tr h="1020450">
                <a:tc>
                  <a:txBody>
                    <a:bodyPr/>
                    <a:lstStyle/>
                    <a:p>
                      <a:pPr marL="0" lvl="0" indent="0" algn="ctr" rtl="0">
                        <a:lnSpc>
                          <a:spcPct val="115000"/>
                        </a:lnSpc>
                        <a:spcBef>
                          <a:spcPts val="0"/>
                        </a:spcBef>
                        <a:spcAft>
                          <a:spcPts val="0"/>
                        </a:spcAft>
                        <a:buNone/>
                      </a:pPr>
                      <a:r>
                        <a:rPr lang="en-US" sz="1500" b="1"/>
                        <a:t>Retailer Type</a:t>
                      </a:r>
                      <a:endParaRPr sz="15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500" b="1"/>
                        <a:t>Revenue (Invoice Value)</a:t>
                      </a:r>
                      <a:endParaRPr sz="15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41625">
                <a:tc>
                  <a:txBody>
                    <a:bodyPr/>
                    <a:lstStyle/>
                    <a:p>
                      <a:pPr marL="0" lvl="0" indent="0" algn="l" rtl="0">
                        <a:spcBef>
                          <a:spcPts val="0"/>
                        </a:spcBef>
                        <a:spcAft>
                          <a:spcPts val="0"/>
                        </a:spcAft>
                        <a:buNone/>
                      </a:pPr>
                      <a:r>
                        <a:rPr lang="en-US" sz="1500"/>
                        <a:t>INDEPENDENT</a:t>
                      </a:r>
                      <a:endParaRPr sz="15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500"/>
                        <a:t>$1,093,373</a:t>
                      </a:r>
                      <a:endParaRPr sz="15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41625">
                <a:tc>
                  <a:txBody>
                    <a:bodyPr/>
                    <a:lstStyle/>
                    <a:p>
                      <a:pPr marL="0" lvl="0" indent="0" algn="l" rtl="0">
                        <a:spcBef>
                          <a:spcPts val="0"/>
                        </a:spcBef>
                        <a:spcAft>
                          <a:spcPts val="0"/>
                        </a:spcAft>
                        <a:buNone/>
                      </a:pPr>
                      <a:r>
                        <a:rPr lang="en-US" sz="1500"/>
                        <a:t>OTHERS</a:t>
                      </a:r>
                      <a:endParaRPr sz="15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500"/>
                        <a:t>$835,812</a:t>
                      </a:r>
                      <a:endParaRPr sz="15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41625">
                <a:tc>
                  <a:txBody>
                    <a:bodyPr/>
                    <a:lstStyle/>
                    <a:p>
                      <a:pPr marL="0" lvl="0" indent="0" algn="l" rtl="0">
                        <a:spcBef>
                          <a:spcPts val="0"/>
                        </a:spcBef>
                        <a:spcAft>
                          <a:spcPts val="0"/>
                        </a:spcAft>
                        <a:buNone/>
                      </a:pPr>
                      <a:r>
                        <a:rPr lang="en-US" sz="1500"/>
                        <a:t>CHAIN</a:t>
                      </a:r>
                      <a:endParaRPr sz="15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500"/>
                        <a:t>$527,610</a:t>
                      </a:r>
                      <a:endParaRPr sz="15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41625">
                <a:tc>
                  <a:txBody>
                    <a:bodyPr/>
                    <a:lstStyle/>
                    <a:p>
                      <a:pPr marL="0" lvl="0" indent="0" algn="l" rtl="0">
                        <a:spcBef>
                          <a:spcPts val="0"/>
                        </a:spcBef>
                        <a:spcAft>
                          <a:spcPts val="0"/>
                        </a:spcAft>
                        <a:buNone/>
                      </a:pPr>
                      <a:r>
                        <a:rPr lang="en-US" sz="1500"/>
                        <a:t>WHOLESALER</a:t>
                      </a:r>
                      <a:endParaRPr sz="15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500"/>
                        <a:t>$181,933</a:t>
                      </a:r>
                      <a:endParaRPr sz="15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
        <p:nvSpPr>
          <p:cNvPr id="234" name="Google Shape;234;g37a4ab458f7_1_29"/>
          <p:cNvSpPr txBox="1">
            <a:spLocks noGrp="1"/>
          </p:cNvSpPr>
          <p:nvPr>
            <p:ph type="title"/>
          </p:nvPr>
        </p:nvSpPr>
        <p:spPr>
          <a:xfrm>
            <a:off x="838200" y="365125"/>
            <a:ext cx="10854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Play"/>
              <a:buNone/>
            </a:pPr>
            <a:r>
              <a:rPr lang="en-US" sz="3400"/>
              <a:t>PREDICTIVE MODELS EXPLORED</a:t>
            </a:r>
            <a:endParaRPr sz="3600"/>
          </a:p>
        </p:txBody>
      </p:sp>
      <p:sp>
        <p:nvSpPr>
          <p:cNvPr id="235" name="Google Shape;235;g37a4ab458f7_1_29"/>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36" name="Google Shape;236;g37a4ab458f7_1_29"/>
          <p:cNvPicPr preferRelativeResize="0"/>
          <p:nvPr/>
        </p:nvPicPr>
        <p:blipFill rotWithShape="1">
          <a:blip r:embed="rId3">
            <a:alphaModFix/>
          </a:blip>
          <a:srcRect t="3370" b="9748"/>
          <a:stretch/>
        </p:blipFill>
        <p:spPr>
          <a:xfrm>
            <a:off x="953014" y="-6468346"/>
            <a:ext cx="10624373" cy="5598100"/>
          </a:xfrm>
          <a:prstGeom prst="rect">
            <a:avLst/>
          </a:prstGeom>
          <a:noFill/>
          <a:ln>
            <a:noFill/>
          </a:ln>
        </p:spPr>
      </p:pic>
      <p:sp>
        <p:nvSpPr>
          <p:cNvPr id="237" name="Google Shape;237;g37a4ab458f7_1_29"/>
          <p:cNvSpPr/>
          <p:nvPr/>
        </p:nvSpPr>
        <p:spPr>
          <a:xfrm>
            <a:off x="10544848" y="2695350"/>
            <a:ext cx="32004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8" name="Google Shape;238;g37a4ab458f7_1_29"/>
          <p:cNvSpPr/>
          <p:nvPr/>
        </p:nvSpPr>
        <p:spPr>
          <a:xfrm>
            <a:off x="3082425" y="2574750"/>
            <a:ext cx="28266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9" name="Google Shape;239;g37a4ab458f7_1_29"/>
          <p:cNvSpPr/>
          <p:nvPr/>
        </p:nvSpPr>
        <p:spPr>
          <a:xfrm>
            <a:off x="953021" y="2203200"/>
            <a:ext cx="2129400" cy="79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A7291E"/>
                </a:solidFill>
                <a:latin typeface="Roboto"/>
                <a:ea typeface="Roboto"/>
                <a:cs typeface="Roboto"/>
                <a:sym typeface="Roboto"/>
              </a:rPr>
              <a:t>Feature Assembly</a:t>
            </a:r>
            <a:endParaRPr/>
          </a:p>
        </p:txBody>
      </p:sp>
      <p:sp>
        <p:nvSpPr>
          <p:cNvPr id="240" name="Google Shape;240;g37a4ab458f7_1_29"/>
          <p:cNvSpPr txBox="1"/>
          <p:nvPr/>
        </p:nvSpPr>
        <p:spPr>
          <a:xfrm>
            <a:off x="1602157" y="3681800"/>
            <a:ext cx="582300" cy="4281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endParaRPr sz="2400" b="1">
              <a:solidFill>
                <a:srgbClr val="A7291E"/>
              </a:solidFill>
              <a:latin typeface="Roboto"/>
              <a:ea typeface="Roboto"/>
              <a:cs typeface="Roboto"/>
              <a:sym typeface="Roboto"/>
            </a:endParaRPr>
          </a:p>
        </p:txBody>
      </p:sp>
      <p:sp>
        <p:nvSpPr>
          <p:cNvPr id="241" name="Google Shape;241;g37a4ab458f7_1_29"/>
          <p:cNvSpPr/>
          <p:nvPr/>
        </p:nvSpPr>
        <p:spPr>
          <a:xfrm>
            <a:off x="5894550" y="2203200"/>
            <a:ext cx="1115700" cy="79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A7291E"/>
                </a:solidFill>
                <a:latin typeface="Roboto"/>
                <a:ea typeface="Roboto"/>
                <a:cs typeface="Roboto"/>
                <a:sym typeface="Roboto"/>
              </a:rPr>
              <a:t>Train / Test Split</a:t>
            </a:r>
            <a:endParaRPr/>
          </a:p>
        </p:txBody>
      </p:sp>
      <p:sp>
        <p:nvSpPr>
          <p:cNvPr id="242" name="Google Shape;242;g37a4ab458f7_1_29"/>
          <p:cNvSpPr txBox="1"/>
          <p:nvPr/>
        </p:nvSpPr>
        <p:spPr>
          <a:xfrm>
            <a:off x="5313000" y="1809327"/>
            <a:ext cx="2278800" cy="4281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100">
                <a:solidFill>
                  <a:srgbClr val="A7291E"/>
                </a:solidFill>
                <a:latin typeface="Roboto"/>
                <a:ea typeface="Roboto"/>
                <a:cs typeface="Roboto"/>
                <a:sym typeface="Roboto"/>
              </a:rPr>
              <a:t>20% test, 80% train</a:t>
            </a:r>
            <a:endParaRPr sz="1100">
              <a:solidFill>
                <a:srgbClr val="A7291E"/>
              </a:solidFill>
              <a:latin typeface="Roboto"/>
              <a:ea typeface="Roboto"/>
              <a:cs typeface="Roboto"/>
              <a:sym typeface="Roboto"/>
            </a:endParaRPr>
          </a:p>
        </p:txBody>
      </p:sp>
      <p:sp>
        <p:nvSpPr>
          <p:cNvPr id="243" name="Google Shape;243;g37a4ab458f7_1_29"/>
          <p:cNvSpPr/>
          <p:nvPr/>
        </p:nvSpPr>
        <p:spPr>
          <a:xfrm>
            <a:off x="8651275" y="2443200"/>
            <a:ext cx="1903800" cy="55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1300" b="1">
                <a:solidFill>
                  <a:srgbClr val="A7291E"/>
                </a:solidFill>
                <a:latin typeface="Roboto"/>
                <a:ea typeface="Roboto"/>
                <a:cs typeface="Roboto"/>
                <a:sym typeface="Roboto"/>
              </a:rPr>
              <a:t>XGBoost</a:t>
            </a:r>
            <a:endParaRPr>
              <a:solidFill>
                <a:srgbClr val="A7291E"/>
              </a:solidFill>
            </a:endParaRPr>
          </a:p>
        </p:txBody>
      </p:sp>
      <p:sp>
        <p:nvSpPr>
          <p:cNvPr id="244" name="Google Shape;244;g37a4ab458f7_1_29"/>
          <p:cNvSpPr/>
          <p:nvPr/>
        </p:nvSpPr>
        <p:spPr>
          <a:xfrm>
            <a:off x="8117071" y="3951125"/>
            <a:ext cx="5382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5" name="Google Shape;245;g37a4ab458f7_1_29"/>
          <p:cNvSpPr/>
          <p:nvPr/>
        </p:nvSpPr>
        <p:spPr>
          <a:xfrm>
            <a:off x="8117075" y="5207525"/>
            <a:ext cx="5436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6" name="Google Shape;246;g37a4ab458f7_1_29"/>
          <p:cNvSpPr/>
          <p:nvPr/>
        </p:nvSpPr>
        <p:spPr>
          <a:xfrm>
            <a:off x="8117071" y="2694750"/>
            <a:ext cx="5382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7" name="Google Shape;247;g37a4ab458f7_1_29"/>
          <p:cNvSpPr/>
          <p:nvPr/>
        </p:nvSpPr>
        <p:spPr>
          <a:xfrm rot="5400000">
            <a:off x="6861275" y="3950550"/>
            <a:ext cx="25608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8" name="Google Shape;248;g37a4ab458f7_1_29"/>
          <p:cNvSpPr/>
          <p:nvPr/>
        </p:nvSpPr>
        <p:spPr>
          <a:xfrm>
            <a:off x="8651275" y="4954850"/>
            <a:ext cx="1903800" cy="55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858585"/>
                </a:solidFill>
                <a:latin typeface="Roboto"/>
                <a:ea typeface="Roboto"/>
                <a:cs typeface="Roboto"/>
                <a:sym typeface="Roboto"/>
              </a:rPr>
              <a:t>Decision Tree</a:t>
            </a:r>
            <a:endParaRPr/>
          </a:p>
        </p:txBody>
      </p:sp>
      <p:sp>
        <p:nvSpPr>
          <p:cNvPr id="249" name="Google Shape;249;g37a4ab458f7_1_29"/>
          <p:cNvSpPr/>
          <p:nvPr/>
        </p:nvSpPr>
        <p:spPr>
          <a:xfrm>
            <a:off x="8651275" y="3699025"/>
            <a:ext cx="1903800" cy="55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858585"/>
                </a:solidFill>
                <a:latin typeface="Roboto"/>
                <a:ea typeface="Roboto"/>
                <a:cs typeface="Roboto"/>
                <a:sym typeface="Roboto"/>
              </a:rPr>
              <a:t>Linear Regression</a:t>
            </a:r>
            <a:endParaRPr sz="1300" b="1">
              <a:solidFill>
                <a:srgbClr val="858585"/>
              </a:solidFill>
              <a:latin typeface="Roboto"/>
              <a:ea typeface="Roboto"/>
              <a:cs typeface="Roboto"/>
              <a:sym typeface="Roboto"/>
            </a:endParaRPr>
          </a:p>
        </p:txBody>
      </p:sp>
      <p:sp>
        <p:nvSpPr>
          <p:cNvPr id="250" name="Google Shape;250;g37a4ab458f7_1_29"/>
          <p:cNvSpPr/>
          <p:nvPr/>
        </p:nvSpPr>
        <p:spPr>
          <a:xfrm>
            <a:off x="6427800" y="3951150"/>
            <a:ext cx="18090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1" name="Google Shape;251;g37a4ab458f7_1_29"/>
          <p:cNvSpPr txBox="1"/>
          <p:nvPr/>
        </p:nvSpPr>
        <p:spPr>
          <a:xfrm>
            <a:off x="838201" y="3327350"/>
            <a:ext cx="3166800" cy="16275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100">
                <a:solidFill>
                  <a:srgbClr val="A7291E"/>
                </a:solidFill>
                <a:highlight>
                  <a:schemeClr val="lt2"/>
                </a:highlight>
                <a:latin typeface="Roboto"/>
                <a:ea typeface="Roboto"/>
                <a:cs typeface="Roboto"/>
                <a:sym typeface="Roboto"/>
              </a:rPr>
              <a:t>avg_gap</a:t>
            </a:r>
            <a:r>
              <a:rPr lang="en-US" sz="1100">
                <a:solidFill>
                  <a:srgbClr val="A7291E"/>
                </a:solidFill>
                <a:latin typeface="Roboto"/>
                <a:ea typeface="Roboto"/>
                <a:cs typeface="Roboto"/>
                <a:sym typeface="Roboto"/>
              </a:rPr>
              <a:t> - average gap between purchases</a:t>
            </a:r>
            <a:br>
              <a:rPr lang="en-US" sz="1100">
                <a:solidFill>
                  <a:srgbClr val="A7291E"/>
                </a:solidFill>
                <a:latin typeface="Roboto"/>
                <a:ea typeface="Roboto"/>
                <a:cs typeface="Roboto"/>
                <a:sym typeface="Roboto"/>
              </a:rPr>
            </a:br>
            <a:r>
              <a:rPr lang="en-US" sz="1100">
                <a:solidFill>
                  <a:srgbClr val="A7291E"/>
                </a:solidFill>
                <a:highlight>
                  <a:schemeClr val="lt2"/>
                </a:highlight>
                <a:latin typeface="Roboto"/>
                <a:ea typeface="Roboto"/>
                <a:cs typeface="Roboto"/>
                <a:sym typeface="Roboto"/>
              </a:rPr>
              <a:t>threshold</a:t>
            </a:r>
            <a:r>
              <a:rPr lang="en-US" sz="1100">
                <a:solidFill>
                  <a:srgbClr val="A7291E"/>
                </a:solidFill>
                <a:latin typeface="Roboto"/>
                <a:ea typeface="Roboto"/>
                <a:cs typeface="Roboto"/>
                <a:sym typeface="Roboto"/>
              </a:rPr>
              <a:t> = 3 * avg_gap</a:t>
            </a:r>
            <a:br>
              <a:rPr lang="en-US" sz="1100">
                <a:solidFill>
                  <a:srgbClr val="A7291E"/>
                </a:solidFill>
                <a:latin typeface="Roboto"/>
                <a:ea typeface="Roboto"/>
                <a:cs typeface="Roboto"/>
                <a:sym typeface="Roboto"/>
              </a:rPr>
            </a:br>
            <a:r>
              <a:rPr lang="en-US" sz="1100">
                <a:solidFill>
                  <a:srgbClr val="A7291E"/>
                </a:solidFill>
                <a:highlight>
                  <a:schemeClr val="lt2"/>
                </a:highlight>
                <a:latin typeface="Roboto"/>
                <a:ea typeface="Roboto"/>
                <a:cs typeface="Roboto"/>
                <a:sym typeface="Roboto"/>
              </a:rPr>
              <a:t>soft_churn_label</a:t>
            </a:r>
            <a:r>
              <a:rPr lang="en-US" sz="1100">
                <a:solidFill>
                  <a:srgbClr val="A7291E"/>
                </a:solidFill>
                <a:latin typeface="Roboto"/>
                <a:ea typeface="Roboto"/>
                <a:cs typeface="Roboto"/>
                <a:sym typeface="Roboto"/>
              </a:rPr>
              <a:t> = Binary label indicating churn status, based on the 3× average purchase interval rule.</a:t>
            </a:r>
            <a:endParaRPr sz="1100">
              <a:solidFill>
                <a:srgbClr val="A7291E"/>
              </a:solidFill>
              <a:latin typeface="Roboto"/>
              <a:ea typeface="Roboto"/>
              <a:cs typeface="Roboto"/>
              <a:sym typeface="Roboto"/>
            </a:endParaRPr>
          </a:p>
          <a:p>
            <a:pPr marL="457200" lvl="0" indent="-298450" algn="l" rtl="0">
              <a:lnSpc>
                <a:spcPct val="115000"/>
              </a:lnSpc>
              <a:spcBef>
                <a:spcPts val="0"/>
              </a:spcBef>
              <a:spcAft>
                <a:spcPts val="0"/>
              </a:spcAft>
              <a:buClr>
                <a:srgbClr val="A7291E"/>
              </a:buClr>
              <a:buSzPts val="1100"/>
              <a:buFont typeface="Roboto"/>
              <a:buChar char="●"/>
            </a:pPr>
            <a:r>
              <a:rPr lang="en-US" sz="1100">
                <a:solidFill>
                  <a:srgbClr val="A7291E"/>
                </a:solidFill>
                <a:highlight>
                  <a:schemeClr val="lt2"/>
                </a:highlight>
                <a:latin typeface="Roboto"/>
                <a:ea typeface="Roboto"/>
                <a:cs typeface="Roboto"/>
                <a:sym typeface="Roboto"/>
              </a:rPr>
              <a:t>0 = Active</a:t>
            </a:r>
            <a:r>
              <a:rPr lang="en-US" sz="1100">
                <a:solidFill>
                  <a:srgbClr val="A7291E"/>
                </a:solidFill>
                <a:latin typeface="Roboto"/>
                <a:ea typeface="Roboto"/>
                <a:cs typeface="Roboto"/>
                <a:sym typeface="Roboto"/>
              </a:rPr>
              <a:t> (purchased within threshold)</a:t>
            </a:r>
            <a:endParaRPr sz="1100">
              <a:solidFill>
                <a:srgbClr val="A7291E"/>
              </a:solidFill>
              <a:latin typeface="Roboto"/>
              <a:ea typeface="Roboto"/>
              <a:cs typeface="Roboto"/>
              <a:sym typeface="Roboto"/>
            </a:endParaRPr>
          </a:p>
          <a:p>
            <a:pPr marL="457200" lvl="0" indent="-298450" algn="l" rtl="0">
              <a:lnSpc>
                <a:spcPct val="115000"/>
              </a:lnSpc>
              <a:spcBef>
                <a:spcPts val="0"/>
              </a:spcBef>
              <a:spcAft>
                <a:spcPts val="0"/>
              </a:spcAft>
              <a:buClr>
                <a:srgbClr val="A7291E"/>
              </a:buClr>
              <a:buSzPts val="1100"/>
              <a:buFont typeface="Roboto"/>
              <a:buChar char="●"/>
            </a:pPr>
            <a:r>
              <a:rPr lang="en-US" sz="1100">
                <a:solidFill>
                  <a:srgbClr val="A7291E"/>
                </a:solidFill>
                <a:highlight>
                  <a:schemeClr val="lt2"/>
                </a:highlight>
                <a:latin typeface="Roboto"/>
                <a:ea typeface="Roboto"/>
                <a:cs typeface="Roboto"/>
                <a:sym typeface="Roboto"/>
              </a:rPr>
              <a:t>1 = Soft churn</a:t>
            </a:r>
            <a:endParaRPr sz="1100">
              <a:solidFill>
                <a:srgbClr val="A7291E"/>
              </a:solidFill>
              <a:highlight>
                <a:schemeClr val="lt2"/>
              </a:highlight>
              <a:latin typeface="Roboto"/>
              <a:ea typeface="Roboto"/>
              <a:cs typeface="Roboto"/>
              <a:sym typeface="Roboto"/>
            </a:endParaRPr>
          </a:p>
          <a:p>
            <a:pPr marL="0" lvl="0" indent="0" algn="l" rtl="0">
              <a:lnSpc>
                <a:spcPct val="115000"/>
              </a:lnSpc>
              <a:spcBef>
                <a:spcPts val="0"/>
              </a:spcBef>
              <a:spcAft>
                <a:spcPts val="0"/>
              </a:spcAft>
              <a:buNone/>
            </a:pPr>
            <a:r>
              <a:rPr lang="en-US" sz="1100">
                <a:solidFill>
                  <a:srgbClr val="A7291E"/>
                </a:solidFill>
                <a:highlight>
                  <a:schemeClr val="lt2"/>
                </a:highlight>
                <a:latin typeface="Roboto"/>
                <a:ea typeface="Roboto"/>
                <a:cs typeface="Roboto"/>
                <a:sym typeface="Roboto"/>
              </a:rPr>
              <a:t>RFM scores</a:t>
            </a:r>
            <a:r>
              <a:rPr lang="en-US" sz="1100">
                <a:solidFill>
                  <a:srgbClr val="A7291E"/>
                </a:solidFill>
                <a:latin typeface="Roboto"/>
                <a:ea typeface="Roboto"/>
                <a:cs typeface="Roboto"/>
                <a:sym typeface="Roboto"/>
              </a:rPr>
              <a:t> from customer segmentation</a:t>
            </a:r>
            <a:endParaRPr sz="1100">
              <a:solidFill>
                <a:srgbClr val="A7291E"/>
              </a:solidFill>
              <a:latin typeface="Roboto"/>
              <a:ea typeface="Roboto"/>
              <a:cs typeface="Roboto"/>
              <a:sym typeface="Roboto"/>
            </a:endParaRPr>
          </a:p>
        </p:txBody>
      </p:sp>
      <p:sp>
        <p:nvSpPr>
          <p:cNvPr id="252" name="Google Shape;252;g37a4ab458f7_1_29"/>
          <p:cNvSpPr txBox="1"/>
          <p:nvPr/>
        </p:nvSpPr>
        <p:spPr>
          <a:xfrm>
            <a:off x="0" y="0"/>
            <a:ext cx="4255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u="sng">
                <a:solidFill>
                  <a:schemeClr val="dk1"/>
                </a:solidFill>
                <a:highlight>
                  <a:srgbClr val="FFFF00"/>
                </a:highlight>
              </a:rPr>
              <a:t>let me re-do this flow</a:t>
            </a:r>
            <a:endParaRPr sz="2400" u="sng">
              <a:solidFill>
                <a:schemeClr val="dk1"/>
              </a:solidFill>
              <a:highlight>
                <a:srgbClr val="FFFF00"/>
              </a:highlight>
            </a:endParaRPr>
          </a:p>
        </p:txBody>
      </p:sp>
      <p:sp>
        <p:nvSpPr>
          <p:cNvPr id="253" name="Google Shape;253;g37a4ab458f7_1_29"/>
          <p:cNvSpPr/>
          <p:nvPr/>
        </p:nvSpPr>
        <p:spPr>
          <a:xfrm rot="5400000">
            <a:off x="5945400" y="3468750"/>
            <a:ext cx="10140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pic>
        <p:nvPicPr>
          <p:cNvPr id="254" name="Google Shape;254;g37a4ab458f7_1_29"/>
          <p:cNvPicPr preferRelativeResize="0"/>
          <p:nvPr/>
        </p:nvPicPr>
        <p:blipFill>
          <a:blip r:embed="rId4">
            <a:alphaModFix/>
          </a:blip>
          <a:stretch>
            <a:fillRect/>
          </a:stretch>
        </p:blipFill>
        <p:spPr>
          <a:xfrm>
            <a:off x="10605451" y="1809325"/>
            <a:ext cx="826400" cy="826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7b1e9927e7_0_6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XGBoost</a:t>
            </a:r>
            <a:endParaRPr/>
          </a:p>
        </p:txBody>
      </p:sp>
      <p:sp>
        <p:nvSpPr>
          <p:cNvPr id="260" name="Google Shape;260;g37b1e9927e7_0_61"/>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1" name="Google Shape;261;g37b1e9927e7_0_61"/>
          <p:cNvSpPr/>
          <p:nvPr/>
        </p:nvSpPr>
        <p:spPr>
          <a:xfrm>
            <a:off x="1077508" y="2104225"/>
            <a:ext cx="1791900" cy="31125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300" b="1">
                <a:solidFill>
                  <a:srgbClr val="858585"/>
                </a:solidFill>
                <a:latin typeface="Roboto"/>
                <a:ea typeface="Roboto"/>
                <a:cs typeface="Roboto"/>
                <a:sym typeface="Roboto"/>
              </a:rPr>
              <a:t>XGBoost is the most suitable:</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r>
              <a:rPr lang="en-US" sz="1300" b="1">
                <a:solidFill>
                  <a:schemeClr val="accent2"/>
                </a:solidFill>
                <a:latin typeface="Roboto"/>
                <a:ea typeface="Roboto"/>
                <a:cs typeface="Roboto"/>
                <a:sym typeface="Roboto"/>
              </a:rPr>
              <a:t>✔</a:t>
            </a:r>
            <a:r>
              <a:rPr lang="en-US" sz="1300" b="1">
                <a:solidFill>
                  <a:srgbClr val="858585"/>
                </a:solidFill>
                <a:latin typeface="Roboto"/>
                <a:ea typeface="Roboto"/>
                <a:cs typeface="Roboto"/>
                <a:sym typeface="Roboto"/>
              </a:rPr>
              <a:t> Best predictive performance</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r>
              <a:rPr lang="en-US" sz="1300" b="1">
                <a:solidFill>
                  <a:schemeClr val="accent2"/>
                </a:solidFill>
                <a:latin typeface="Roboto"/>
                <a:ea typeface="Roboto"/>
                <a:cs typeface="Roboto"/>
                <a:sym typeface="Roboto"/>
              </a:rPr>
              <a:t>✔</a:t>
            </a:r>
            <a:r>
              <a:rPr lang="en-US" sz="1300" b="1">
                <a:solidFill>
                  <a:srgbClr val="858585"/>
                </a:solidFill>
                <a:latin typeface="Roboto"/>
                <a:ea typeface="Roboto"/>
                <a:cs typeface="Roboto"/>
                <a:sym typeface="Roboto"/>
              </a:rPr>
              <a:t> Able to capture nonlinear churn patterns</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r>
              <a:rPr lang="en-US" sz="1300" b="1">
                <a:solidFill>
                  <a:schemeClr val="accent2"/>
                </a:solidFill>
                <a:latin typeface="Roboto"/>
                <a:ea typeface="Roboto"/>
                <a:cs typeface="Roboto"/>
                <a:sym typeface="Roboto"/>
              </a:rPr>
              <a:t>✔</a:t>
            </a:r>
            <a:r>
              <a:rPr lang="en-US" sz="1300" b="1">
                <a:solidFill>
                  <a:srgbClr val="858585"/>
                </a:solidFill>
                <a:latin typeface="Roboto"/>
                <a:ea typeface="Roboto"/>
                <a:cs typeface="Roboto"/>
                <a:sym typeface="Roboto"/>
              </a:rPr>
              <a:t> Less overfitting</a:t>
            </a:r>
            <a:endParaRPr sz="1300" b="1">
              <a:solidFill>
                <a:srgbClr val="858585"/>
              </a:solidFill>
              <a:latin typeface="Roboto"/>
              <a:ea typeface="Roboto"/>
              <a:cs typeface="Roboto"/>
              <a:sym typeface="Roboto"/>
            </a:endParaRPr>
          </a:p>
        </p:txBody>
      </p:sp>
      <p:sp>
        <p:nvSpPr>
          <p:cNvPr id="262" name="Google Shape;262;g37b1e9927e7_0_61"/>
          <p:cNvSpPr/>
          <p:nvPr/>
        </p:nvSpPr>
        <p:spPr>
          <a:xfrm>
            <a:off x="-742631" y="2695400"/>
            <a:ext cx="18348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3" name="Google Shape;263;g37b1e9927e7_0_61"/>
          <p:cNvSpPr/>
          <p:nvPr/>
        </p:nvSpPr>
        <p:spPr>
          <a:xfrm>
            <a:off x="4677727" y="2429575"/>
            <a:ext cx="4071300" cy="24618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300" b="1">
                <a:solidFill>
                  <a:srgbClr val="858585"/>
                </a:solidFill>
                <a:latin typeface="Roboto"/>
                <a:ea typeface="Roboto"/>
                <a:cs typeface="Roboto"/>
                <a:sym typeface="Roboto"/>
              </a:rPr>
              <a:t>WIP, to Insert:</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457200" lvl="0" indent="-311150" algn="l" rtl="0">
              <a:lnSpc>
                <a:spcPct val="115000"/>
              </a:lnSpc>
              <a:spcBef>
                <a:spcPts val="0"/>
              </a:spcBef>
              <a:spcAft>
                <a:spcPts val="0"/>
              </a:spcAft>
              <a:buClr>
                <a:srgbClr val="858585"/>
              </a:buClr>
              <a:buSzPts val="1300"/>
              <a:buFont typeface="Roboto"/>
              <a:buAutoNum type="arabicPeriod"/>
            </a:pPr>
            <a:r>
              <a:rPr lang="en-US" sz="1300" b="1">
                <a:solidFill>
                  <a:srgbClr val="858585"/>
                </a:solidFill>
                <a:latin typeface="Roboto"/>
                <a:ea typeface="Roboto"/>
                <a:cs typeface="Roboto"/>
                <a:sym typeface="Roboto"/>
              </a:rPr>
              <a:t>ROC</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457200" lvl="0" indent="-311150" algn="l" rtl="0">
              <a:lnSpc>
                <a:spcPct val="115000"/>
              </a:lnSpc>
              <a:spcBef>
                <a:spcPts val="0"/>
              </a:spcBef>
              <a:spcAft>
                <a:spcPts val="0"/>
              </a:spcAft>
              <a:buClr>
                <a:srgbClr val="858585"/>
              </a:buClr>
              <a:buSzPts val="1300"/>
              <a:buFont typeface="Roboto"/>
              <a:buAutoNum type="arabicPeriod"/>
            </a:pPr>
            <a:r>
              <a:rPr lang="en-US" sz="1300" b="1">
                <a:solidFill>
                  <a:srgbClr val="858585"/>
                </a:solidFill>
                <a:latin typeface="Roboto"/>
                <a:ea typeface="Roboto"/>
                <a:cs typeface="Roboto"/>
                <a:sym typeface="Roboto"/>
              </a:rPr>
              <a:t>Actual vs. Predicted (TRAIN TEST %)</a:t>
            </a: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endParaRPr sz="1300" b="1">
              <a:solidFill>
                <a:srgbClr val="858585"/>
              </a:solidFill>
              <a:latin typeface="Roboto"/>
              <a:ea typeface="Roboto"/>
              <a:cs typeface="Roboto"/>
              <a:sym typeface="Roboto"/>
            </a:endParaRPr>
          </a:p>
          <a:p>
            <a:pPr marL="0" lvl="0" indent="0" algn="l" rtl="0">
              <a:lnSpc>
                <a:spcPct val="115000"/>
              </a:lnSpc>
              <a:spcBef>
                <a:spcPts val="0"/>
              </a:spcBef>
              <a:spcAft>
                <a:spcPts val="0"/>
              </a:spcAft>
              <a:buNone/>
            </a:pPr>
            <a:r>
              <a:rPr lang="en-US" sz="1300" b="1">
                <a:solidFill>
                  <a:srgbClr val="858585"/>
                </a:solidFill>
                <a:latin typeface="Roboto"/>
                <a:ea typeface="Roboto"/>
                <a:cs typeface="Roboto"/>
                <a:sym typeface="Roboto"/>
              </a:rPr>
              <a:t>aka our model validation. back up why we chose to pick this model. Also let qi net know “hey i think we’re pretty accurate”</a:t>
            </a:r>
            <a:endParaRPr sz="1300" b="1">
              <a:solidFill>
                <a:srgbClr val="85858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dur="11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7"/>
        <p:cNvGrpSpPr/>
        <p:nvPr/>
      </p:nvGrpSpPr>
      <p:grpSpPr>
        <a:xfrm>
          <a:off x="0" y="0"/>
          <a:ext cx="0" cy="0"/>
          <a:chOff x="0" y="0"/>
          <a:chExt cx="0" cy="0"/>
        </a:xfrm>
      </p:grpSpPr>
      <p:sp>
        <p:nvSpPr>
          <p:cNvPr id="268" name="Google Shape;268;p7"/>
          <p:cNvSpPr txBox="1">
            <a:spLocks noGrp="1"/>
          </p:cNvSpPr>
          <p:nvPr>
            <p:ph type="title"/>
          </p:nvPr>
        </p:nvSpPr>
        <p:spPr>
          <a:xfrm>
            <a:off x="838200" y="365125"/>
            <a:ext cx="10854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Play"/>
              <a:buNone/>
            </a:pPr>
            <a:r>
              <a:rPr lang="en-US" sz="3400"/>
              <a:t>SOFT CHURN PREDICTION (2024)</a:t>
            </a:r>
            <a:endParaRPr sz="3600"/>
          </a:p>
        </p:txBody>
      </p:sp>
      <p:sp>
        <p:nvSpPr>
          <p:cNvPr id="269" name="Google Shape;269;p7"/>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0" name="Google Shape;270;p7"/>
          <p:cNvSpPr txBox="1"/>
          <p:nvPr/>
        </p:nvSpPr>
        <p:spPr>
          <a:xfrm>
            <a:off x="0" y="0"/>
            <a:ext cx="6149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u="sng">
                <a:solidFill>
                  <a:schemeClr val="dk1"/>
                </a:solidFill>
                <a:highlight>
                  <a:srgbClr val="FFFF00"/>
                </a:highlight>
              </a:rPr>
              <a:t>Change the Bar graph to go in descending</a:t>
            </a:r>
            <a:endParaRPr sz="2400" u="sng">
              <a:solidFill>
                <a:schemeClr val="dk1"/>
              </a:solidFill>
              <a:highlight>
                <a:srgbClr val="FFFF00"/>
              </a:highlight>
            </a:endParaRPr>
          </a:p>
        </p:txBody>
      </p:sp>
      <p:graphicFrame>
        <p:nvGraphicFramePr>
          <p:cNvPr id="271" name="Google Shape;271;p7"/>
          <p:cNvGraphicFramePr/>
          <p:nvPr/>
        </p:nvGraphicFramePr>
        <p:xfrm>
          <a:off x="555900" y="2095594"/>
          <a:ext cx="3000000" cy="3000000"/>
        </p:xfrm>
        <a:graphic>
          <a:graphicData uri="http://schemas.openxmlformats.org/drawingml/2006/table">
            <a:tbl>
              <a:tblPr>
                <a:noFill/>
                <a:tableStyleId>{7D0F31FA-75AA-4DF5-8931-7ACD70D262A8}</a:tableStyleId>
              </a:tblPr>
              <a:tblGrid>
                <a:gridCol w="1186200">
                  <a:extLst>
                    <a:ext uri="{9D8B030D-6E8A-4147-A177-3AD203B41FA5}">
                      <a16:colId xmlns:a16="http://schemas.microsoft.com/office/drawing/2014/main" val="20000"/>
                    </a:ext>
                  </a:extLst>
                </a:gridCol>
                <a:gridCol w="1064425">
                  <a:extLst>
                    <a:ext uri="{9D8B030D-6E8A-4147-A177-3AD203B41FA5}">
                      <a16:colId xmlns:a16="http://schemas.microsoft.com/office/drawing/2014/main" val="20001"/>
                    </a:ext>
                  </a:extLst>
                </a:gridCol>
                <a:gridCol w="1064425">
                  <a:extLst>
                    <a:ext uri="{9D8B030D-6E8A-4147-A177-3AD203B41FA5}">
                      <a16:colId xmlns:a16="http://schemas.microsoft.com/office/drawing/2014/main" val="20002"/>
                    </a:ext>
                  </a:extLst>
                </a:gridCol>
                <a:gridCol w="1064425">
                  <a:extLst>
                    <a:ext uri="{9D8B030D-6E8A-4147-A177-3AD203B41FA5}">
                      <a16:colId xmlns:a16="http://schemas.microsoft.com/office/drawing/2014/main" val="20003"/>
                    </a:ext>
                  </a:extLst>
                </a:gridCol>
              </a:tblGrid>
              <a:tr h="498250">
                <a:tc>
                  <a:txBody>
                    <a:bodyPr/>
                    <a:lstStyle/>
                    <a:p>
                      <a:pPr marL="0" lvl="0" indent="0" algn="l" rtl="0">
                        <a:spcBef>
                          <a:spcPts val="0"/>
                        </a:spcBef>
                        <a:spcAft>
                          <a:spcPts val="0"/>
                        </a:spcAft>
                        <a:buNone/>
                      </a:pPr>
                      <a:r>
                        <a:rPr lang="en-US"/>
                        <a:t>Segment</a:t>
                      </a:r>
                      <a:endParaRPr/>
                    </a:p>
                  </a:txBody>
                  <a:tcPr marL="91425" marR="91425" marT="91425" marB="91425">
                    <a:solidFill>
                      <a:srgbClr val="C9DAF8"/>
                    </a:solidFill>
                  </a:tcPr>
                </a:tc>
                <a:tc>
                  <a:txBody>
                    <a:bodyPr/>
                    <a:lstStyle/>
                    <a:p>
                      <a:pPr marL="0" lvl="0" indent="0" algn="l" rtl="0">
                        <a:spcBef>
                          <a:spcPts val="0"/>
                        </a:spcBef>
                        <a:spcAft>
                          <a:spcPts val="0"/>
                        </a:spcAft>
                        <a:buNone/>
                      </a:pPr>
                      <a:r>
                        <a:rPr lang="en-US"/>
                        <a:t>Total no. of Retailers</a:t>
                      </a:r>
                      <a:endParaRPr/>
                    </a:p>
                  </a:txBody>
                  <a:tcPr marL="91425" marR="91425" marT="91425" marB="91425">
                    <a:solidFill>
                      <a:srgbClr val="C9DAF8"/>
                    </a:solidFill>
                  </a:tcPr>
                </a:tc>
                <a:tc>
                  <a:txBody>
                    <a:bodyPr/>
                    <a:lstStyle/>
                    <a:p>
                      <a:pPr marL="0" lvl="0" indent="0" algn="l" rtl="0">
                        <a:spcBef>
                          <a:spcPts val="0"/>
                        </a:spcBef>
                        <a:spcAft>
                          <a:spcPts val="0"/>
                        </a:spcAft>
                        <a:buNone/>
                      </a:pPr>
                      <a:r>
                        <a:rPr lang="en-US"/>
                        <a:t>No. of Churned</a:t>
                      </a:r>
                      <a:endParaRPr/>
                    </a:p>
                  </a:txBody>
                  <a:tcPr marL="91425" marR="91425" marT="91425" marB="91425">
                    <a:solidFill>
                      <a:srgbClr val="C9DAF8"/>
                    </a:solidFill>
                  </a:tcPr>
                </a:tc>
                <a:tc>
                  <a:txBody>
                    <a:bodyPr/>
                    <a:lstStyle/>
                    <a:p>
                      <a:pPr marL="0" lvl="0" indent="0" algn="l" rtl="0">
                        <a:spcBef>
                          <a:spcPts val="0"/>
                        </a:spcBef>
                        <a:spcAft>
                          <a:spcPts val="0"/>
                        </a:spcAft>
                        <a:buNone/>
                      </a:pPr>
                      <a:r>
                        <a:rPr lang="en-US"/>
                        <a:t>Churn rate</a:t>
                      </a:r>
                      <a:endParaRPr/>
                    </a:p>
                  </a:txBody>
                  <a:tcPr marL="91425" marR="91425" marT="91425" marB="91425">
                    <a:solidFill>
                      <a:srgbClr val="C9DAF8"/>
                    </a:solidFill>
                  </a:tcPr>
                </a:tc>
                <a:extLst>
                  <a:ext uri="{0D108BD9-81ED-4DB2-BD59-A6C34878D82A}">
                    <a16:rowId xmlns:a16="http://schemas.microsoft.com/office/drawing/2014/main" val="10000"/>
                  </a:ext>
                </a:extLst>
              </a:tr>
              <a:tr h="498250">
                <a:tc>
                  <a:txBody>
                    <a:bodyPr/>
                    <a:lstStyle/>
                    <a:p>
                      <a:pPr marL="0" lvl="0" indent="0" algn="l" rtl="0">
                        <a:spcBef>
                          <a:spcPts val="0"/>
                        </a:spcBef>
                        <a:spcAft>
                          <a:spcPts val="0"/>
                        </a:spcAft>
                        <a:buNone/>
                      </a:pPr>
                      <a:r>
                        <a:rPr lang="en-US" b="1"/>
                        <a:t>At Risk</a:t>
                      </a:r>
                      <a:endParaRPr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162</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162</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100.00</a:t>
                      </a:r>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98250">
                <a:tc>
                  <a:txBody>
                    <a:bodyPr/>
                    <a:lstStyle/>
                    <a:p>
                      <a:pPr marL="0" lvl="0" indent="0" algn="l" rtl="0">
                        <a:spcBef>
                          <a:spcPts val="0"/>
                        </a:spcBef>
                        <a:spcAft>
                          <a:spcPts val="0"/>
                        </a:spcAft>
                        <a:buNone/>
                      </a:pPr>
                      <a:r>
                        <a:rPr lang="en-US" b="1"/>
                        <a:t>Hibernating</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346</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346</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100.00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98250">
                <a:tc>
                  <a:txBody>
                    <a:bodyPr/>
                    <a:lstStyle/>
                    <a:p>
                      <a:pPr marL="0" lvl="0" indent="0" algn="l" rtl="0">
                        <a:spcBef>
                          <a:spcPts val="0"/>
                        </a:spcBef>
                        <a:spcAft>
                          <a:spcPts val="0"/>
                        </a:spcAft>
                        <a:buNone/>
                      </a:pPr>
                      <a:r>
                        <a:rPr lang="en-US" b="1"/>
                        <a:t>Needs Attention</a:t>
                      </a:r>
                      <a:endParaRPr b="1"/>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181</a:t>
                      </a:r>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150</a:t>
                      </a:r>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82.87</a:t>
                      </a:r>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98250">
                <a:tc>
                  <a:txBody>
                    <a:bodyPr/>
                    <a:lstStyle/>
                    <a:p>
                      <a:pPr marL="0" lvl="0" indent="0" algn="l" rtl="0">
                        <a:spcBef>
                          <a:spcPts val="0"/>
                        </a:spcBef>
                        <a:spcAft>
                          <a:spcPts val="0"/>
                        </a:spcAft>
                        <a:buNone/>
                      </a:pPr>
                      <a:r>
                        <a:rPr lang="en-US" b="1"/>
                        <a:t>Loyal</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136</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91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a:t>66.91</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98250">
                <a:tc>
                  <a:txBody>
                    <a:bodyPr/>
                    <a:lstStyle/>
                    <a:p>
                      <a:pPr marL="0" lvl="0" indent="0" algn="l" rtl="0">
                        <a:spcBef>
                          <a:spcPts val="0"/>
                        </a:spcBef>
                        <a:spcAft>
                          <a:spcPts val="0"/>
                        </a:spcAft>
                        <a:buNone/>
                      </a:pPr>
                      <a:r>
                        <a:rPr lang="en-US" b="1"/>
                        <a:t>Potential Loyalist</a:t>
                      </a:r>
                      <a:endParaRPr b="1"/>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163</a:t>
                      </a:r>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44</a:t>
                      </a:r>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26.99</a:t>
                      </a:r>
                      <a:endParaRPr/>
                    </a:p>
                  </a:txBody>
                  <a:tcPr marL="91425" marR="91425" marT="91425" marB="91425">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98250">
                <a:tc>
                  <a:txBody>
                    <a:bodyPr/>
                    <a:lstStyle/>
                    <a:p>
                      <a:pPr marL="0" lvl="0" indent="0" algn="l" rtl="0">
                        <a:spcBef>
                          <a:spcPts val="0"/>
                        </a:spcBef>
                        <a:spcAft>
                          <a:spcPts val="0"/>
                        </a:spcAft>
                        <a:buNone/>
                      </a:pPr>
                      <a:r>
                        <a:rPr lang="en-US" b="1"/>
                        <a:t>Champions</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282</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37</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t>13.2</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272" name="Google Shape;272;p7"/>
          <p:cNvPicPr preferRelativeResize="0"/>
          <p:nvPr/>
        </p:nvPicPr>
        <p:blipFill>
          <a:blip r:embed="rId3">
            <a:alphaModFix/>
          </a:blip>
          <a:stretch>
            <a:fillRect/>
          </a:stretch>
        </p:blipFill>
        <p:spPr>
          <a:xfrm>
            <a:off x="5145175" y="2038138"/>
            <a:ext cx="6547250" cy="4197525"/>
          </a:xfrm>
          <a:prstGeom prst="rect">
            <a:avLst/>
          </a:prstGeom>
          <a:noFill/>
          <a:ln>
            <a:noFill/>
          </a:ln>
        </p:spPr>
      </p:pic>
      <p:pic>
        <p:nvPicPr>
          <p:cNvPr id="273" name="Google Shape;273;p7"/>
          <p:cNvPicPr preferRelativeResize="0"/>
          <p:nvPr/>
        </p:nvPicPr>
        <p:blipFill rotWithShape="1">
          <a:blip r:embed="rId4">
            <a:alphaModFix/>
          </a:blip>
          <a:srcRect l="84192" b="74962"/>
          <a:stretch/>
        </p:blipFill>
        <p:spPr>
          <a:xfrm>
            <a:off x="11029525" y="5612425"/>
            <a:ext cx="944974" cy="852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7"/>
        <p:cNvGrpSpPr/>
        <p:nvPr/>
      </p:nvGrpSpPr>
      <p:grpSpPr>
        <a:xfrm>
          <a:off x="0" y="0"/>
          <a:ext cx="0" cy="0"/>
          <a:chOff x="0" y="0"/>
          <a:chExt cx="0" cy="0"/>
        </a:xfrm>
      </p:grpSpPr>
      <p:sp>
        <p:nvSpPr>
          <p:cNvPr id="278" name="Google Shape;278;g3853bc6cd8b_1_28"/>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9" name="Google Shape;279;g3853bc6cd8b_1_28"/>
          <p:cNvSpPr txBox="1">
            <a:spLocks noGrp="1"/>
          </p:cNvSpPr>
          <p:nvPr>
            <p:ph type="ctrTitle"/>
          </p:nvPr>
        </p:nvSpPr>
        <p:spPr>
          <a:xfrm>
            <a:off x="838200" y="451381"/>
            <a:ext cx="10512600" cy="40665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Play"/>
              <a:buNone/>
            </a:pPr>
            <a:r>
              <a:rPr lang="en-US" sz="5700"/>
              <a:t>FORWARD LOOKING ROADMAP</a:t>
            </a:r>
            <a:endParaRPr sz="5100"/>
          </a:p>
        </p:txBody>
      </p:sp>
      <p:sp>
        <p:nvSpPr>
          <p:cNvPr id="280" name="Google Shape;280;g3853bc6cd8b_1_28"/>
          <p:cNvSpPr txBox="1">
            <a:spLocks noGrp="1"/>
          </p:cNvSpPr>
          <p:nvPr>
            <p:ph type="subTitle" idx="1"/>
          </p:nvPr>
        </p:nvSpPr>
        <p:spPr>
          <a:xfrm>
            <a:off x="838199" y="4983276"/>
            <a:ext cx="10512600" cy="1126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a:p>
        </p:txBody>
      </p:sp>
      <p:sp>
        <p:nvSpPr>
          <p:cNvPr id="281" name="Google Shape;281;g3853bc6cd8b_1_28"/>
          <p:cNvSpPr/>
          <p:nvPr/>
        </p:nvSpPr>
        <p:spPr>
          <a:xfrm>
            <a:off x="838200" y="4718595"/>
            <a:ext cx="5410200" cy="1828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279"/>
                                        </p:tgtEl>
                                        <p:attrNameLst>
                                          <p:attrName>style.visibility</p:attrName>
                                        </p:attrNameLst>
                                      </p:cBhvr>
                                      <p:to>
                                        <p:strVal val="visible"/>
                                      </p:to>
                                    </p:set>
                                    <p:animEffect transition="in" filter="fade">
                                      <p:cBhvr>
                                        <p:cTn id="7" dur="1000"/>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g3857b23907f_0_0"/>
          <p:cNvPicPr preferRelativeResize="0"/>
          <p:nvPr/>
        </p:nvPicPr>
        <p:blipFill>
          <a:blip r:embed="rId3">
            <a:alphaModFix/>
          </a:blip>
          <a:stretch>
            <a:fillRect/>
          </a:stretch>
        </p:blipFill>
        <p:spPr>
          <a:xfrm>
            <a:off x="270625" y="3384475"/>
            <a:ext cx="6355675" cy="2781300"/>
          </a:xfrm>
          <a:prstGeom prst="rect">
            <a:avLst/>
          </a:prstGeom>
          <a:noFill/>
          <a:ln>
            <a:noFill/>
          </a:ln>
        </p:spPr>
      </p:pic>
      <p:pic>
        <p:nvPicPr>
          <p:cNvPr id="287" name="Google Shape;287;g3857b23907f_0_0"/>
          <p:cNvPicPr preferRelativeResize="0"/>
          <p:nvPr/>
        </p:nvPicPr>
        <p:blipFill>
          <a:blip r:embed="rId4">
            <a:alphaModFix/>
          </a:blip>
          <a:stretch>
            <a:fillRect/>
          </a:stretch>
        </p:blipFill>
        <p:spPr>
          <a:xfrm>
            <a:off x="270625" y="317400"/>
            <a:ext cx="6153150" cy="2781300"/>
          </a:xfrm>
          <a:prstGeom prst="rect">
            <a:avLst/>
          </a:prstGeom>
          <a:noFill/>
          <a:ln>
            <a:noFill/>
          </a:ln>
        </p:spPr>
      </p:pic>
      <p:pic>
        <p:nvPicPr>
          <p:cNvPr id="288" name="Google Shape;288;g3857b23907f_0_0"/>
          <p:cNvPicPr preferRelativeResize="0"/>
          <p:nvPr/>
        </p:nvPicPr>
        <p:blipFill>
          <a:blip r:embed="rId5">
            <a:alphaModFix/>
          </a:blip>
          <a:stretch>
            <a:fillRect/>
          </a:stretch>
        </p:blipFill>
        <p:spPr>
          <a:xfrm>
            <a:off x="6626300" y="351425"/>
            <a:ext cx="5463424" cy="2713255"/>
          </a:xfrm>
          <a:prstGeom prst="rect">
            <a:avLst/>
          </a:prstGeom>
          <a:noFill/>
          <a:ln>
            <a:noFill/>
          </a:ln>
        </p:spPr>
      </p:pic>
      <p:pic>
        <p:nvPicPr>
          <p:cNvPr id="289" name="Google Shape;289;g3857b23907f_0_0"/>
          <p:cNvPicPr preferRelativeResize="0"/>
          <p:nvPr/>
        </p:nvPicPr>
        <p:blipFill>
          <a:blip r:embed="rId6">
            <a:alphaModFix/>
          </a:blip>
          <a:stretch>
            <a:fillRect/>
          </a:stretch>
        </p:blipFill>
        <p:spPr>
          <a:xfrm>
            <a:off x="6727563" y="3384480"/>
            <a:ext cx="5260899" cy="2316564"/>
          </a:xfrm>
          <a:prstGeom prst="rect">
            <a:avLst/>
          </a:prstGeom>
          <a:noFill/>
          <a:ln>
            <a:noFill/>
          </a:ln>
        </p:spPr>
      </p:pic>
      <p:sp>
        <p:nvSpPr>
          <p:cNvPr id="290" name="Google Shape;290;g3857b23907f_0_0"/>
          <p:cNvSpPr txBox="1"/>
          <p:nvPr/>
        </p:nvSpPr>
        <p:spPr>
          <a:xfrm>
            <a:off x="6786475" y="5701050"/>
            <a:ext cx="2736900" cy="51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rPr>
              <a:t>Customer segment: Loyal, Needs Attention</a:t>
            </a:r>
            <a:endParaRPr sz="1000">
              <a:solidFill>
                <a:schemeClr val="dk1"/>
              </a:solidFill>
            </a:endParaRPr>
          </a:p>
          <a:p>
            <a:pPr marL="0" lvl="0" indent="0" algn="l" rtl="0">
              <a:spcBef>
                <a:spcPts val="0"/>
              </a:spcBef>
              <a:spcAft>
                <a:spcPts val="0"/>
              </a:spcAft>
              <a:buNone/>
            </a:pPr>
            <a:r>
              <a:rPr lang="en-US" sz="1000">
                <a:solidFill>
                  <a:schemeClr val="dk1"/>
                </a:solidFill>
              </a:rPr>
              <a:t>Retailer Type: Chain, Independent</a:t>
            </a:r>
            <a:endParaRPr sz="10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g37a4ab458f7_1_6" descr="A logo with black and orange letters&#10;&#10;AI-generated content may be incorrect."/>
          <p:cNvPicPr preferRelativeResize="0"/>
          <p:nvPr/>
        </p:nvPicPr>
        <p:blipFill rotWithShape="1">
          <a:blip r:embed="rId3">
            <a:alphaModFix/>
          </a:blip>
          <a:srcRect/>
          <a:stretch/>
        </p:blipFill>
        <p:spPr>
          <a:xfrm>
            <a:off x="9218142" y="456073"/>
            <a:ext cx="2356770" cy="796655"/>
          </a:xfrm>
          <a:prstGeom prst="rect">
            <a:avLst/>
          </a:prstGeom>
          <a:noFill/>
          <a:ln>
            <a:noFill/>
          </a:ln>
        </p:spPr>
      </p:pic>
      <p:sp>
        <p:nvSpPr>
          <p:cNvPr id="296" name="Google Shape;296;g37a4ab458f7_1_6"/>
          <p:cNvSpPr txBox="1">
            <a:spLocks noGrp="1"/>
          </p:cNvSpPr>
          <p:nvPr>
            <p:ph type="title" idx="4294967295"/>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US" sz="5400"/>
              <a:t>Prioritization framework</a:t>
            </a:r>
            <a:endParaRPr/>
          </a:p>
        </p:txBody>
      </p:sp>
      <p:sp>
        <p:nvSpPr>
          <p:cNvPr id="297" name="Google Shape;297;g37a4ab458f7_1_6"/>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98" name="Google Shape;298;g37a4ab458f7_1_6" descr="A logo with black and orange letters&#10;&#10;AI-generated content may be incorrect."/>
          <p:cNvPicPr preferRelativeResize="0"/>
          <p:nvPr/>
        </p:nvPicPr>
        <p:blipFill rotWithShape="1">
          <a:blip r:embed="rId3">
            <a:alphaModFix/>
          </a:blip>
          <a:srcRect/>
          <a:stretch/>
        </p:blipFill>
        <p:spPr>
          <a:xfrm>
            <a:off x="9218142" y="456073"/>
            <a:ext cx="2356770" cy="796655"/>
          </a:xfrm>
          <a:prstGeom prst="rect">
            <a:avLst/>
          </a:prstGeom>
          <a:noFill/>
          <a:ln>
            <a:noFill/>
          </a:ln>
        </p:spPr>
      </p:pic>
      <p:cxnSp>
        <p:nvCxnSpPr>
          <p:cNvPr id="299" name="Google Shape;299;g37a4ab458f7_1_6"/>
          <p:cNvCxnSpPr/>
          <p:nvPr/>
        </p:nvCxnSpPr>
        <p:spPr>
          <a:xfrm>
            <a:off x="1126325" y="4166650"/>
            <a:ext cx="9573900" cy="0"/>
          </a:xfrm>
          <a:prstGeom prst="straightConnector1">
            <a:avLst/>
          </a:prstGeom>
          <a:noFill/>
          <a:ln w="76200" cap="flat" cmpd="sng">
            <a:solidFill>
              <a:schemeClr val="accent2"/>
            </a:solidFill>
            <a:prstDash val="solid"/>
            <a:round/>
            <a:headEnd type="none" w="med" len="med"/>
            <a:tailEnd type="none" w="med" len="med"/>
          </a:ln>
        </p:spPr>
      </p:cxnSp>
      <p:cxnSp>
        <p:nvCxnSpPr>
          <p:cNvPr id="300" name="Google Shape;300;g37a4ab458f7_1_6"/>
          <p:cNvCxnSpPr/>
          <p:nvPr/>
        </p:nvCxnSpPr>
        <p:spPr>
          <a:xfrm>
            <a:off x="5913275" y="2316775"/>
            <a:ext cx="0" cy="4368300"/>
          </a:xfrm>
          <a:prstGeom prst="straightConnector1">
            <a:avLst/>
          </a:prstGeom>
          <a:noFill/>
          <a:ln w="76200" cap="flat" cmpd="sng">
            <a:solidFill>
              <a:schemeClr val="accent2"/>
            </a:solidFill>
            <a:prstDash val="solid"/>
            <a:round/>
            <a:headEnd type="none" w="med" len="med"/>
            <a:tailEnd type="none" w="med" len="med"/>
          </a:ln>
        </p:spPr>
      </p:cxnSp>
      <p:cxnSp>
        <p:nvCxnSpPr>
          <p:cNvPr id="301" name="Google Shape;301;g37a4ab458f7_1_6"/>
          <p:cNvCxnSpPr/>
          <p:nvPr/>
        </p:nvCxnSpPr>
        <p:spPr>
          <a:xfrm>
            <a:off x="10476175" y="4166650"/>
            <a:ext cx="589500" cy="0"/>
          </a:xfrm>
          <a:prstGeom prst="straightConnector1">
            <a:avLst/>
          </a:prstGeom>
          <a:noFill/>
          <a:ln w="76200" cap="flat" cmpd="sng">
            <a:solidFill>
              <a:schemeClr val="accent2"/>
            </a:solidFill>
            <a:prstDash val="solid"/>
            <a:round/>
            <a:headEnd type="none" w="med" len="med"/>
            <a:tailEnd type="triangle" w="med" len="med"/>
          </a:ln>
        </p:spPr>
      </p:cxnSp>
      <p:cxnSp>
        <p:nvCxnSpPr>
          <p:cNvPr id="302" name="Google Shape;302;g37a4ab458f7_1_6"/>
          <p:cNvCxnSpPr/>
          <p:nvPr/>
        </p:nvCxnSpPr>
        <p:spPr>
          <a:xfrm rot="-5400000">
            <a:off x="5618513" y="2146688"/>
            <a:ext cx="589500" cy="0"/>
          </a:xfrm>
          <a:prstGeom prst="straightConnector1">
            <a:avLst/>
          </a:prstGeom>
          <a:noFill/>
          <a:ln w="76200" cap="flat" cmpd="sng">
            <a:solidFill>
              <a:schemeClr val="accent2"/>
            </a:solidFill>
            <a:prstDash val="solid"/>
            <a:round/>
            <a:headEnd type="none" w="med" len="med"/>
            <a:tailEnd type="triangle" w="med" len="med"/>
          </a:ln>
        </p:spPr>
      </p:cxnSp>
      <p:sp>
        <p:nvSpPr>
          <p:cNvPr id="303" name="Google Shape;303;g37a4ab458f7_1_6"/>
          <p:cNvSpPr txBox="1"/>
          <p:nvPr/>
        </p:nvSpPr>
        <p:spPr>
          <a:xfrm rot="-5400000">
            <a:off x="5717375" y="5431050"/>
            <a:ext cx="1560000" cy="87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rPr>
              <a:t>Low Impact</a:t>
            </a:r>
            <a:endParaRPr sz="2000">
              <a:solidFill>
                <a:schemeClr val="dk1"/>
              </a:solidFill>
            </a:endParaRPr>
          </a:p>
        </p:txBody>
      </p:sp>
      <p:sp>
        <p:nvSpPr>
          <p:cNvPr id="304" name="Google Shape;304;g37a4ab458f7_1_6"/>
          <p:cNvSpPr txBox="1"/>
          <p:nvPr/>
        </p:nvSpPr>
        <p:spPr>
          <a:xfrm rot="-5400000">
            <a:off x="5717363" y="2025350"/>
            <a:ext cx="1560000" cy="87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rPr>
              <a:t>High Impact</a:t>
            </a:r>
            <a:endParaRPr sz="2000">
              <a:solidFill>
                <a:schemeClr val="dk1"/>
              </a:solidFill>
            </a:endParaRPr>
          </a:p>
        </p:txBody>
      </p:sp>
      <p:sp>
        <p:nvSpPr>
          <p:cNvPr id="305" name="Google Shape;305;g37a4ab458f7_1_6"/>
          <p:cNvSpPr txBox="1"/>
          <p:nvPr/>
        </p:nvSpPr>
        <p:spPr>
          <a:xfrm>
            <a:off x="9505675" y="4320463"/>
            <a:ext cx="1560000" cy="87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rPr>
              <a:t>High Effort</a:t>
            </a:r>
            <a:endParaRPr sz="2000">
              <a:solidFill>
                <a:schemeClr val="dk1"/>
              </a:solidFill>
            </a:endParaRPr>
          </a:p>
        </p:txBody>
      </p:sp>
      <p:sp>
        <p:nvSpPr>
          <p:cNvPr id="306" name="Google Shape;306;g37a4ab458f7_1_6"/>
          <p:cNvSpPr txBox="1"/>
          <p:nvPr/>
        </p:nvSpPr>
        <p:spPr>
          <a:xfrm>
            <a:off x="1126325" y="4320463"/>
            <a:ext cx="1560000" cy="87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rPr>
              <a:t>Low Effort</a:t>
            </a:r>
            <a:endParaRPr sz="2000">
              <a:solidFill>
                <a:schemeClr val="dk1"/>
              </a:solidFill>
            </a:endParaRPr>
          </a:p>
        </p:txBody>
      </p:sp>
      <p:sp>
        <p:nvSpPr>
          <p:cNvPr id="307" name="Google Shape;307;g37a4ab458f7_1_6"/>
          <p:cNvSpPr txBox="1"/>
          <p:nvPr/>
        </p:nvSpPr>
        <p:spPr>
          <a:xfrm>
            <a:off x="7081475" y="5128450"/>
            <a:ext cx="3829800" cy="796800"/>
          </a:xfrm>
          <a:prstGeom prst="rect">
            <a:avLst/>
          </a:prstGeom>
          <a:solidFill>
            <a:srgbClr val="FFE599"/>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u="sng">
                <a:solidFill>
                  <a:schemeClr val="dk1"/>
                </a:solidFill>
              </a:rPr>
              <a:t>Refined Customer Experience </a:t>
            </a:r>
            <a:endParaRPr sz="2100" u="sng">
              <a:solidFill>
                <a:schemeClr val="dk1"/>
              </a:solidFill>
            </a:endParaRPr>
          </a:p>
          <a:p>
            <a:pPr marL="0" lvl="0" indent="0" algn="l" rtl="0">
              <a:spcBef>
                <a:spcPts val="0"/>
              </a:spcBef>
              <a:spcAft>
                <a:spcPts val="0"/>
              </a:spcAft>
              <a:buClr>
                <a:schemeClr val="dk1"/>
              </a:buClr>
              <a:buSzPts val="1100"/>
              <a:buFont typeface="Arial"/>
              <a:buNone/>
            </a:pPr>
            <a:r>
              <a:rPr lang="en-US" sz="2100">
                <a:solidFill>
                  <a:schemeClr val="dk1"/>
                </a:solidFill>
              </a:rPr>
              <a:t>- Improve app interface</a:t>
            </a:r>
            <a:endParaRPr sz="2800">
              <a:solidFill>
                <a:schemeClr val="dk1"/>
              </a:solidFill>
            </a:endParaRPr>
          </a:p>
        </p:txBody>
      </p:sp>
      <p:sp>
        <p:nvSpPr>
          <p:cNvPr id="308" name="Google Shape;308;g37a4ab458f7_1_6"/>
          <p:cNvSpPr txBox="1"/>
          <p:nvPr/>
        </p:nvSpPr>
        <p:spPr>
          <a:xfrm>
            <a:off x="6932525" y="2214550"/>
            <a:ext cx="4133100" cy="11508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u="sng">
                <a:solidFill>
                  <a:schemeClr val="dk1"/>
                </a:solidFill>
              </a:rPr>
              <a:t>Retention Strategy </a:t>
            </a:r>
            <a:endParaRPr sz="2100" u="sng">
              <a:solidFill>
                <a:schemeClr val="dk1"/>
              </a:solidFill>
            </a:endParaRPr>
          </a:p>
          <a:p>
            <a:pPr marL="0" lvl="0" indent="0" algn="l" rtl="0">
              <a:spcBef>
                <a:spcPts val="0"/>
              </a:spcBef>
              <a:spcAft>
                <a:spcPts val="0"/>
              </a:spcAft>
              <a:buNone/>
            </a:pPr>
            <a:r>
              <a:rPr lang="en-US" sz="2100">
                <a:solidFill>
                  <a:schemeClr val="dk1"/>
                </a:solidFill>
              </a:rPr>
              <a:t>- Data Collection, Market Analysis, Behavioural Analysis</a:t>
            </a:r>
            <a:endParaRPr sz="2800">
              <a:solidFill>
                <a:schemeClr val="dk1"/>
              </a:solidFill>
            </a:endParaRPr>
          </a:p>
        </p:txBody>
      </p:sp>
      <p:sp>
        <p:nvSpPr>
          <p:cNvPr id="309" name="Google Shape;309;g37a4ab458f7_1_6"/>
          <p:cNvSpPr txBox="1"/>
          <p:nvPr/>
        </p:nvSpPr>
        <p:spPr>
          <a:xfrm>
            <a:off x="1160225" y="2229175"/>
            <a:ext cx="2244600" cy="7968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u="sng">
                <a:solidFill>
                  <a:schemeClr val="dk1"/>
                </a:solidFill>
              </a:rPr>
              <a:t>Subscription Tier </a:t>
            </a:r>
            <a:endParaRPr sz="2100" u="sng">
              <a:solidFill>
                <a:schemeClr val="dk1"/>
              </a:solidFill>
            </a:endParaRPr>
          </a:p>
          <a:p>
            <a:pPr marL="0" lvl="0" indent="0" algn="l" rtl="0">
              <a:spcBef>
                <a:spcPts val="0"/>
              </a:spcBef>
              <a:spcAft>
                <a:spcPts val="0"/>
              </a:spcAft>
              <a:buNone/>
            </a:pPr>
            <a:r>
              <a:rPr lang="en-US" sz="2100">
                <a:solidFill>
                  <a:schemeClr val="dk1"/>
                </a:solidFill>
              </a:rPr>
              <a:t>- Benefit Analysis</a:t>
            </a:r>
            <a:endParaRPr sz="2100">
              <a:solidFill>
                <a:schemeClr val="dk1"/>
              </a:solidFill>
            </a:endParaRPr>
          </a:p>
        </p:txBody>
      </p:sp>
      <p:sp>
        <p:nvSpPr>
          <p:cNvPr id="310" name="Google Shape;310;g37a4ab458f7_1_6"/>
          <p:cNvSpPr txBox="1"/>
          <p:nvPr/>
        </p:nvSpPr>
        <p:spPr>
          <a:xfrm>
            <a:off x="1160225" y="5086200"/>
            <a:ext cx="2957700" cy="507300"/>
          </a:xfrm>
          <a:prstGeom prst="rect">
            <a:avLst/>
          </a:prstGeom>
          <a:solidFill>
            <a:srgbClr val="FFD966"/>
          </a:solidFill>
          <a:ln>
            <a:noFill/>
          </a:ln>
        </p:spPr>
        <p:txBody>
          <a:bodyPr spcFirstLastPara="1" wrap="square" lIns="91425" tIns="91425" rIns="91425" bIns="91425" anchor="t" anchorCtr="0">
            <a:noAutofit/>
          </a:bodyPr>
          <a:lstStyle/>
          <a:p>
            <a:pPr marL="0" lvl="0" indent="0" algn="l" rtl="0">
              <a:spcBef>
                <a:spcPts val="1000"/>
              </a:spcBef>
              <a:spcAft>
                <a:spcPts val="0"/>
              </a:spcAft>
              <a:buNone/>
            </a:pPr>
            <a:r>
              <a:rPr lang="en-US" sz="2100">
                <a:solidFill>
                  <a:schemeClr val="dk1"/>
                </a:solidFill>
              </a:rPr>
              <a:t>Social Media Marketing</a:t>
            </a:r>
            <a:endParaRPr sz="2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4"/>
        <p:cNvGrpSpPr/>
        <p:nvPr/>
      </p:nvGrpSpPr>
      <p:grpSpPr>
        <a:xfrm>
          <a:off x="0" y="0"/>
          <a:ext cx="0" cy="0"/>
          <a:chOff x="0" y="0"/>
          <a:chExt cx="0" cy="0"/>
        </a:xfrm>
      </p:grpSpPr>
      <p:sp>
        <p:nvSpPr>
          <p:cNvPr id="315" name="Google Shape;315;g38316c78182_0_9"/>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6" name="Google Shape;316;g38316c78182_0_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US" sz="4200"/>
              <a:t>6 MONTHS FORWARD LOOKING ROADMAP</a:t>
            </a:r>
            <a:endParaRPr sz="4200"/>
          </a:p>
        </p:txBody>
      </p:sp>
      <p:sp>
        <p:nvSpPr>
          <p:cNvPr id="317" name="Google Shape;317;g38316c78182_0_9"/>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8" name="Google Shape;318;g38316c78182_0_9"/>
          <p:cNvSpPr txBox="1">
            <a:spLocks noGrp="1"/>
          </p:cNvSpPr>
          <p:nvPr>
            <p:ph type="body" idx="1"/>
          </p:nvPr>
        </p:nvSpPr>
        <p:spPr>
          <a:xfrm>
            <a:off x="838200" y="1929374"/>
            <a:ext cx="10515600" cy="4608900"/>
          </a:xfrm>
          <a:prstGeom prst="rect">
            <a:avLst/>
          </a:prstGeom>
          <a:noFill/>
          <a:ln>
            <a:noFill/>
          </a:ln>
        </p:spPr>
        <p:txBody>
          <a:bodyPr spcFirstLastPara="1" wrap="square" lIns="91425" tIns="45700" rIns="91425" bIns="45700" anchor="t" anchorCtr="0">
            <a:noAutofit/>
          </a:bodyPr>
          <a:lstStyle/>
          <a:p>
            <a:pPr marL="457200" lvl="0" indent="-361950" algn="l" rtl="0">
              <a:lnSpc>
                <a:spcPct val="100000"/>
              </a:lnSpc>
              <a:spcBef>
                <a:spcPts val="1000"/>
              </a:spcBef>
              <a:spcAft>
                <a:spcPts val="0"/>
              </a:spcAft>
              <a:buSzPts val="2100"/>
              <a:buAutoNum type="arabicParenR"/>
            </a:pPr>
            <a:r>
              <a:rPr lang="en-US" sz="2100" b="1" u="sng"/>
              <a:t>Retention Strategy - Data Collection, Market Analysis, Behavioural Analysis </a:t>
            </a:r>
            <a:endParaRPr sz="2100"/>
          </a:p>
          <a:p>
            <a:pPr marL="914400" lvl="1" indent="-361950" algn="l" rtl="0">
              <a:lnSpc>
                <a:spcPct val="115000"/>
              </a:lnSpc>
              <a:spcBef>
                <a:spcPts val="0"/>
              </a:spcBef>
              <a:spcAft>
                <a:spcPts val="0"/>
              </a:spcAft>
              <a:buSzPts val="2100"/>
              <a:buChar char="•"/>
            </a:pPr>
            <a:r>
              <a:rPr lang="en-US" sz="2100"/>
              <a:t>Feedback Data -  Behavioural purchase patterns, Revenue to Qinet, Exit info, App efficiency</a:t>
            </a:r>
            <a:endParaRPr sz="2100"/>
          </a:p>
          <a:p>
            <a:pPr marL="914400" lvl="1" indent="-361950" algn="l" rtl="0">
              <a:lnSpc>
                <a:spcPct val="115000"/>
              </a:lnSpc>
              <a:spcBef>
                <a:spcPts val="0"/>
              </a:spcBef>
              <a:spcAft>
                <a:spcPts val="0"/>
              </a:spcAft>
              <a:buSzPts val="2100"/>
              <a:buChar char="•"/>
            </a:pPr>
            <a:r>
              <a:rPr lang="en-US" sz="2100"/>
              <a:t>Current Market Analysis - Economics, other competitors</a:t>
            </a:r>
            <a:endParaRPr sz="2100"/>
          </a:p>
          <a:p>
            <a:pPr marL="0" lvl="0" indent="0" algn="l" rtl="0">
              <a:lnSpc>
                <a:spcPct val="115000"/>
              </a:lnSpc>
              <a:spcBef>
                <a:spcPts val="0"/>
              </a:spcBef>
              <a:spcAft>
                <a:spcPts val="0"/>
              </a:spcAft>
              <a:buNone/>
            </a:pPr>
            <a:endParaRPr sz="2100"/>
          </a:p>
          <a:p>
            <a:pPr marL="0" lvl="0" indent="0" algn="l" rtl="0">
              <a:lnSpc>
                <a:spcPct val="100000"/>
              </a:lnSpc>
              <a:spcBef>
                <a:spcPts val="1000"/>
              </a:spcBef>
              <a:spcAft>
                <a:spcPts val="0"/>
              </a:spcAft>
              <a:buNone/>
            </a:pPr>
            <a:r>
              <a:rPr lang="en-US" sz="2100" b="1"/>
              <a:t>2)</a:t>
            </a:r>
            <a:r>
              <a:rPr lang="en-US" sz="2100" b="1" u="sng"/>
              <a:t>	Subscription Tier - Benefit Analysis</a:t>
            </a:r>
            <a:endParaRPr sz="2100" b="1" u="sng"/>
          </a:p>
          <a:p>
            <a:pPr marL="914400" lvl="1" indent="-361950" algn="l" rtl="0">
              <a:lnSpc>
                <a:spcPct val="100000"/>
              </a:lnSpc>
              <a:spcBef>
                <a:spcPts val="500"/>
              </a:spcBef>
              <a:spcAft>
                <a:spcPts val="0"/>
              </a:spcAft>
              <a:buSzPts val="2100"/>
              <a:buChar char="•"/>
            </a:pPr>
            <a:r>
              <a:rPr lang="en-US" sz="2100"/>
              <a:t>Review existing subscription models for “churn”, “likely churn models”</a:t>
            </a:r>
            <a:endParaRPr sz="2100"/>
          </a:p>
          <a:p>
            <a:pPr marL="914400" lvl="1" indent="-361950" algn="l" rtl="0">
              <a:lnSpc>
                <a:spcPct val="100000"/>
              </a:lnSpc>
              <a:spcBef>
                <a:spcPts val="0"/>
              </a:spcBef>
              <a:spcAft>
                <a:spcPts val="0"/>
              </a:spcAft>
              <a:buSzPts val="2100"/>
              <a:buChar char="•"/>
            </a:pPr>
            <a:r>
              <a:rPr lang="en-US" sz="2100"/>
              <a:t>Review “Retailer” and “Distributor” : ‘Subscription tier’ to cater to different groups of users</a:t>
            </a:r>
            <a:endParaRPr sz="2100"/>
          </a:p>
          <a:p>
            <a:pPr marL="914400" lvl="1" indent="-361950" algn="l" rtl="0">
              <a:lnSpc>
                <a:spcPct val="100000"/>
              </a:lnSpc>
              <a:spcBef>
                <a:spcPts val="0"/>
              </a:spcBef>
              <a:spcAft>
                <a:spcPts val="0"/>
              </a:spcAft>
              <a:buSzPts val="2100"/>
              <a:buChar char="•"/>
            </a:pPr>
            <a:r>
              <a:rPr lang="en-US" sz="2100"/>
              <a:t>To re-engage “likely churn”, to bump them onto nextgroup</a:t>
            </a:r>
            <a:endParaRPr sz="2100"/>
          </a:p>
          <a:p>
            <a:pPr marL="914400" lvl="1" indent="-361950" algn="l" rtl="0">
              <a:lnSpc>
                <a:spcPct val="100000"/>
              </a:lnSpc>
              <a:spcBef>
                <a:spcPts val="0"/>
              </a:spcBef>
              <a:spcAft>
                <a:spcPts val="0"/>
              </a:spcAft>
              <a:buSzPts val="2100"/>
              <a:buChar char="•"/>
            </a:pPr>
            <a:endParaRPr sz="2100"/>
          </a:p>
          <a:p>
            <a:pPr marL="0" lvl="0" indent="0" algn="l" rtl="0">
              <a:lnSpc>
                <a:spcPct val="100000"/>
              </a:lnSpc>
              <a:spcBef>
                <a:spcPts val="1000"/>
              </a:spcBef>
              <a:spcAft>
                <a:spcPts val="0"/>
              </a:spcAft>
              <a:buNone/>
            </a:pPr>
            <a:r>
              <a:rPr lang="en-US" sz="2100" b="1"/>
              <a:t>3)</a:t>
            </a:r>
            <a:r>
              <a:rPr lang="en-US" sz="2100" b="1" u="sng"/>
              <a:t>	Refined Customer Experience - Improve app interface</a:t>
            </a:r>
            <a:endParaRPr sz="2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2"/>
        <p:cNvGrpSpPr/>
        <p:nvPr/>
      </p:nvGrpSpPr>
      <p:grpSpPr>
        <a:xfrm>
          <a:off x="0" y="0"/>
          <a:ext cx="0" cy="0"/>
          <a:chOff x="0" y="0"/>
          <a:chExt cx="0" cy="0"/>
        </a:xfrm>
      </p:grpSpPr>
      <p:sp>
        <p:nvSpPr>
          <p:cNvPr id="323" name="Google Shape;323;p1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24" name="Google Shape;324;p16"/>
          <p:cNvSpPr txBox="1">
            <a:spLocks noGrp="1"/>
          </p:cNvSpPr>
          <p:nvPr>
            <p:ph type="ctrTitle"/>
          </p:nvPr>
        </p:nvSpPr>
        <p:spPr>
          <a:xfrm>
            <a:off x="838200" y="451381"/>
            <a:ext cx="10512552" cy="406654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Play"/>
              <a:buNone/>
            </a:pPr>
            <a:r>
              <a:rPr lang="en-US" sz="6600"/>
              <a:t>Q&amp;A</a:t>
            </a:r>
            <a:endParaRPr/>
          </a:p>
        </p:txBody>
      </p:sp>
      <p:sp>
        <p:nvSpPr>
          <p:cNvPr id="325" name="Google Shape;325;p16"/>
          <p:cNvSpPr txBox="1">
            <a:spLocks noGrp="1"/>
          </p:cNvSpPr>
          <p:nvPr>
            <p:ph type="subTitle" idx="1"/>
          </p:nvPr>
        </p:nvSpPr>
        <p:spPr>
          <a:xfrm>
            <a:off x="838199" y="4983276"/>
            <a:ext cx="10512552" cy="112668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a:p>
        </p:txBody>
      </p:sp>
      <p:sp>
        <p:nvSpPr>
          <p:cNvPr id="326" name="Google Shape;326;p16"/>
          <p:cNvSpPr/>
          <p:nvPr/>
        </p:nvSpPr>
        <p:spPr>
          <a:xfrm>
            <a:off x="838200" y="4718595"/>
            <a:ext cx="5410200" cy="1828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324"/>
                                        </p:tgtEl>
                                        <p:attrNameLst>
                                          <p:attrName>style.visibility</p:attrName>
                                        </p:attrNameLst>
                                      </p:cBhvr>
                                      <p:to>
                                        <p:strVal val="visible"/>
                                      </p:to>
                                    </p:set>
                                    <p:animEffect transition="in" filter="fade">
                                      <p:cBhvr>
                                        <p:cTn id="7" dur="1000"/>
                                        <p:tgtEl>
                                          <p:spTgt spid="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0"/>
        <p:cNvGrpSpPr/>
        <p:nvPr/>
      </p:nvGrpSpPr>
      <p:grpSpPr>
        <a:xfrm>
          <a:off x="0" y="0"/>
          <a:ext cx="0" cy="0"/>
          <a:chOff x="0" y="0"/>
          <a:chExt cx="0" cy="0"/>
        </a:xfrm>
      </p:grpSpPr>
      <p:sp>
        <p:nvSpPr>
          <p:cNvPr id="331" name="Google Shape;331;p1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32" name="Google Shape;332;p17"/>
          <p:cNvSpPr txBox="1">
            <a:spLocks noGrp="1"/>
          </p:cNvSpPr>
          <p:nvPr>
            <p:ph type="ctrTitle"/>
          </p:nvPr>
        </p:nvSpPr>
        <p:spPr>
          <a:xfrm>
            <a:off x="838200" y="451381"/>
            <a:ext cx="10512552" cy="406654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Play"/>
              <a:buNone/>
            </a:pPr>
            <a:r>
              <a:rPr lang="en-US" sz="6600"/>
              <a:t>The End</a:t>
            </a:r>
            <a:endParaRPr/>
          </a:p>
        </p:txBody>
      </p:sp>
      <p:sp>
        <p:nvSpPr>
          <p:cNvPr id="333" name="Google Shape;333;p17"/>
          <p:cNvSpPr txBox="1">
            <a:spLocks noGrp="1"/>
          </p:cNvSpPr>
          <p:nvPr>
            <p:ph type="subTitle" idx="1"/>
          </p:nvPr>
        </p:nvSpPr>
        <p:spPr>
          <a:xfrm>
            <a:off x="838199" y="4983276"/>
            <a:ext cx="10512552" cy="112668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a:p>
        </p:txBody>
      </p:sp>
      <p:sp>
        <p:nvSpPr>
          <p:cNvPr id="334" name="Google Shape;334;p17"/>
          <p:cNvSpPr/>
          <p:nvPr/>
        </p:nvSpPr>
        <p:spPr>
          <a:xfrm>
            <a:off x="838200" y="4718595"/>
            <a:ext cx="5410200" cy="1828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332"/>
                                        </p:tgtEl>
                                        <p:attrNameLst>
                                          <p:attrName>style.visibility</p:attrName>
                                        </p:attrNameLst>
                                      </p:cBhvr>
                                      <p:to>
                                        <p:strVal val="visible"/>
                                      </p:to>
                                    </p:set>
                                    <p:animEffect transition="in" filter="fade">
                                      <p:cBhvr>
                                        <p:cTn id="7" dur="1000"/>
                                        <p:tgtEl>
                                          <p:spTgt spid="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338"/>
        <p:cNvGrpSpPr/>
        <p:nvPr/>
      </p:nvGrpSpPr>
      <p:grpSpPr>
        <a:xfrm>
          <a:off x="0" y="0"/>
          <a:ext cx="0" cy="0"/>
          <a:chOff x="0" y="0"/>
          <a:chExt cx="0" cy="0"/>
        </a:xfrm>
      </p:grpSpPr>
      <p:sp>
        <p:nvSpPr>
          <p:cNvPr id="339" name="Google Shape;339;p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0" name="Google Shape;34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US" sz="5400"/>
              <a:t>OVERVIEW</a:t>
            </a:r>
            <a:endParaRPr/>
          </a:p>
        </p:txBody>
      </p:sp>
      <p:sp>
        <p:nvSpPr>
          <p:cNvPr id="341" name="Google Shape;341;p4"/>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42" name="Google Shape;342;p4" descr="A logo with black and orange letters&#10;&#10;AI-generated content may be incorrect."/>
          <p:cNvPicPr preferRelativeResize="0">
            <a:picLocks noGrp="1"/>
          </p:cNvPicPr>
          <p:nvPr>
            <p:ph type="body" idx="1"/>
          </p:nvPr>
        </p:nvPicPr>
        <p:blipFill rotWithShape="1">
          <a:blip r:embed="rId3">
            <a:alphaModFix/>
          </a:blip>
          <a:srcRect/>
          <a:stretch/>
        </p:blipFill>
        <p:spPr>
          <a:xfrm>
            <a:off x="9218142" y="456073"/>
            <a:ext cx="2356770" cy="796655"/>
          </a:xfrm>
          <a:prstGeom prst="rect">
            <a:avLst/>
          </a:prstGeom>
          <a:noFill/>
          <a:ln>
            <a:noFill/>
          </a:ln>
        </p:spPr>
      </p:pic>
      <p:sp>
        <p:nvSpPr>
          <p:cNvPr id="343" name="Google Shape;343;p4"/>
          <p:cNvSpPr txBox="1"/>
          <p:nvPr/>
        </p:nvSpPr>
        <p:spPr>
          <a:xfrm>
            <a:off x="838200" y="1929384"/>
            <a:ext cx="10515600" cy="4251960"/>
          </a:xfrm>
          <a:prstGeom prst="rect">
            <a:avLst/>
          </a:prstGeom>
          <a:noFill/>
          <a:ln>
            <a:noFill/>
          </a:ln>
        </p:spPr>
        <p:txBody>
          <a:bodyPr spcFirstLastPara="1" wrap="square" lIns="91425" tIns="45700" rIns="91425" bIns="45700" anchor="t" anchorCtr="0">
            <a:normAutofit fontScale="70000" lnSpcReduction="20000"/>
          </a:bodyPr>
          <a:lstStyle/>
          <a:p>
            <a:pPr marL="228600" marR="0" lvl="0" indent="-178098" algn="l" rtl="0">
              <a:lnSpc>
                <a:spcPct val="100000"/>
              </a:lnSpc>
              <a:spcBef>
                <a:spcPts val="0"/>
              </a:spcBef>
              <a:spcAft>
                <a:spcPts val="0"/>
              </a:spcAft>
              <a:buClr>
                <a:schemeClr val="dk1"/>
              </a:buClr>
              <a:buSzPct val="100000"/>
              <a:buFont typeface="Arial"/>
              <a:buChar char="•"/>
            </a:pPr>
            <a:r>
              <a:rPr lang="en-US" sz="3435" b="0" i="0" u="none" strike="noStrike" cap="none">
                <a:solidFill>
                  <a:schemeClr val="dk1"/>
                </a:solidFill>
                <a:latin typeface="Arial"/>
                <a:ea typeface="Arial"/>
                <a:cs typeface="Arial"/>
                <a:sym typeface="Arial"/>
              </a:rPr>
              <a:t>“Your Partner for Smart Ordering and e-Payments” for Distributors and Retailers</a:t>
            </a:r>
            <a:endParaRPr sz="1635"/>
          </a:p>
          <a:p>
            <a:pPr marL="228600" marR="0" lvl="0" indent="-178098" algn="l" rtl="0">
              <a:lnSpc>
                <a:spcPct val="100000"/>
              </a:lnSpc>
              <a:spcBef>
                <a:spcPts val="1000"/>
              </a:spcBef>
              <a:spcAft>
                <a:spcPts val="0"/>
              </a:spcAft>
              <a:buClr>
                <a:schemeClr val="dk1"/>
              </a:buClr>
              <a:buSzPct val="100000"/>
              <a:buFont typeface="Arial"/>
              <a:buChar char="•"/>
            </a:pPr>
            <a:r>
              <a:rPr lang="en-US" sz="3435" b="0" i="0" u="none" strike="noStrike" cap="none">
                <a:solidFill>
                  <a:schemeClr val="dk1"/>
                </a:solidFill>
                <a:latin typeface="Arial"/>
                <a:ea typeface="Arial"/>
                <a:cs typeface="Arial"/>
                <a:sym typeface="Arial"/>
              </a:rPr>
              <a:t>Known for Quick Ordering, Online-only deals, Be in control of cash flow and a simple user friendly app catered for all users</a:t>
            </a:r>
            <a:endParaRPr sz="1635"/>
          </a:p>
          <a:p>
            <a:pPr marL="228600" marR="0" lvl="0" indent="-178098" algn="l" rtl="0">
              <a:lnSpc>
                <a:spcPct val="100000"/>
              </a:lnSpc>
              <a:spcBef>
                <a:spcPts val="1000"/>
              </a:spcBef>
              <a:spcAft>
                <a:spcPts val="0"/>
              </a:spcAft>
              <a:buClr>
                <a:schemeClr val="dk1"/>
              </a:buClr>
              <a:buSzPct val="100000"/>
              <a:buFont typeface="Arial"/>
              <a:buChar char="•"/>
            </a:pPr>
            <a:r>
              <a:rPr lang="en-US" sz="3435" b="0" i="0" u="none" strike="noStrike" cap="none">
                <a:solidFill>
                  <a:schemeClr val="dk1"/>
                </a:solidFill>
                <a:latin typeface="Arial"/>
                <a:ea typeface="Arial"/>
                <a:cs typeface="Arial"/>
                <a:sym typeface="Arial"/>
              </a:rPr>
              <a:t>Upcoming ‘One AI Assistant’ </a:t>
            </a:r>
            <a:endParaRPr sz="1635"/>
          </a:p>
          <a:p>
            <a:pPr marL="228600" marR="0" lvl="0" indent="-178098" algn="l" rtl="0">
              <a:lnSpc>
                <a:spcPct val="100000"/>
              </a:lnSpc>
              <a:spcBef>
                <a:spcPts val="1000"/>
              </a:spcBef>
              <a:spcAft>
                <a:spcPts val="0"/>
              </a:spcAft>
              <a:buClr>
                <a:schemeClr val="dk1"/>
              </a:buClr>
              <a:buSzPct val="100000"/>
              <a:buFont typeface="Arial"/>
              <a:buChar char="•"/>
            </a:pPr>
            <a:r>
              <a:rPr lang="en-US" sz="3435" b="0" i="0" u="none" strike="noStrike" cap="none">
                <a:solidFill>
                  <a:schemeClr val="dk1"/>
                </a:solidFill>
                <a:latin typeface="Arial"/>
                <a:ea typeface="Arial"/>
                <a:cs typeface="Arial"/>
                <a:sym typeface="Arial"/>
              </a:rPr>
              <a:t>11 Brand names, 10 Product categories, 8 Retailer Type, 4 Distributor type, 1270 </a:t>
            </a:r>
            <a:r>
              <a:rPr lang="en-US" sz="3435">
                <a:solidFill>
                  <a:schemeClr val="dk1"/>
                </a:solidFill>
              </a:rPr>
              <a:t>Retailers</a:t>
            </a:r>
            <a:endParaRPr sz="1635"/>
          </a:p>
          <a:p>
            <a:pPr marL="228600" marR="0" lvl="0" indent="-178098" algn="l" rtl="0">
              <a:lnSpc>
                <a:spcPct val="100000"/>
              </a:lnSpc>
              <a:spcBef>
                <a:spcPts val="1000"/>
              </a:spcBef>
              <a:spcAft>
                <a:spcPts val="0"/>
              </a:spcAft>
              <a:buClr>
                <a:schemeClr val="dk1"/>
              </a:buClr>
              <a:buSzPct val="100000"/>
              <a:buFont typeface="Arial"/>
              <a:buChar char="•"/>
            </a:pPr>
            <a:r>
              <a:rPr lang="en-US" sz="3435" b="0" i="0" u="none" strike="noStrike" cap="none">
                <a:solidFill>
                  <a:schemeClr val="dk1"/>
                </a:solidFill>
                <a:latin typeface="Arial"/>
                <a:ea typeface="Arial"/>
                <a:cs typeface="Arial"/>
                <a:sym typeface="Arial"/>
              </a:rPr>
              <a:t>Subscription model</a:t>
            </a:r>
            <a:endParaRPr sz="3435" b="0" i="0" u="none" strike="noStrike" cap="none">
              <a:solidFill>
                <a:schemeClr val="dk1"/>
              </a:solidFill>
              <a:latin typeface="Arial"/>
              <a:ea typeface="Arial"/>
              <a:cs typeface="Arial"/>
              <a:sym typeface="Arial"/>
            </a:endParaRPr>
          </a:p>
          <a:p>
            <a:pPr marL="228600" marR="0" lvl="0" indent="-178098" algn="l" rtl="0">
              <a:lnSpc>
                <a:spcPct val="100000"/>
              </a:lnSpc>
              <a:spcBef>
                <a:spcPts val="1000"/>
              </a:spcBef>
              <a:spcAft>
                <a:spcPts val="0"/>
              </a:spcAft>
              <a:buClr>
                <a:schemeClr val="dk1"/>
              </a:buClr>
              <a:buSzPct val="100000"/>
              <a:buChar char="•"/>
            </a:pPr>
            <a:r>
              <a:rPr lang="en-US" sz="3435">
                <a:solidFill>
                  <a:schemeClr val="dk1"/>
                </a:solidFill>
                <a:highlight>
                  <a:srgbClr val="FFFF00"/>
                </a:highlight>
              </a:rPr>
              <a:t>Business problem</a:t>
            </a:r>
            <a:endParaRPr sz="3435">
              <a:solidFill>
                <a:schemeClr val="dk1"/>
              </a:solidFill>
              <a:highlight>
                <a:srgbClr val="FFFF00"/>
              </a:highlight>
            </a:endParaRPr>
          </a:p>
          <a:p>
            <a:pPr marL="228600" marR="0" lvl="0" indent="-25400" algn="l" rtl="0">
              <a:lnSpc>
                <a:spcPct val="90000"/>
              </a:lnSpc>
              <a:spcBef>
                <a:spcPts val="1000"/>
              </a:spcBef>
              <a:spcAft>
                <a:spcPts val="0"/>
              </a:spcAft>
              <a:buClr>
                <a:schemeClr val="dk1"/>
              </a:buClr>
              <a:buSzPct val="100000"/>
              <a:buFont typeface="Arial"/>
              <a:buNone/>
            </a:pPr>
            <a:endParaRPr sz="3200" b="0" i="0" u="none" strike="noStrike" cap="none">
              <a:solidFill>
                <a:schemeClr val="dk1"/>
              </a:solidFill>
              <a:latin typeface="Arial"/>
              <a:ea typeface="Arial"/>
              <a:cs typeface="Arial"/>
              <a:sym typeface="Arial"/>
            </a:endParaRPr>
          </a:p>
          <a:p>
            <a:pPr marL="228600" marR="0" lvl="0" indent="-88900" algn="l" rtl="0">
              <a:lnSpc>
                <a:spcPct val="90000"/>
              </a:lnSpc>
              <a:spcBef>
                <a:spcPts val="1000"/>
              </a:spcBef>
              <a:spcAft>
                <a:spcPts val="0"/>
              </a:spcAft>
              <a:buClr>
                <a:schemeClr val="dk1"/>
              </a:buClr>
              <a:buSzPct val="100000"/>
              <a:buFont typeface="Arial"/>
              <a:buNone/>
            </a:pPr>
            <a:endParaRPr sz="2200" b="0" i="0" u="none" strike="noStrike" cap="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347"/>
        <p:cNvGrpSpPr/>
        <p:nvPr/>
      </p:nvGrpSpPr>
      <p:grpSpPr>
        <a:xfrm>
          <a:off x="0" y="0"/>
          <a:ext cx="0" cy="0"/>
          <a:chOff x="0" y="0"/>
          <a:chExt cx="0" cy="0"/>
        </a:xfrm>
      </p:grpSpPr>
      <p:sp>
        <p:nvSpPr>
          <p:cNvPr id="348" name="Google Shape;348;g37a46a85c33_0_29"/>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9" name="Google Shape;349;g37a46a85c33_0_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US" sz="5400"/>
              <a:t>OVERVIEW</a:t>
            </a:r>
            <a:endParaRPr/>
          </a:p>
        </p:txBody>
      </p:sp>
      <p:sp>
        <p:nvSpPr>
          <p:cNvPr id="350" name="Google Shape;350;g37a46a85c33_0_29"/>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51" name="Google Shape;351;g37a46a85c33_0_29" descr="A logo with black and orange letters&#10;&#10;AI-generated content may be incorrect."/>
          <p:cNvPicPr preferRelativeResize="0">
            <a:picLocks noGrp="1"/>
          </p:cNvPicPr>
          <p:nvPr>
            <p:ph type="body" idx="1"/>
          </p:nvPr>
        </p:nvPicPr>
        <p:blipFill rotWithShape="1">
          <a:blip r:embed="rId3">
            <a:alphaModFix/>
          </a:blip>
          <a:srcRect/>
          <a:stretch/>
        </p:blipFill>
        <p:spPr>
          <a:xfrm>
            <a:off x="9218142" y="456073"/>
            <a:ext cx="2356800" cy="796800"/>
          </a:xfrm>
          <a:prstGeom prst="rect">
            <a:avLst/>
          </a:prstGeom>
          <a:noFill/>
          <a:ln>
            <a:noFill/>
          </a:ln>
        </p:spPr>
      </p:pic>
      <p:sp>
        <p:nvSpPr>
          <p:cNvPr id="352" name="Google Shape;352;g37a46a85c33_0_29"/>
          <p:cNvSpPr txBox="1"/>
          <p:nvPr/>
        </p:nvSpPr>
        <p:spPr>
          <a:xfrm>
            <a:off x="838200" y="1929374"/>
            <a:ext cx="10515600" cy="4696500"/>
          </a:xfrm>
          <a:prstGeom prst="rect">
            <a:avLst/>
          </a:prstGeom>
          <a:noFill/>
          <a:ln>
            <a:noFill/>
          </a:ln>
        </p:spPr>
        <p:txBody>
          <a:bodyPr spcFirstLastPara="1" wrap="square" lIns="91425" tIns="45700" rIns="91425" bIns="45700" anchor="t" anchorCtr="0">
            <a:normAutofit fontScale="47500" lnSpcReduction="20000"/>
          </a:bodyPr>
          <a:lstStyle/>
          <a:p>
            <a:pPr marL="228600" marR="0" lvl="0" indent="-228996" algn="l" rtl="0">
              <a:lnSpc>
                <a:spcPct val="100000"/>
              </a:lnSpc>
              <a:spcBef>
                <a:spcPts val="0"/>
              </a:spcBef>
              <a:spcAft>
                <a:spcPts val="0"/>
              </a:spcAft>
              <a:buClr>
                <a:schemeClr val="dk1"/>
              </a:buClr>
              <a:buSzPct val="100000"/>
              <a:buFont typeface="Arial"/>
              <a:buChar char="•"/>
            </a:pPr>
            <a:r>
              <a:rPr lang="en-US" sz="6750" b="1">
                <a:solidFill>
                  <a:srgbClr val="FF9900"/>
                </a:solidFill>
              </a:rPr>
              <a:t>Solution</a:t>
            </a:r>
            <a:r>
              <a:rPr lang="en-US" sz="6750" b="1">
                <a:solidFill>
                  <a:schemeClr val="dk1"/>
                </a:solidFill>
              </a:rPr>
              <a:t> </a:t>
            </a:r>
            <a:br>
              <a:rPr lang="en-US" sz="6750">
                <a:solidFill>
                  <a:schemeClr val="dk1"/>
                </a:solidFill>
              </a:rPr>
            </a:br>
            <a:r>
              <a:rPr lang="en-US" sz="6750">
                <a:solidFill>
                  <a:schemeClr val="dk1"/>
                </a:solidFill>
              </a:rPr>
              <a:t>Perform analytical studies on historical transaction data to: </a:t>
            </a:r>
            <a:endParaRPr sz="6750">
              <a:solidFill>
                <a:schemeClr val="dk1"/>
              </a:solidFill>
            </a:endParaRPr>
          </a:p>
          <a:p>
            <a:pPr marL="914400" marR="0" lvl="0" indent="-432196" algn="l" rtl="0">
              <a:lnSpc>
                <a:spcPct val="100000"/>
              </a:lnSpc>
              <a:spcBef>
                <a:spcPts val="0"/>
              </a:spcBef>
              <a:spcAft>
                <a:spcPts val="0"/>
              </a:spcAft>
              <a:buClr>
                <a:schemeClr val="dk1"/>
              </a:buClr>
              <a:buSzPct val="100000"/>
              <a:buAutoNum type="arabicPeriod"/>
            </a:pPr>
            <a:r>
              <a:rPr lang="en-US" sz="6750">
                <a:solidFill>
                  <a:schemeClr val="dk1"/>
                </a:solidFill>
              </a:rPr>
              <a:t>Identify key specific retailers segments for early retention and re-engagement </a:t>
            </a:r>
            <a:endParaRPr sz="6750">
              <a:solidFill>
                <a:schemeClr val="dk1"/>
              </a:solidFill>
            </a:endParaRPr>
          </a:p>
          <a:p>
            <a:pPr marL="914400" marR="0" lvl="0" indent="-432196" algn="l" rtl="0">
              <a:lnSpc>
                <a:spcPct val="100000"/>
              </a:lnSpc>
              <a:spcBef>
                <a:spcPts val="0"/>
              </a:spcBef>
              <a:spcAft>
                <a:spcPts val="0"/>
              </a:spcAft>
              <a:buClr>
                <a:schemeClr val="dk1"/>
              </a:buClr>
              <a:buSzPct val="100000"/>
              <a:buAutoNum type="arabicPeriod"/>
            </a:pPr>
            <a:r>
              <a:rPr lang="en-US" sz="6750">
                <a:solidFill>
                  <a:schemeClr val="dk1"/>
                </a:solidFill>
              </a:rPr>
              <a:t>Implement strategies to retain high value retailers and increase revenue </a:t>
            </a:r>
            <a:endParaRPr sz="6750">
              <a:solidFill>
                <a:schemeClr val="dk1"/>
              </a:solidFill>
            </a:endParaRPr>
          </a:p>
          <a:p>
            <a:pPr marL="0" marR="0" lvl="0" indent="0" algn="l" rtl="0">
              <a:lnSpc>
                <a:spcPct val="100000"/>
              </a:lnSpc>
              <a:spcBef>
                <a:spcPts val="0"/>
              </a:spcBef>
              <a:spcAft>
                <a:spcPts val="0"/>
              </a:spcAft>
              <a:buNone/>
            </a:pPr>
            <a:endParaRPr sz="6750">
              <a:solidFill>
                <a:schemeClr val="dk1"/>
              </a:solidFill>
            </a:endParaRPr>
          </a:p>
          <a:p>
            <a:pPr marL="228600" marR="0" lvl="0" indent="-228996" algn="l" rtl="0">
              <a:lnSpc>
                <a:spcPct val="100000"/>
              </a:lnSpc>
              <a:spcBef>
                <a:spcPts val="0"/>
              </a:spcBef>
              <a:spcAft>
                <a:spcPts val="0"/>
              </a:spcAft>
              <a:buClr>
                <a:schemeClr val="dk1"/>
              </a:buClr>
              <a:buSzPct val="100000"/>
              <a:buFont typeface="Arial"/>
              <a:buChar char="•"/>
            </a:pPr>
            <a:r>
              <a:rPr lang="en-US" sz="6750" b="1">
                <a:solidFill>
                  <a:schemeClr val="dk1"/>
                </a:solidFill>
              </a:rPr>
              <a:t> </a:t>
            </a:r>
            <a:r>
              <a:rPr lang="en-US" sz="6750" b="1">
                <a:solidFill>
                  <a:srgbClr val="FF9900"/>
                </a:solidFill>
              </a:rPr>
              <a:t>Impact</a:t>
            </a:r>
            <a:r>
              <a:rPr lang="en-US" sz="6750">
                <a:solidFill>
                  <a:schemeClr val="dk1"/>
                </a:solidFill>
              </a:rPr>
              <a:t> </a:t>
            </a:r>
            <a:br>
              <a:rPr lang="en-US" sz="6750">
                <a:solidFill>
                  <a:schemeClr val="dk1"/>
                </a:solidFill>
              </a:rPr>
            </a:br>
            <a:r>
              <a:rPr lang="en-US" sz="6750">
                <a:solidFill>
                  <a:schemeClr val="dk1"/>
                </a:solidFill>
              </a:rPr>
              <a:t>Accelerate Qinet’s growth—leverage technology, deepen retailer partnerships, turn retention into revenue</a:t>
            </a:r>
            <a:endParaRPr sz="6750">
              <a:solidFill>
                <a:schemeClr val="dk1"/>
              </a:solidFill>
            </a:endParaRPr>
          </a:p>
          <a:p>
            <a:pPr marL="139700" marR="0" lvl="0" indent="0" algn="l" rtl="0">
              <a:lnSpc>
                <a:spcPct val="90000"/>
              </a:lnSpc>
              <a:spcBef>
                <a:spcPts val="1000"/>
              </a:spcBef>
              <a:spcAft>
                <a:spcPts val="0"/>
              </a:spcAft>
              <a:buClr>
                <a:schemeClr val="dk1"/>
              </a:buClr>
              <a:buSzPct val="100000"/>
              <a:buFont typeface="Arial"/>
              <a:buNone/>
            </a:pPr>
            <a:endParaRPr sz="22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379461babfd_2_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Loyal Cluster</a:t>
            </a:r>
            <a:endParaRPr/>
          </a:p>
        </p:txBody>
      </p:sp>
      <p:sp>
        <p:nvSpPr>
          <p:cNvPr id="358" name="Google Shape;358;g379461babfd_2_3"/>
          <p:cNvSpPr txBox="1">
            <a:spLocks noGrp="1"/>
          </p:cNvSpPr>
          <p:nvPr>
            <p:ph type="body" idx="1"/>
          </p:nvPr>
        </p:nvSpPr>
        <p:spPr>
          <a:xfrm>
            <a:off x="838200" y="1825625"/>
            <a:ext cx="42963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If 10% of churned customers retained, at 6 months</a:t>
            </a:r>
            <a:endParaRPr/>
          </a:p>
        </p:txBody>
      </p:sp>
      <p:pic>
        <p:nvPicPr>
          <p:cNvPr id="359" name="Google Shape;359;g379461babfd_2_3"/>
          <p:cNvPicPr preferRelativeResize="0"/>
          <p:nvPr/>
        </p:nvPicPr>
        <p:blipFill>
          <a:blip r:embed="rId3">
            <a:alphaModFix/>
          </a:blip>
          <a:stretch>
            <a:fillRect/>
          </a:stretch>
        </p:blipFill>
        <p:spPr>
          <a:xfrm>
            <a:off x="5267089" y="365125"/>
            <a:ext cx="6761412" cy="4379900"/>
          </a:xfrm>
          <a:prstGeom prst="rect">
            <a:avLst/>
          </a:prstGeom>
          <a:noFill/>
          <a:ln>
            <a:noFill/>
          </a:ln>
        </p:spPr>
      </p:pic>
      <p:pic>
        <p:nvPicPr>
          <p:cNvPr id="360" name="Google Shape;360;g379461babfd_2_3"/>
          <p:cNvPicPr preferRelativeResize="0"/>
          <p:nvPr/>
        </p:nvPicPr>
        <p:blipFill rotWithShape="1">
          <a:blip r:embed="rId4">
            <a:alphaModFix/>
          </a:blip>
          <a:srcRect l="7365" t="24032" r="17401" b="24505"/>
          <a:stretch/>
        </p:blipFill>
        <p:spPr>
          <a:xfrm>
            <a:off x="0" y="4385475"/>
            <a:ext cx="9152325" cy="2656075"/>
          </a:xfrm>
          <a:prstGeom prst="rect">
            <a:avLst/>
          </a:prstGeom>
          <a:noFill/>
          <a:ln>
            <a:noFill/>
          </a:ln>
        </p:spPr>
      </p:pic>
      <p:sp>
        <p:nvSpPr>
          <p:cNvPr id="361" name="Google Shape;361;g379461babfd_2_3"/>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5"/>
        <p:cNvGrpSpPr/>
        <p:nvPr/>
      </p:nvGrpSpPr>
      <p:grpSpPr>
        <a:xfrm>
          <a:off x="0" y="0"/>
          <a:ext cx="0" cy="0"/>
          <a:chOff x="0" y="0"/>
          <a:chExt cx="0" cy="0"/>
        </a:xfrm>
      </p:grpSpPr>
      <p:sp>
        <p:nvSpPr>
          <p:cNvPr id="366" name="Google Shape;366;p8"/>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7" name="Google Shape;36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500"/>
              <a:buFont typeface="Play"/>
              <a:buNone/>
            </a:pPr>
            <a:r>
              <a:rPr lang="en-US" sz="3500"/>
              <a:t>SOFT CHURN ANALYSIS – CUSTOMER SEGMENTATION</a:t>
            </a:r>
            <a:endParaRPr/>
          </a:p>
        </p:txBody>
      </p:sp>
      <p:sp>
        <p:nvSpPr>
          <p:cNvPr id="368" name="Google Shape;368;p8"/>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9" name="Google Shape;369;p8"/>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200"/>
              <a:buChar char="•"/>
            </a:pPr>
            <a:r>
              <a:rPr lang="en-US" sz="2200"/>
              <a:t>Based on 90 days</a:t>
            </a:r>
            <a:endParaRPr sz="2200"/>
          </a:p>
          <a:p>
            <a:pPr marL="228600" lvl="0" indent="-228600" algn="l" rtl="0">
              <a:lnSpc>
                <a:spcPct val="90000"/>
              </a:lnSpc>
              <a:spcBef>
                <a:spcPts val="0"/>
              </a:spcBef>
              <a:spcAft>
                <a:spcPts val="0"/>
              </a:spcAft>
              <a:buClr>
                <a:schemeClr val="dk1"/>
              </a:buClr>
              <a:buSzPts val="2200"/>
              <a:buChar char="•"/>
            </a:pPr>
            <a:r>
              <a:rPr lang="en-US" sz="2200"/>
              <a:t>Further Churn analysis was done : Logistic regression (predictors used – R/F/M)), decision tree (focuses on smaller progressive subsets – however lead to overfitting, XGBoost</a:t>
            </a:r>
            <a:endParaRPr sz="2200"/>
          </a:p>
          <a:p>
            <a:pPr marL="228600" lvl="0" indent="-228600" algn="l" rtl="0">
              <a:lnSpc>
                <a:spcPct val="90000"/>
              </a:lnSpc>
              <a:spcBef>
                <a:spcPts val="1000"/>
              </a:spcBef>
              <a:spcAft>
                <a:spcPts val="0"/>
              </a:spcAft>
              <a:buClr>
                <a:schemeClr val="dk1"/>
              </a:buClr>
              <a:buSzPts val="2200"/>
              <a:buChar char="•"/>
            </a:pPr>
            <a:r>
              <a:rPr lang="en-US" sz="2200">
                <a:highlight>
                  <a:srgbClr val="FFFF00"/>
                </a:highlight>
              </a:rPr>
              <a:t>* Insert screenshot of info</a:t>
            </a:r>
            <a:endParaRPr/>
          </a:p>
          <a:p>
            <a:pPr marL="228600" lvl="0" indent="-228600" algn="l" rtl="0">
              <a:lnSpc>
                <a:spcPct val="90000"/>
              </a:lnSpc>
              <a:spcBef>
                <a:spcPts val="1000"/>
              </a:spcBef>
              <a:spcAft>
                <a:spcPts val="0"/>
              </a:spcAft>
              <a:buClr>
                <a:schemeClr val="dk1"/>
              </a:buClr>
              <a:buSzPts val="2200"/>
              <a:buChar char="•"/>
            </a:pPr>
            <a:r>
              <a:rPr lang="en-US" sz="2200"/>
              <a:t>With these info, it was narrowed down to “Others” base on Yr 2024, R, F scores to identify potential churn customers</a:t>
            </a:r>
            <a:endParaRPr/>
          </a:p>
          <a:p>
            <a:pPr marL="228600" lvl="0" indent="-228600" algn="l" rtl="0">
              <a:lnSpc>
                <a:spcPct val="90000"/>
              </a:lnSpc>
              <a:spcBef>
                <a:spcPts val="1000"/>
              </a:spcBef>
              <a:spcAft>
                <a:spcPts val="0"/>
              </a:spcAft>
              <a:buClr>
                <a:schemeClr val="dk1"/>
              </a:buClr>
              <a:buSzPts val="2200"/>
              <a:buChar char="•"/>
            </a:pPr>
            <a:r>
              <a:rPr lang="en-US" sz="2200"/>
              <a:t>Predictive Features were used to further analyze potential cause of reduced engagement“ time since last interaction/ purchases base on quarter period “</a:t>
            </a:r>
            <a:endParaRPr/>
          </a:p>
          <a:p>
            <a:pPr marL="228600" lvl="0" indent="-228600" algn="l" rtl="0">
              <a:lnSpc>
                <a:spcPct val="90000"/>
              </a:lnSpc>
              <a:spcBef>
                <a:spcPts val="1000"/>
              </a:spcBef>
              <a:spcAft>
                <a:spcPts val="0"/>
              </a:spcAft>
              <a:buClr>
                <a:schemeClr val="dk1"/>
              </a:buClr>
              <a:buSzPts val="2200"/>
              <a:buChar char="•"/>
            </a:pPr>
            <a:r>
              <a:rPr lang="en-US" sz="2200"/>
              <a:t>perform a K-means</a:t>
            </a:r>
            <a:endParaRPr/>
          </a:p>
          <a:p>
            <a:pPr marL="228600" lvl="0" indent="-88900" algn="l" rtl="0">
              <a:lnSpc>
                <a:spcPct val="90000"/>
              </a:lnSpc>
              <a:spcBef>
                <a:spcPts val="1000"/>
              </a:spcBef>
              <a:spcAft>
                <a:spcPts val="0"/>
              </a:spcAft>
              <a:buClr>
                <a:schemeClr val="dk1"/>
              </a:buClr>
              <a:buSzPts val="2200"/>
              <a:buNone/>
            </a:pPr>
            <a:endParaRPr sz="2200"/>
          </a:p>
          <a:p>
            <a:pPr marL="228600" lvl="0" indent="-88900" algn="l" rtl="0">
              <a:lnSpc>
                <a:spcPct val="90000"/>
              </a:lnSpc>
              <a:spcBef>
                <a:spcPts val="1000"/>
              </a:spcBef>
              <a:spcAft>
                <a:spcPts val="0"/>
              </a:spcAft>
              <a:buClr>
                <a:schemeClr val="dk1"/>
              </a:buClr>
              <a:buSzPts val="2200"/>
              <a:buNone/>
            </a:pPr>
            <a:endParaRPr sz="2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3"/>
        <p:cNvGrpSpPr/>
        <p:nvPr/>
      </p:nvGrpSpPr>
      <p:grpSpPr>
        <a:xfrm>
          <a:off x="0" y="0"/>
          <a:ext cx="0" cy="0"/>
          <a:chOff x="0" y="0"/>
          <a:chExt cx="0" cy="0"/>
        </a:xfrm>
      </p:grpSpPr>
      <p:sp>
        <p:nvSpPr>
          <p:cNvPr id="374" name="Google Shape;374;p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5" name="Google Shape;37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US" sz="5400"/>
              <a:t>QUESTIONS RAISED</a:t>
            </a:r>
            <a:endParaRPr/>
          </a:p>
        </p:txBody>
      </p:sp>
      <p:sp>
        <p:nvSpPr>
          <p:cNvPr id="376" name="Google Shape;376;p9"/>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7" name="Google Shape;377;p9"/>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sz="2200"/>
              <a:t>Missing info/ data to better fine tune analysis, soft churn analysis and prediction</a:t>
            </a:r>
            <a:endParaRPr/>
          </a:p>
          <a:p>
            <a:pPr marL="228600" lvl="0" indent="-228600" algn="l" rtl="0">
              <a:lnSpc>
                <a:spcPct val="90000"/>
              </a:lnSpc>
              <a:spcBef>
                <a:spcPts val="1000"/>
              </a:spcBef>
              <a:spcAft>
                <a:spcPts val="0"/>
              </a:spcAft>
              <a:buClr>
                <a:schemeClr val="dk1"/>
              </a:buClr>
              <a:buSzPts val="2200"/>
              <a:buChar char="•"/>
            </a:pPr>
            <a:r>
              <a:rPr lang="en-US" sz="2200"/>
              <a:t>The type of subscription model</a:t>
            </a:r>
            <a:endParaRPr/>
          </a:p>
          <a:p>
            <a:pPr marL="228600" lvl="0" indent="-228600" algn="l" rtl="0">
              <a:lnSpc>
                <a:spcPct val="90000"/>
              </a:lnSpc>
              <a:spcBef>
                <a:spcPts val="1000"/>
              </a:spcBef>
              <a:spcAft>
                <a:spcPts val="0"/>
              </a:spcAft>
              <a:buClr>
                <a:schemeClr val="dk1"/>
              </a:buClr>
              <a:buSzPts val="2200"/>
              <a:buChar char="•"/>
            </a:pPr>
            <a:r>
              <a:rPr lang="en-US" sz="2200"/>
              <a:t>Feedback data</a:t>
            </a:r>
            <a:endParaRPr/>
          </a:p>
          <a:p>
            <a:pPr marL="228600" lvl="0" indent="-228600" algn="l" rtl="0">
              <a:lnSpc>
                <a:spcPct val="90000"/>
              </a:lnSpc>
              <a:spcBef>
                <a:spcPts val="1000"/>
              </a:spcBef>
              <a:spcAft>
                <a:spcPts val="0"/>
              </a:spcAft>
              <a:buClr>
                <a:schemeClr val="dk1"/>
              </a:buClr>
              <a:buSzPts val="2200"/>
              <a:buChar char="•"/>
            </a:pPr>
            <a:r>
              <a:rPr lang="en-US" sz="2200"/>
              <a:t>Little info re the sudden exists in 2023 though sales were good</a:t>
            </a:r>
            <a:endParaRPr/>
          </a:p>
          <a:p>
            <a:pPr marL="228600" lvl="0" indent="-228600" algn="l" rtl="0">
              <a:lnSpc>
                <a:spcPct val="90000"/>
              </a:lnSpc>
              <a:spcBef>
                <a:spcPts val="1000"/>
              </a:spcBef>
              <a:spcAft>
                <a:spcPts val="0"/>
              </a:spcAft>
              <a:buClr>
                <a:schemeClr val="dk1"/>
              </a:buClr>
              <a:buSzPts val="2200"/>
              <a:buChar char="•"/>
            </a:pPr>
            <a:r>
              <a:rPr lang="en-US" sz="2200">
                <a:highlight>
                  <a:srgbClr val="FFFF00"/>
                </a:highlight>
              </a:rPr>
              <a:t>* Insert screenshot of info</a:t>
            </a:r>
            <a:endParaRPr/>
          </a:p>
          <a:p>
            <a:pPr marL="228600" lvl="0" indent="-88900" algn="l" rtl="0">
              <a:lnSpc>
                <a:spcPct val="90000"/>
              </a:lnSpc>
              <a:spcBef>
                <a:spcPts val="1000"/>
              </a:spcBef>
              <a:spcAft>
                <a:spcPts val="0"/>
              </a:spcAft>
              <a:buClr>
                <a:schemeClr val="dk1"/>
              </a:buClr>
              <a:buSzPts val="2200"/>
              <a:buFont typeface="Arial"/>
              <a:buNone/>
            </a:pPr>
            <a:endParaRPr sz="2200"/>
          </a:p>
          <a:p>
            <a:pPr marL="228600" lvl="0" indent="-88900" algn="l" rtl="0">
              <a:lnSpc>
                <a:spcPct val="90000"/>
              </a:lnSpc>
              <a:spcBef>
                <a:spcPts val="1000"/>
              </a:spcBef>
              <a:spcAft>
                <a:spcPts val="0"/>
              </a:spcAft>
              <a:buClr>
                <a:schemeClr val="dk1"/>
              </a:buClr>
              <a:buSzPts val="2200"/>
              <a:buFont typeface="Arial"/>
              <a:buNone/>
            </a:pPr>
            <a:endParaRPr sz="2200"/>
          </a:p>
          <a:p>
            <a:pPr marL="228600" lvl="0" indent="-88900" algn="l" rtl="0">
              <a:lnSpc>
                <a:spcPct val="90000"/>
              </a:lnSpc>
              <a:spcBef>
                <a:spcPts val="1000"/>
              </a:spcBef>
              <a:spcAft>
                <a:spcPts val="0"/>
              </a:spcAft>
              <a:buClr>
                <a:schemeClr val="dk1"/>
              </a:buClr>
              <a:buSzPts val="2200"/>
              <a:buFont typeface="Arial"/>
              <a:buNone/>
            </a:pPr>
            <a:endParaRPr sz="2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1"/>
        <p:cNvGrpSpPr/>
        <p:nvPr/>
      </p:nvGrpSpPr>
      <p:grpSpPr>
        <a:xfrm>
          <a:off x="0" y="0"/>
          <a:ext cx="0" cy="0"/>
          <a:chOff x="0" y="0"/>
          <a:chExt cx="0" cy="0"/>
        </a:xfrm>
      </p:grpSpPr>
      <p:sp>
        <p:nvSpPr>
          <p:cNvPr id="382" name="Google Shape;382;p1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83" name="Google Shape;383;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sz="5400"/>
              <a:t>POTENTIAL SOFT CHURN CUSTOMERS</a:t>
            </a:r>
            <a:endParaRPr/>
          </a:p>
        </p:txBody>
      </p:sp>
      <p:sp>
        <p:nvSpPr>
          <p:cNvPr id="384" name="Google Shape;384;p10"/>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85" name="Google Shape;385;p10"/>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sz="2200"/>
              <a:t>Current overview to justify soft churn</a:t>
            </a:r>
            <a:endParaRPr/>
          </a:p>
          <a:p>
            <a:pPr marL="0" lvl="0" indent="0" algn="l" rtl="0">
              <a:lnSpc>
                <a:spcPct val="90000"/>
              </a:lnSpc>
              <a:spcBef>
                <a:spcPts val="1000"/>
              </a:spcBef>
              <a:spcAft>
                <a:spcPts val="0"/>
              </a:spcAft>
              <a:buClr>
                <a:schemeClr val="dk1"/>
              </a:buClr>
              <a:buSzPts val="2200"/>
              <a:buNone/>
            </a:pPr>
            <a:r>
              <a:rPr lang="en-US" sz="2200">
                <a:highlight>
                  <a:srgbClr val="FFFF00"/>
                </a:highlight>
              </a:rPr>
              <a:t>* Insert screenshot of info</a:t>
            </a:r>
            <a:endParaRPr/>
          </a:p>
          <a:p>
            <a:pPr marL="0" lvl="0" indent="0" algn="l" rtl="0">
              <a:lnSpc>
                <a:spcPct val="90000"/>
              </a:lnSpc>
              <a:spcBef>
                <a:spcPts val="1000"/>
              </a:spcBef>
              <a:spcAft>
                <a:spcPts val="0"/>
              </a:spcAft>
              <a:buClr>
                <a:schemeClr val="dk1"/>
              </a:buClr>
              <a:buSzPts val="2200"/>
              <a:buNone/>
            </a:pPr>
            <a:endParaRPr sz="2200"/>
          </a:p>
          <a:p>
            <a:pPr marL="0" lvl="0" indent="0" algn="l" rtl="0">
              <a:lnSpc>
                <a:spcPct val="90000"/>
              </a:lnSpc>
              <a:spcBef>
                <a:spcPts val="1000"/>
              </a:spcBef>
              <a:spcAft>
                <a:spcPts val="0"/>
              </a:spcAft>
              <a:buClr>
                <a:schemeClr val="dk1"/>
              </a:buClr>
              <a:buSzPts val="2200"/>
              <a:buNone/>
            </a:pPr>
            <a:endParaRPr sz="2200"/>
          </a:p>
          <a:p>
            <a:pPr marL="228600" lvl="0" indent="-228600" algn="l" rtl="0">
              <a:lnSpc>
                <a:spcPct val="90000"/>
              </a:lnSpc>
              <a:spcBef>
                <a:spcPts val="1000"/>
              </a:spcBef>
              <a:spcAft>
                <a:spcPts val="0"/>
              </a:spcAft>
              <a:buClr>
                <a:schemeClr val="dk1"/>
              </a:buClr>
              <a:buSzPts val="2200"/>
              <a:buChar char="•"/>
            </a:pPr>
            <a:r>
              <a:rPr lang="en-US" sz="2200"/>
              <a:t>-Customer segmentation &amp; soft churn prediction (perform customer segmentation &amp; build soft churn modelt o predict retailers who will disengage</a:t>
            </a:r>
            <a:endParaRPr/>
          </a:p>
          <a:p>
            <a:pPr marL="228600" lvl="0" indent="-228600" algn="l" rtl="0">
              <a:lnSpc>
                <a:spcPct val="90000"/>
              </a:lnSpc>
              <a:spcBef>
                <a:spcPts val="1000"/>
              </a:spcBef>
              <a:spcAft>
                <a:spcPts val="0"/>
              </a:spcAft>
              <a:buClr>
                <a:schemeClr val="dk1"/>
              </a:buClr>
              <a:buSzPts val="2200"/>
              <a:buChar char="•"/>
            </a:pPr>
            <a:r>
              <a:rPr lang="en-US" sz="2200"/>
              <a:t>Prepare a dashbard to analyse key business performance metricekey analysis quick oversight of churn</a:t>
            </a:r>
            <a:endParaRPr/>
          </a:p>
          <a:p>
            <a:pPr marL="0" lvl="0" indent="0" algn="l" rtl="0">
              <a:lnSpc>
                <a:spcPct val="90000"/>
              </a:lnSpc>
              <a:spcBef>
                <a:spcPts val="1000"/>
              </a:spcBef>
              <a:spcAft>
                <a:spcPts val="0"/>
              </a:spcAft>
              <a:buClr>
                <a:schemeClr val="dk1"/>
              </a:buClr>
              <a:buSzPts val="2200"/>
              <a:buNone/>
            </a:pPr>
            <a:endParaRPr sz="2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9"/>
        <p:cNvGrpSpPr/>
        <p:nvPr/>
      </p:nvGrpSpPr>
      <p:grpSpPr>
        <a:xfrm>
          <a:off x="0" y="0"/>
          <a:ext cx="0" cy="0"/>
          <a:chOff x="0" y="0"/>
          <a:chExt cx="0" cy="0"/>
        </a:xfrm>
      </p:grpSpPr>
      <p:sp>
        <p:nvSpPr>
          <p:cNvPr id="390" name="Google Shape;390;p1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91" name="Google Shape;39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sz="5400"/>
              <a:t>POTENTIAL SOFT CHURN CUSTOMERS</a:t>
            </a:r>
            <a:endParaRPr/>
          </a:p>
        </p:txBody>
      </p:sp>
      <p:sp>
        <p:nvSpPr>
          <p:cNvPr id="392" name="Google Shape;392;p11"/>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93" name="Google Shape;393;p11"/>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endParaRPr sz="2200"/>
          </a:p>
          <a:p>
            <a:pPr marL="228600" lvl="0" indent="-228600" algn="l" rtl="0">
              <a:lnSpc>
                <a:spcPct val="90000"/>
              </a:lnSpc>
              <a:spcBef>
                <a:spcPts val="1000"/>
              </a:spcBef>
              <a:spcAft>
                <a:spcPts val="0"/>
              </a:spcAft>
              <a:buClr>
                <a:schemeClr val="dk1"/>
              </a:buClr>
              <a:buSzPts val="2200"/>
              <a:buChar char="•"/>
            </a:pPr>
            <a:r>
              <a:rPr lang="en-US" sz="2200"/>
              <a:t>Prediction of why this group should be focused on</a:t>
            </a:r>
            <a:endParaRPr/>
          </a:p>
          <a:p>
            <a:pPr marL="228600" lvl="0" indent="-228600" algn="l" rtl="0">
              <a:lnSpc>
                <a:spcPct val="90000"/>
              </a:lnSpc>
              <a:spcBef>
                <a:spcPts val="1000"/>
              </a:spcBef>
              <a:spcAft>
                <a:spcPts val="0"/>
              </a:spcAft>
              <a:buClr>
                <a:schemeClr val="dk1"/>
              </a:buClr>
              <a:buSzPts val="2200"/>
              <a:buChar char="•"/>
            </a:pPr>
            <a:r>
              <a:rPr lang="en-US" sz="2200">
                <a:highlight>
                  <a:srgbClr val="FFFF00"/>
                </a:highlight>
              </a:rPr>
              <a:t>* Insert screenshot of info</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397"/>
        <p:cNvGrpSpPr/>
        <p:nvPr/>
      </p:nvGrpSpPr>
      <p:grpSpPr>
        <a:xfrm>
          <a:off x="0" y="0"/>
          <a:ext cx="0" cy="0"/>
          <a:chOff x="0" y="0"/>
          <a:chExt cx="0" cy="0"/>
        </a:xfrm>
      </p:grpSpPr>
      <p:sp>
        <p:nvSpPr>
          <p:cNvPr id="398" name="Google Shape;398;g37a46a85c33_0_5"/>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99" name="Google Shape;399;g37a46a85c33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860"/>
              <a:buFont typeface="Play"/>
              <a:buNone/>
            </a:pPr>
            <a:r>
              <a:rPr lang="en-US" sz="3900"/>
              <a:t>Kmeans vs RFM</a:t>
            </a:r>
            <a:endParaRPr sz="3900"/>
          </a:p>
        </p:txBody>
      </p:sp>
      <p:sp>
        <p:nvSpPr>
          <p:cNvPr id="400" name="Google Shape;400;g37a46a85c33_0_5"/>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01" name="Google Shape;401;g37a46a85c33_0_5"/>
          <p:cNvSpPr txBox="1">
            <a:spLocks noGrp="1"/>
          </p:cNvSpPr>
          <p:nvPr>
            <p:ph type="body" idx="1"/>
          </p:nvPr>
        </p:nvSpPr>
        <p:spPr>
          <a:xfrm>
            <a:off x="838200" y="1929375"/>
            <a:ext cx="10684800" cy="42519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SzPts val="1800"/>
              <a:buChar char="●"/>
            </a:pPr>
            <a:r>
              <a:rPr lang="en-US"/>
              <a:t>Silhouette score for Kmeans (0.465) is higher than RFM (0.209) </a:t>
            </a:r>
            <a:endParaRPr/>
          </a:p>
          <a:p>
            <a:pPr marL="228600" lvl="0" indent="-228600" algn="l" rtl="0">
              <a:lnSpc>
                <a:spcPct val="100000"/>
              </a:lnSpc>
              <a:spcBef>
                <a:spcPts val="0"/>
              </a:spcBef>
              <a:spcAft>
                <a:spcPts val="0"/>
              </a:spcAft>
              <a:buSzPts val="1800"/>
              <a:buChar char="●"/>
            </a:pPr>
            <a:r>
              <a:rPr lang="en-US"/>
              <a:t>Avg coefficient of variation across for RFM is lower </a:t>
            </a:r>
            <a:endParaRPr/>
          </a:p>
          <a:p>
            <a:pPr marL="228600" lvl="0" indent="-228600" algn="l" rtl="0">
              <a:lnSpc>
                <a:spcPct val="100000"/>
              </a:lnSpc>
              <a:spcBef>
                <a:spcPts val="0"/>
              </a:spcBef>
              <a:spcAft>
                <a:spcPts val="0"/>
              </a:spcAft>
              <a:buSzPts val="1800"/>
              <a:buChar char="●"/>
            </a:pPr>
            <a:r>
              <a:rPr lang="en-US"/>
              <a:t>Chose RFM: </a:t>
            </a:r>
            <a:endParaRPr/>
          </a:p>
          <a:p>
            <a:pPr marL="685800" lvl="1" indent="-228600" algn="l" rtl="0">
              <a:lnSpc>
                <a:spcPct val="100000"/>
              </a:lnSpc>
              <a:spcBef>
                <a:spcPts val="0"/>
              </a:spcBef>
              <a:spcAft>
                <a:spcPts val="0"/>
              </a:spcAft>
              <a:buSzPts val="1800"/>
              <a:buChar char="○"/>
            </a:pPr>
            <a:r>
              <a:rPr lang="en-US"/>
              <a:t>Easy to interpret  </a:t>
            </a:r>
            <a:endParaRPr/>
          </a:p>
          <a:p>
            <a:pPr marL="685800" lvl="1" indent="-228600" algn="l" rtl="0">
              <a:lnSpc>
                <a:spcPct val="100000"/>
              </a:lnSpc>
              <a:spcBef>
                <a:spcPts val="0"/>
              </a:spcBef>
              <a:spcAft>
                <a:spcPts val="0"/>
              </a:spcAft>
              <a:buSzPts val="1800"/>
              <a:buChar char="○"/>
            </a:pPr>
            <a:r>
              <a:rPr lang="en-US"/>
              <a:t>Fast execution </a:t>
            </a:r>
            <a:endParaRPr/>
          </a:p>
          <a:p>
            <a:pPr marL="685800" lvl="1" indent="-228600" algn="l" rtl="0">
              <a:lnSpc>
                <a:spcPct val="100000"/>
              </a:lnSpc>
              <a:spcBef>
                <a:spcPts val="0"/>
              </a:spcBef>
              <a:spcAft>
                <a:spcPts val="0"/>
              </a:spcAft>
              <a:buSzPts val="1800"/>
              <a:buChar char="○"/>
            </a:pPr>
            <a:r>
              <a:rPr lang="en-US"/>
              <a:t>Clearer and more direct next-step action</a:t>
            </a:r>
            <a:endParaRPr/>
          </a:p>
          <a:p>
            <a:pPr marL="685800" lvl="1" indent="-228600" algn="l" rtl="0">
              <a:lnSpc>
                <a:spcPct val="100000"/>
              </a:lnSpc>
              <a:spcBef>
                <a:spcPts val="0"/>
              </a:spcBef>
              <a:spcAft>
                <a:spcPts val="0"/>
              </a:spcAft>
              <a:buSzPts val="1800"/>
              <a:buChar char="○"/>
            </a:pPr>
            <a:r>
              <a:rPr lang="en-US"/>
              <a:t>More robust, stable and easy to reproduce </a:t>
            </a:r>
            <a:endParaRPr/>
          </a:p>
          <a:p>
            <a:pPr marL="0" lvl="0" indent="0" algn="l" rtl="0">
              <a:lnSpc>
                <a:spcPct val="100000"/>
              </a:lnSpc>
              <a:spcBef>
                <a:spcPts val="0"/>
              </a:spcBef>
              <a:spcAft>
                <a:spcPts val="0"/>
              </a:spcAft>
              <a:buClr>
                <a:schemeClr val="dk1"/>
              </a:buClr>
              <a:buSzPts val="2800"/>
              <a:buNone/>
            </a:pPr>
            <a:r>
              <a:rPr lang="en-US">
                <a:highlight>
                  <a:schemeClr val="lt1"/>
                </a:highlight>
              </a:rPr>
              <a:t> </a:t>
            </a:r>
            <a:endParaRPr>
              <a:highlight>
                <a:schemeClr val="lt1"/>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405"/>
        <p:cNvGrpSpPr/>
        <p:nvPr/>
      </p:nvGrpSpPr>
      <p:grpSpPr>
        <a:xfrm>
          <a:off x="0" y="0"/>
          <a:ext cx="0" cy="0"/>
          <a:chOff x="0" y="0"/>
          <a:chExt cx="0" cy="0"/>
        </a:xfrm>
      </p:grpSpPr>
      <p:pic>
        <p:nvPicPr>
          <p:cNvPr id="406" name="Google Shape;406;g379461babfd_2_24"/>
          <p:cNvPicPr preferRelativeResize="0"/>
          <p:nvPr/>
        </p:nvPicPr>
        <p:blipFill rotWithShape="1">
          <a:blip r:embed="rId3">
            <a:alphaModFix/>
          </a:blip>
          <a:srcRect r="7424"/>
          <a:stretch/>
        </p:blipFill>
        <p:spPr>
          <a:xfrm>
            <a:off x="7178425" y="1202653"/>
            <a:ext cx="4764022" cy="5050224"/>
          </a:xfrm>
          <a:prstGeom prst="rect">
            <a:avLst/>
          </a:prstGeom>
          <a:noFill/>
          <a:ln>
            <a:noFill/>
          </a:ln>
        </p:spPr>
      </p:pic>
      <p:sp>
        <p:nvSpPr>
          <p:cNvPr id="407" name="Google Shape;407;g379461babfd_2_24"/>
          <p:cNvSpPr txBox="1">
            <a:spLocks noGrp="1"/>
          </p:cNvSpPr>
          <p:nvPr>
            <p:ph type="title"/>
          </p:nvPr>
        </p:nvSpPr>
        <p:spPr>
          <a:xfrm>
            <a:off x="929100" y="253700"/>
            <a:ext cx="10333800" cy="10062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3900"/>
              <a:t>CUSTOMER SEGMENTATION </a:t>
            </a:r>
            <a:br>
              <a:rPr lang="en-US" sz="3900"/>
            </a:br>
            <a:r>
              <a:rPr lang="en-US" sz="3900"/>
              <a:t>- PROFIT ANALYSIS (OVERALL)</a:t>
            </a:r>
            <a:endParaRPr/>
          </a:p>
        </p:txBody>
      </p:sp>
      <p:graphicFrame>
        <p:nvGraphicFramePr>
          <p:cNvPr id="408" name="Google Shape;408;g379461babfd_2_24"/>
          <p:cNvGraphicFramePr/>
          <p:nvPr/>
        </p:nvGraphicFramePr>
        <p:xfrm>
          <a:off x="270625" y="1634500"/>
          <a:ext cx="3000000" cy="3000000"/>
        </p:xfrm>
        <a:graphic>
          <a:graphicData uri="http://schemas.openxmlformats.org/drawingml/2006/table">
            <a:tbl>
              <a:tblPr>
                <a:noFill/>
                <a:tableStyleId>{22B5A190-04D3-4EA2-AE85-54BD0693BC2F}</a:tableStyleId>
              </a:tblPr>
              <a:tblGrid>
                <a:gridCol w="1504000">
                  <a:extLst>
                    <a:ext uri="{9D8B030D-6E8A-4147-A177-3AD203B41FA5}">
                      <a16:colId xmlns:a16="http://schemas.microsoft.com/office/drawing/2014/main" val="20000"/>
                    </a:ext>
                  </a:extLst>
                </a:gridCol>
                <a:gridCol w="1272575">
                  <a:extLst>
                    <a:ext uri="{9D8B030D-6E8A-4147-A177-3AD203B41FA5}">
                      <a16:colId xmlns:a16="http://schemas.microsoft.com/office/drawing/2014/main" val="20001"/>
                    </a:ext>
                  </a:extLst>
                </a:gridCol>
                <a:gridCol w="1257500">
                  <a:extLst>
                    <a:ext uri="{9D8B030D-6E8A-4147-A177-3AD203B41FA5}">
                      <a16:colId xmlns:a16="http://schemas.microsoft.com/office/drawing/2014/main" val="20002"/>
                    </a:ext>
                  </a:extLst>
                </a:gridCol>
                <a:gridCol w="1275425">
                  <a:extLst>
                    <a:ext uri="{9D8B030D-6E8A-4147-A177-3AD203B41FA5}">
                      <a16:colId xmlns:a16="http://schemas.microsoft.com/office/drawing/2014/main" val="20003"/>
                    </a:ext>
                  </a:extLst>
                </a:gridCol>
                <a:gridCol w="1616375">
                  <a:extLst>
                    <a:ext uri="{9D8B030D-6E8A-4147-A177-3AD203B41FA5}">
                      <a16:colId xmlns:a16="http://schemas.microsoft.com/office/drawing/2014/main" val="20004"/>
                    </a:ext>
                  </a:extLst>
                </a:gridCol>
              </a:tblGrid>
              <a:tr h="783400">
                <a:tc>
                  <a:txBody>
                    <a:bodyPr/>
                    <a:lstStyle/>
                    <a:p>
                      <a:pPr marL="0" lvl="0" indent="0" algn="ctr" rtl="0">
                        <a:lnSpc>
                          <a:spcPct val="115000"/>
                        </a:lnSpc>
                        <a:spcBef>
                          <a:spcPts val="0"/>
                        </a:spcBef>
                        <a:spcAft>
                          <a:spcPts val="0"/>
                        </a:spcAft>
                        <a:buNone/>
                      </a:pPr>
                      <a:r>
                        <a:rPr lang="en-US" sz="2000" b="1"/>
                        <a:t>Segment</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Total Revenue</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Avg Revenue</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Retailers</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1800" b="1"/>
                        <a:t>Contribution %</a:t>
                      </a:r>
                      <a:endParaRPr sz="18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t>Champions</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$50M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$177k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282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51.3%</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2000"/>
                        <a:t>Loyal</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$25M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$184k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136</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25.6%</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2000"/>
                        <a:t>Needs Attention</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$12M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$66k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181</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12.3%</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US" sz="2000"/>
                        <a:t>Potential Loyalists</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$37k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163</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US" sz="2000"/>
                        <a:t>At Risk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$3M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$19k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162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3.0%</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US" sz="2000"/>
                        <a:t>Hibernating</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$1.7M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$5k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346</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1.6%</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412"/>
        <p:cNvGrpSpPr/>
        <p:nvPr/>
      </p:nvGrpSpPr>
      <p:grpSpPr>
        <a:xfrm>
          <a:off x="0" y="0"/>
          <a:ext cx="0" cy="0"/>
          <a:chOff x="0" y="0"/>
          <a:chExt cx="0" cy="0"/>
        </a:xfrm>
      </p:grpSpPr>
      <p:graphicFrame>
        <p:nvGraphicFramePr>
          <p:cNvPr id="413" name="Google Shape;413;g382d17c7edc_3_38"/>
          <p:cNvGraphicFramePr/>
          <p:nvPr/>
        </p:nvGraphicFramePr>
        <p:xfrm>
          <a:off x="270625" y="1634500"/>
          <a:ext cx="3000000" cy="3000000"/>
        </p:xfrm>
        <a:graphic>
          <a:graphicData uri="http://schemas.openxmlformats.org/drawingml/2006/table">
            <a:tbl>
              <a:tblPr>
                <a:noFill/>
                <a:tableStyleId>{22B5A190-04D3-4EA2-AE85-54BD0693BC2F}</a:tableStyleId>
              </a:tblPr>
              <a:tblGrid>
                <a:gridCol w="1504000">
                  <a:extLst>
                    <a:ext uri="{9D8B030D-6E8A-4147-A177-3AD203B41FA5}">
                      <a16:colId xmlns:a16="http://schemas.microsoft.com/office/drawing/2014/main" val="20000"/>
                    </a:ext>
                  </a:extLst>
                </a:gridCol>
                <a:gridCol w="1272575">
                  <a:extLst>
                    <a:ext uri="{9D8B030D-6E8A-4147-A177-3AD203B41FA5}">
                      <a16:colId xmlns:a16="http://schemas.microsoft.com/office/drawing/2014/main" val="20001"/>
                    </a:ext>
                  </a:extLst>
                </a:gridCol>
                <a:gridCol w="1257500">
                  <a:extLst>
                    <a:ext uri="{9D8B030D-6E8A-4147-A177-3AD203B41FA5}">
                      <a16:colId xmlns:a16="http://schemas.microsoft.com/office/drawing/2014/main" val="20002"/>
                    </a:ext>
                  </a:extLst>
                </a:gridCol>
                <a:gridCol w="1275425">
                  <a:extLst>
                    <a:ext uri="{9D8B030D-6E8A-4147-A177-3AD203B41FA5}">
                      <a16:colId xmlns:a16="http://schemas.microsoft.com/office/drawing/2014/main" val="20003"/>
                    </a:ext>
                  </a:extLst>
                </a:gridCol>
                <a:gridCol w="1616375">
                  <a:extLst>
                    <a:ext uri="{9D8B030D-6E8A-4147-A177-3AD203B41FA5}">
                      <a16:colId xmlns:a16="http://schemas.microsoft.com/office/drawing/2014/main" val="20004"/>
                    </a:ext>
                  </a:extLst>
                </a:gridCol>
              </a:tblGrid>
              <a:tr h="783400">
                <a:tc>
                  <a:txBody>
                    <a:bodyPr/>
                    <a:lstStyle/>
                    <a:p>
                      <a:pPr marL="0" lvl="0" indent="0" algn="ctr" rtl="0">
                        <a:lnSpc>
                          <a:spcPct val="115000"/>
                        </a:lnSpc>
                        <a:spcBef>
                          <a:spcPts val="0"/>
                        </a:spcBef>
                        <a:spcAft>
                          <a:spcPts val="0"/>
                        </a:spcAft>
                        <a:buNone/>
                      </a:pPr>
                      <a:r>
                        <a:rPr lang="en-US" sz="2000" b="1"/>
                        <a:t>Segment</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Total Revenue</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Avg Revenue</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2000" b="1"/>
                        <a:t>Retailers</a:t>
                      </a:r>
                      <a:endParaRPr sz="2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US" sz="1800" b="1"/>
                        <a:t>Contribution %</a:t>
                      </a:r>
                      <a:endParaRPr sz="18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2000"/>
                        <a:t>Champions</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$12.5M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$95k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132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52.0%</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2000"/>
                        <a:t>Loyal</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$6.2M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$68k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91</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25.9%</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2000"/>
                        <a:t>Needs Attention</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$3.1M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$27k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115</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12.9%</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US" sz="2000"/>
                        <a:t>Potential Loyalists</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$1.5M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$18k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84</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US" sz="2000"/>
                        <a:t>At Risk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$0.7M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$12k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60</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2.9%</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US" sz="2000"/>
                        <a:t>Hibernating</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$0.2M</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$3k</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72</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000"/>
                        <a:t>0.1%</a:t>
                      </a:r>
                      <a:endParaRPr sz="2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414" name="Google Shape;414;g382d17c7edc_3_38"/>
          <p:cNvPicPr preferRelativeResize="0"/>
          <p:nvPr/>
        </p:nvPicPr>
        <p:blipFill>
          <a:blip r:embed="rId3">
            <a:alphaModFix/>
          </a:blip>
          <a:stretch>
            <a:fillRect/>
          </a:stretch>
        </p:blipFill>
        <p:spPr>
          <a:xfrm>
            <a:off x="7196500" y="1241058"/>
            <a:ext cx="4843100" cy="5050217"/>
          </a:xfrm>
          <a:prstGeom prst="rect">
            <a:avLst/>
          </a:prstGeom>
          <a:noFill/>
          <a:ln>
            <a:noFill/>
          </a:ln>
        </p:spPr>
      </p:pic>
      <p:sp>
        <p:nvSpPr>
          <p:cNvPr id="415" name="Google Shape;415;g382d17c7edc_3_38"/>
          <p:cNvSpPr txBox="1">
            <a:spLocks noGrp="1"/>
          </p:cNvSpPr>
          <p:nvPr>
            <p:ph type="title"/>
          </p:nvPr>
        </p:nvSpPr>
        <p:spPr>
          <a:xfrm>
            <a:off x="929100" y="253700"/>
            <a:ext cx="10333800" cy="10062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3900"/>
              <a:t>CUSTOMER SEGMENTATION </a:t>
            </a:r>
            <a:br>
              <a:rPr lang="en-US" sz="3900"/>
            </a:br>
            <a:r>
              <a:rPr lang="en-US" sz="3900"/>
              <a:t>- PROFIT ANALYSIS (2024)</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419"/>
        <p:cNvGrpSpPr/>
        <p:nvPr/>
      </p:nvGrpSpPr>
      <p:grpSpPr>
        <a:xfrm>
          <a:off x="0" y="0"/>
          <a:ext cx="0" cy="0"/>
          <a:chOff x="0" y="0"/>
          <a:chExt cx="0" cy="0"/>
        </a:xfrm>
      </p:grpSpPr>
      <p:sp>
        <p:nvSpPr>
          <p:cNvPr id="420" name="Google Shape;420;g382d17c7edc_3_23"/>
          <p:cNvSpPr txBox="1">
            <a:spLocks noGrp="1"/>
          </p:cNvSpPr>
          <p:nvPr>
            <p:ph type="title"/>
          </p:nvPr>
        </p:nvSpPr>
        <p:spPr>
          <a:xfrm>
            <a:off x="838200" y="365125"/>
            <a:ext cx="108540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200"/>
              <a:buFont typeface="Play"/>
              <a:buNone/>
            </a:pPr>
            <a:r>
              <a:rPr lang="en-US" sz="3600"/>
              <a:t>CUSTOMER SEGMENTATION - </a:t>
            </a:r>
            <a:r>
              <a:rPr lang="en-US" sz="3600">
                <a:highlight>
                  <a:srgbClr val="D9EAD3"/>
                </a:highlight>
              </a:rPr>
              <a:t>LOYAL</a:t>
            </a:r>
            <a:endParaRPr sz="3600">
              <a:highlight>
                <a:srgbClr val="D9EAD3"/>
              </a:highlight>
            </a:endParaRPr>
          </a:p>
          <a:p>
            <a:pPr marL="0" lvl="0" indent="0" algn="l" rtl="0">
              <a:lnSpc>
                <a:spcPct val="90000"/>
              </a:lnSpc>
              <a:spcBef>
                <a:spcPts val="0"/>
              </a:spcBef>
              <a:spcAft>
                <a:spcPts val="0"/>
              </a:spcAft>
              <a:buClr>
                <a:schemeClr val="dk1"/>
              </a:buClr>
              <a:buSzPts val="4200"/>
              <a:buFont typeface="Play"/>
              <a:buNone/>
            </a:pPr>
            <a:r>
              <a:rPr lang="en-US" sz="3600"/>
              <a:t>REFLECTING RETAILER TYPE</a:t>
            </a:r>
            <a:endParaRPr sz="3600"/>
          </a:p>
        </p:txBody>
      </p:sp>
      <p:sp>
        <p:nvSpPr>
          <p:cNvPr id="421" name="Google Shape;421;g382d17c7edc_3_23"/>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aphicFrame>
        <p:nvGraphicFramePr>
          <p:cNvPr id="422" name="Google Shape;422;g382d17c7edc_3_23"/>
          <p:cNvGraphicFramePr/>
          <p:nvPr/>
        </p:nvGraphicFramePr>
        <p:xfrm>
          <a:off x="583900" y="2490313"/>
          <a:ext cx="3000000" cy="3000000"/>
        </p:xfrm>
        <a:graphic>
          <a:graphicData uri="http://schemas.openxmlformats.org/drawingml/2006/table">
            <a:tbl>
              <a:tblPr>
                <a:noFill/>
                <a:tableStyleId>{22B5A190-04D3-4EA2-AE85-54BD0693BC2F}</a:tableStyleId>
              </a:tblPr>
              <a:tblGrid>
                <a:gridCol w="3081300">
                  <a:extLst>
                    <a:ext uri="{9D8B030D-6E8A-4147-A177-3AD203B41FA5}">
                      <a16:colId xmlns:a16="http://schemas.microsoft.com/office/drawing/2014/main" val="20000"/>
                    </a:ext>
                  </a:extLst>
                </a:gridCol>
                <a:gridCol w="3136825">
                  <a:extLst>
                    <a:ext uri="{9D8B030D-6E8A-4147-A177-3AD203B41FA5}">
                      <a16:colId xmlns:a16="http://schemas.microsoft.com/office/drawing/2014/main" val="20001"/>
                    </a:ext>
                  </a:extLst>
                </a:gridCol>
                <a:gridCol w="4635850">
                  <a:extLst>
                    <a:ext uri="{9D8B030D-6E8A-4147-A177-3AD203B41FA5}">
                      <a16:colId xmlns:a16="http://schemas.microsoft.com/office/drawing/2014/main" val="20002"/>
                    </a:ext>
                  </a:extLst>
                </a:gridCol>
              </a:tblGrid>
              <a:tr h="1018625">
                <a:tc>
                  <a:txBody>
                    <a:bodyPr/>
                    <a:lstStyle/>
                    <a:p>
                      <a:pPr marL="0" lvl="0" indent="0" algn="ctr" rtl="0">
                        <a:lnSpc>
                          <a:spcPct val="115000"/>
                        </a:lnSpc>
                        <a:spcBef>
                          <a:spcPts val="0"/>
                        </a:spcBef>
                        <a:spcAft>
                          <a:spcPts val="0"/>
                        </a:spcAft>
                        <a:buNone/>
                      </a:pPr>
                      <a:r>
                        <a:rPr lang="en-US" sz="2400" b="1"/>
                        <a:t>Segment</a:t>
                      </a:r>
                      <a:endParaRPr sz="24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t>Retailer Type</a:t>
                      </a:r>
                      <a:endParaRPr sz="24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t>Revenue (Invoice Value)</a:t>
                      </a:r>
                      <a:endParaRPr sz="24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47925">
                <a:tc rowSpan="2">
                  <a:txBody>
                    <a:bodyPr/>
                    <a:lstStyle/>
                    <a:p>
                      <a:pPr marL="0" lvl="0" indent="0" algn="l" rtl="0">
                        <a:spcBef>
                          <a:spcPts val="0"/>
                        </a:spcBef>
                        <a:spcAft>
                          <a:spcPts val="0"/>
                        </a:spcAft>
                        <a:buNone/>
                      </a:pPr>
                      <a:r>
                        <a:rPr lang="en-US" sz="2400" b="1"/>
                        <a:t>Loyal</a:t>
                      </a:r>
                      <a:endParaRPr sz="24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400"/>
                        <a:t>CHAIN</a:t>
                      </a:r>
                      <a:endParaRPr sz="24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400"/>
                        <a:t>3,487,655.55</a:t>
                      </a:r>
                      <a:endParaRPr sz="24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47925">
                <a:tc vMerge="1">
                  <a:txBody>
                    <a:bodyPr/>
                    <a:lstStyle/>
                    <a:p>
                      <a:endParaRPr lang="en-US"/>
                    </a:p>
                  </a:txBody>
                  <a:tcPr/>
                </a:tc>
                <a:tc>
                  <a:txBody>
                    <a:bodyPr/>
                    <a:lstStyle/>
                    <a:p>
                      <a:pPr marL="0" lvl="0" indent="0" algn="l" rtl="0">
                        <a:spcBef>
                          <a:spcPts val="0"/>
                        </a:spcBef>
                        <a:spcAft>
                          <a:spcPts val="0"/>
                        </a:spcAft>
                        <a:buNone/>
                      </a:pPr>
                      <a:r>
                        <a:rPr lang="en-US" sz="2400"/>
                        <a:t>INDEPENDENT</a:t>
                      </a:r>
                      <a:endParaRPr sz="24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400"/>
                        <a:t>2,803,744.20</a:t>
                      </a:r>
                      <a:endParaRPr sz="24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426"/>
        <p:cNvGrpSpPr/>
        <p:nvPr/>
      </p:nvGrpSpPr>
      <p:grpSpPr>
        <a:xfrm>
          <a:off x="0" y="0"/>
          <a:ext cx="0" cy="0"/>
          <a:chOff x="0" y="0"/>
          <a:chExt cx="0" cy="0"/>
        </a:xfrm>
      </p:grpSpPr>
      <p:sp>
        <p:nvSpPr>
          <p:cNvPr id="427" name="Google Shape;427;g379461babfd_2_36"/>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28" name="Google Shape;428;g379461babfd_2_36"/>
          <p:cNvSpPr txBox="1">
            <a:spLocks noGrp="1"/>
          </p:cNvSpPr>
          <p:nvPr>
            <p:ph type="title"/>
          </p:nvPr>
        </p:nvSpPr>
        <p:spPr>
          <a:xfrm>
            <a:off x="838200" y="365125"/>
            <a:ext cx="110241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Play"/>
              <a:buNone/>
            </a:pPr>
            <a:r>
              <a:rPr lang="en-US" sz="3600"/>
              <a:t>CUSTOMER SEGMENTATION - </a:t>
            </a:r>
            <a:r>
              <a:rPr lang="en-US" sz="3600">
                <a:highlight>
                  <a:srgbClr val="FCE5CD"/>
                </a:highlight>
              </a:rPr>
              <a:t>NEEDS ATTENTION</a:t>
            </a:r>
            <a:endParaRPr sz="3600">
              <a:highlight>
                <a:srgbClr val="FCE5CD"/>
              </a:highlight>
            </a:endParaRPr>
          </a:p>
          <a:p>
            <a:pPr marL="0" lvl="0" indent="0" algn="l" rtl="0">
              <a:lnSpc>
                <a:spcPct val="90000"/>
              </a:lnSpc>
              <a:spcBef>
                <a:spcPts val="0"/>
              </a:spcBef>
              <a:spcAft>
                <a:spcPts val="0"/>
              </a:spcAft>
              <a:buClr>
                <a:schemeClr val="dk1"/>
              </a:buClr>
              <a:buSzPts val="4200"/>
              <a:buFont typeface="Play"/>
              <a:buNone/>
            </a:pPr>
            <a:r>
              <a:rPr lang="en-US" sz="3600"/>
              <a:t>REFLECTING RETAILER TYPE</a:t>
            </a:r>
            <a:endParaRPr sz="3600"/>
          </a:p>
        </p:txBody>
      </p:sp>
      <p:sp>
        <p:nvSpPr>
          <p:cNvPr id="429" name="Google Shape;429;g379461babfd_2_36"/>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aphicFrame>
        <p:nvGraphicFramePr>
          <p:cNvPr id="430" name="Google Shape;430;g379461babfd_2_36"/>
          <p:cNvGraphicFramePr/>
          <p:nvPr/>
        </p:nvGraphicFramePr>
        <p:xfrm>
          <a:off x="583888" y="2490325"/>
          <a:ext cx="3000000" cy="3000000"/>
        </p:xfrm>
        <a:graphic>
          <a:graphicData uri="http://schemas.openxmlformats.org/drawingml/2006/table">
            <a:tbl>
              <a:tblPr>
                <a:noFill/>
                <a:tableStyleId>{22B5A190-04D3-4EA2-AE85-54BD0693BC2F}</a:tableStyleId>
              </a:tblPr>
              <a:tblGrid>
                <a:gridCol w="3129625">
                  <a:extLst>
                    <a:ext uri="{9D8B030D-6E8A-4147-A177-3AD203B41FA5}">
                      <a16:colId xmlns:a16="http://schemas.microsoft.com/office/drawing/2014/main" val="20000"/>
                    </a:ext>
                  </a:extLst>
                </a:gridCol>
                <a:gridCol w="3186025">
                  <a:extLst>
                    <a:ext uri="{9D8B030D-6E8A-4147-A177-3AD203B41FA5}">
                      <a16:colId xmlns:a16="http://schemas.microsoft.com/office/drawing/2014/main" val="20001"/>
                    </a:ext>
                  </a:extLst>
                </a:gridCol>
                <a:gridCol w="4708550">
                  <a:extLst>
                    <a:ext uri="{9D8B030D-6E8A-4147-A177-3AD203B41FA5}">
                      <a16:colId xmlns:a16="http://schemas.microsoft.com/office/drawing/2014/main" val="20002"/>
                    </a:ext>
                  </a:extLst>
                </a:gridCol>
              </a:tblGrid>
              <a:tr h="991575">
                <a:tc>
                  <a:txBody>
                    <a:bodyPr/>
                    <a:lstStyle/>
                    <a:p>
                      <a:pPr marL="0" lvl="0" indent="0" algn="ctr" rtl="0">
                        <a:lnSpc>
                          <a:spcPct val="115000"/>
                        </a:lnSpc>
                        <a:spcBef>
                          <a:spcPts val="0"/>
                        </a:spcBef>
                        <a:spcAft>
                          <a:spcPts val="0"/>
                        </a:spcAft>
                        <a:buNone/>
                      </a:pPr>
                      <a:r>
                        <a:rPr lang="en-US" sz="2400" b="1"/>
                        <a:t>Segment</a:t>
                      </a:r>
                      <a:endParaRPr sz="24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t>Retailer Type</a:t>
                      </a:r>
                      <a:endParaRPr sz="24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2400" b="1"/>
                        <a:t>Revenue (Invoice Value)</a:t>
                      </a:r>
                      <a:endParaRPr sz="24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34975">
                <a:tc rowSpan="4">
                  <a:txBody>
                    <a:bodyPr/>
                    <a:lstStyle/>
                    <a:p>
                      <a:pPr marL="0" lvl="0" indent="0" algn="l" rtl="0">
                        <a:spcBef>
                          <a:spcPts val="0"/>
                        </a:spcBef>
                        <a:spcAft>
                          <a:spcPts val="0"/>
                        </a:spcAft>
                        <a:buNone/>
                      </a:pPr>
                      <a:r>
                        <a:rPr lang="en-US" sz="2400" b="1"/>
                        <a:t>Needs Attention</a:t>
                      </a:r>
                      <a:endParaRPr sz="24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400"/>
                        <a:t>INDEPENDENT</a:t>
                      </a:r>
                      <a:endParaRPr sz="24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400"/>
                        <a:t>1,093,373.00</a:t>
                      </a:r>
                      <a:endParaRPr sz="24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34975">
                <a:tc vMerge="1">
                  <a:txBody>
                    <a:bodyPr/>
                    <a:lstStyle/>
                    <a:p>
                      <a:endParaRPr lang="en-US"/>
                    </a:p>
                  </a:txBody>
                  <a:tcPr/>
                </a:tc>
                <a:tc>
                  <a:txBody>
                    <a:bodyPr/>
                    <a:lstStyle/>
                    <a:p>
                      <a:pPr marL="0" lvl="0" indent="0" algn="l" rtl="0">
                        <a:spcBef>
                          <a:spcPts val="0"/>
                        </a:spcBef>
                        <a:spcAft>
                          <a:spcPts val="0"/>
                        </a:spcAft>
                        <a:buNone/>
                      </a:pPr>
                      <a:r>
                        <a:rPr lang="en-US" sz="2400"/>
                        <a:t>OTHERS</a:t>
                      </a:r>
                      <a:endParaRPr sz="24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400"/>
                        <a:t>835,812.45</a:t>
                      </a:r>
                      <a:endParaRPr sz="24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34975">
                <a:tc vMerge="1">
                  <a:txBody>
                    <a:bodyPr/>
                    <a:lstStyle/>
                    <a:p>
                      <a:endParaRPr lang="en-US"/>
                    </a:p>
                  </a:txBody>
                  <a:tcPr/>
                </a:tc>
                <a:tc>
                  <a:txBody>
                    <a:bodyPr/>
                    <a:lstStyle/>
                    <a:p>
                      <a:pPr marL="0" lvl="0" indent="0" algn="l" rtl="0">
                        <a:spcBef>
                          <a:spcPts val="0"/>
                        </a:spcBef>
                        <a:spcAft>
                          <a:spcPts val="0"/>
                        </a:spcAft>
                        <a:buNone/>
                      </a:pPr>
                      <a:r>
                        <a:rPr lang="en-US" sz="2400"/>
                        <a:t>CHAIN</a:t>
                      </a:r>
                      <a:endParaRPr sz="24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400"/>
                        <a:t>527,610.25</a:t>
                      </a:r>
                      <a:endParaRPr sz="24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34975">
                <a:tc vMerge="1">
                  <a:txBody>
                    <a:bodyPr/>
                    <a:lstStyle/>
                    <a:p>
                      <a:endParaRPr lang="en-US"/>
                    </a:p>
                  </a:txBody>
                  <a:tcPr/>
                </a:tc>
                <a:tc>
                  <a:txBody>
                    <a:bodyPr/>
                    <a:lstStyle/>
                    <a:p>
                      <a:pPr marL="0" lvl="0" indent="0" algn="l" rtl="0">
                        <a:spcBef>
                          <a:spcPts val="0"/>
                        </a:spcBef>
                        <a:spcAft>
                          <a:spcPts val="0"/>
                        </a:spcAft>
                        <a:buNone/>
                      </a:pPr>
                      <a:r>
                        <a:rPr lang="en-US" sz="2400"/>
                        <a:t>WHOLESALER</a:t>
                      </a:r>
                      <a:endParaRPr sz="24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400"/>
                        <a:t>181,933.60</a:t>
                      </a:r>
                      <a:endParaRPr sz="24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434"/>
        <p:cNvGrpSpPr/>
        <p:nvPr/>
      </p:nvGrpSpPr>
      <p:grpSpPr>
        <a:xfrm>
          <a:off x="0" y="0"/>
          <a:ext cx="0" cy="0"/>
          <a:chOff x="0" y="0"/>
          <a:chExt cx="0" cy="0"/>
        </a:xfrm>
      </p:grpSpPr>
      <p:sp>
        <p:nvSpPr>
          <p:cNvPr id="435" name="Google Shape;435;g37b1e9927e7_0_0"/>
          <p:cNvSpPr txBox="1">
            <a:spLocks noGrp="1"/>
          </p:cNvSpPr>
          <p:nvPr>
            <p:ph type="title"/>
          </p:nvPr>
        </p:nvSpPr>
        <p:spPr>
          <a:xfrm>
            <a:off x="838200" y="365125"/>
            <a:ext cx="10854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Play"/>
              <a:buNone/>
            </a:pPr>
            <a:r>
              <a:rPr lang="en-US" sz="3400"/>
              <a:t>PREDICTIVE MODELS EXPLORED</a:t>
            </a:r>
            <a:endParaRPr sz="3600"/>
          </a:p>
        </p:txBody>
      </p:sp>
      <p:sp>
        <p:nvSpPr>
          <p:cNvPr id="436" name="Google Shape;436;g37b1e9927e7_0_0"/>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37" name="Google Shape;437;g37b1e9927e7_0_0"/>
          <p:cNvPicPr preferRelativeResize="0"/>
          <p:nvPr/>
        </p:nvPicPr>
        <p:blipFill rotWithShape="1">
          <a:blip r:embed="rId3">
            <a:alphaModFix/>
          </a:blip>
          <a:srcRect t="3370" b="9748"/>
          <a:stretch/>
        </p:blipFill>
        <p:spPr>
          <a:xfrm>
            <a:off x="953014" y="-5321000"/>
            <a:ext cx="10624373" cy="5598100"/>
          </a:xfrm>
          <a:prstGeom prst="rect">
            <a:avLst/>
          </a:prstGeom>
          <a:noFill/>
          <a:ln>
            <a:noFill/>
          </a:ln>
        </p:spPr>
      </p:pic>
      <p:sp>
        <p:nvSpPr>
          <p:cNvPr id="438" name="Google Shape;438;g37b1e9927e7_0_0"/>
          <p:cNvSpPr/>
          <p:nvPr/>
        </p:nvSpPr>
        <p:spPr>
          <a:xfrm>
            <a:off x="1762675" y="3967025"/>
            <a:ext cx="21555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439" name="Google Shape;439;g37b1e9927e7_0_0"/>
          <p:cNvGrpSpPr/>
          <p:nvPr/>
        </p:nvGrpSpPr>
        <p:grpSpPr>
          <a:xfrm>
            <a:off x="190675" y="3579031"/>
            <a:ext cx="2872728" cy="2530545"/>
            <a:chOff x="571542" y="1957169"/>
            <a:chExt cx="2154600" cy="1897956"/>
          </a:xfrm>
        </p:grpSpPr>
        <p:sp>
          <p:nvSpPr>
            <p:cNvPr id="440" name="Google Shape;440;g37b1e9927e7_0_0"/>
            <p:cNvSpPr/>
            <p:nvPr/>
          </p:nvSpPr>
          <p:spPr>
            <a:xfrm>
              <a:off x="1151886" y="1957169"/>
              <a:ext cx="594300" cy="594300"/>
            </a:xfrm>
            <a:prstGeom prst="ellipse">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41" name="Google Shape;441;g37b1e9927e7_0_0"/>
            <p:cNvSpPr txBox="1"/>
            <p:nvPr/>
          </p:nvSpPr>
          <p:spPr>
            <a:xfrm>
              <a:off x="1230636" y="2034247"/>
              <a:ext cx="436800" cy="3210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2400" b="1">
                  <a:solidFill>
                    <a:srgbClr val="A7291E"/>
                  </a:solidFill>
                  <a:latin typeface="Roboto"/>
                  <a:ea typeface="Roboto"/>
                  <a:cs typeface="Roboto"/>
                  <a:sym typeface="Roboto"/>
                </a:rPr>
                <a:t>1</a:t>
              </a:r>
              <a:endParaRPr sz="2400" b="1">
                <a:solidFill>
                  <a:srgbClr val="A7291E"/>
                </a:solidFill>
                <a:latin typeface="Roboto"/>
                <a:ea typeface="Roboto"/>
                <a:cs typeface="Roboto"/>
                <a:sym typeface="Roboto"/>
              </a:endParaRPr>
            </a:p>
          </p:txBody>
        </p:sp>
        <p:sp>
          <p:nvSpPr>
            <p:cNvPr id="442" name="Google Shape;442;g37b1e9927e7_0_0"/>
            <p:cNvSpPr txBox="1"/>
            <p:nvPr/>
          </p:nvSpPr>
          <p:spPr>
            <a:xfrm>
              <a:off x="594488" y="2660925"/>
              <a:ext cx="1709100" cy="446400"/>
            </a:xfrm>
            <a:prstGeom prst="rect">
              <a:avLst/>
            </a:prstGeom>
            <a:noFill/>
            <a:ln>
              <a:noFill/>
            </a:ln>
          </p:spPr>
          <p:txBody>
            <a:bodyPr spcFirstLastPara="1" wrap="square" lIns="121900" tIns="121900" rIns="121900" bIns="121900" anchor="b" anchorCtr="0">
              <a:noAutofit/>
            </a:bodyPr>
            <a:lstStyle/>
            <a:p>
              <a:pPr marL="0" lvl="0" indent="0" algn="ctr" rtl="0">
                <a:lnSpc>
                  <a:spcPct val="115000"/>
                </a:lnSpc>
                <a:spcBef>
                  <a:spcPts val="0"/>
                </a:spcBef>
                <a:spcAft>
                  <a:spcPts val="0"/>
                </a:spcAft>
                <a:buNone/>
              </a:pPr>
              <a:r>
                <a:rPr lang="en-US" sz="1300" b="1">
                  <a:solidFill>
                    <a:srgbClr val="A7291E"/>
                  </a:solidFill>
                  <a:latin typeface="Roboto"/>
                  <a:ea typeface="Roboto"/>
                  <a:cs typeface="Roboto"/>
                  <a:sym typeface="Roboto"/>
                </a:rPr>
                <a:t>Feature Assembly</a:t>
              </a:r>
              <a:endParaRPr sz="1300" b="1">
                <a:solidFill>
                  <a:srgbClr val="A7291E"/>
                </a:solidFill>
                <a:latin typeface="Roboto"/>
                <a:ea typeface="Roboto"/>
                <a:cs typeface="Roboto"/>
                <a:sym typeface="Roboto"/>
              </a:endParaRPr>
            </a:p>
          </p:txBody>
        </p:sp>
        <p:sp>
          <p:nvSpPr>
            <p:cNvPr id="443" name="Google Shape;443;g37b1e9927e7_0_0"/>
            <p:cNvSpPr txBox="1"/>
            <p:nvPr/>
          </p:nvSpPr>
          <p:spPr>
            <a:xfrm>
              <a:off x="571542" y="3117725"/>
              <a:ext cx="2154600" cy="7374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2100"/>
                </a:spcAft>
                <a:buNone/>
              </a:pPr>
              <a:r>
                <a:rPr lang="en-US" sz="1100">
                  <a:solidFill>
                    <a:srgbClr val="A7291E"/>
                  </a:solidFill>
                  <a:highlight>
                    <a:schemeClr val="lt2"/>
                  </a:highlight>
                  <a:latin typeface="Roboto"/>
                  <a:ea typeface="Roboto"/>
                  <a:cs typeface="Roboto"/>
                  <a:sym typeface="Roboto"/>
                </a:rPr>
                <a:t>avg_gap</a:t>
              </a:r>
              <a:r>
                <a:rPr lang="en-US" sz="1100">
                  <a:solidFill>
                    <a:srgbClr val="A7291E"/>
                  </a:solidFill>
                  <a:latin typeface="Roboto"/>
                  <a:ea typeface="Roboto"/>
                  <a:cs typeface="Roboto"/>
                  <a:sym typeface="Roboto"/>
                </a:rPr>
                <a:t> - average gap between purchases</a:t>
              </a:r>
              <a:br>
                <a:rPr lang="en-US" sz="1100">
                  <a:solidFill>
                    <a:srgbClr val="A7291E"/>
                  </a:solidFill>
                  <a:latin typeface="Roboto"/>
                  <a:ea typeface="Roboto"/>
                  <a:cs typeface="Roboto"/>
                  <a:sym typeface="Roboto"/>
                </a:rPr>
              </a:br>
              <a:r>
                <a:rPr lang="en-US" sz="1100">
                  <a:solidFill>
                    <a:srgbClr val="A7291E"/>
                  </a:solidFill>
                  <a:highlight>
                    <a:schemeClr val="lt2"/>
                  </a:highlight>
                  <a:latin typeface="Roboto"/>
                  <a:ea typeface="Roboto"/>
                  <a:cs typeface="Roboto"/>
                  <a:sym typeface="Roboto"/>
                </a:rPr>
                <a:t>threshold</a:t>
              </a:r>
              <a:r>
                <a:rPr lang="en-US" sz="1100">
                  <a:solidFill>
                    <a:srgbClr val="A7291E"/>
                  </a:solidFill>
                  <a:latin typeface="Roboto"/>
                  <a:ea typeface="Roboto"/>
                  <a:cs typeface="Roboto"/>
                  <a:sym typeface="Roboto"/>
                </a:rPr>
                <a:t> = 3 * avg_gap</a:t>
              </a:r>
              <a:br>
                <a:rPr lang="en-US" sz="1100">
                  <a:solidFill>
                    <a:srgbClr val="A7291E"/>
                  </a:solidFill>
                  <a:latin typeface="Roboto"/>
                  <a:ea typeface="Roboto"/>
                  <a:cs typeface="Roboto"/>
                  <a:sym typeface="Roboto"/>
                </a:rPr>
              </a:br>
              <a:r>
                <a:rPr lang="en-US" sz="1100">
                  <a:solidFill>
                    <a:srgbClr val="A7291E"/>
                  </a:solidFill>
                  <a:highlight>
                    <a:schemeClr val="lt2"/>
                  </a:highlight>
                  <a:latin typeface="Roboto"/>
                  <a:ea typeface="Roboto"/>
                  <a:cs typeface="Roboto"/>
                  <a:sym typeface="Roboto"/>
                </a:rPr>
                <a:t>soft_churn_label</a:t>
              </a:r>
              <a:r>
                <a:rPr lang="en-US" sz="1100">
                  <a:solidFill>
                    <a:srgbClr val="A7291E"/>
                  </a:solidFill>
                  <a:latin typeface="Roboto"/>
                  <a:ea typeface="Roboto"/>
                  <a:cs typeface="Roboto"/>
                  <a:sym typeface="Roboto"/>
                </a:rPr>
                <a:t> = Binary label indicating churn status, based on the 3× average purchase interval rule.</a:t>
              </a:r>
              <a:endParaRPr sz="1100">
                <a:solidFill>
                  <a:srgbClr val="A7291E"/>
                </a:solidFill>
                <a:latin typeface="Roboto"/>
                <a:ea typeface="Roboto"/>
                <a:cs typeface="Roboto"/>
                <a:sym typeface="Roboto"/>
              </a:endParaRPr>
            </a:p>
          </p:txBody>
        </p:sp>
      </p:grpSp>
      <p:grpSp>
        <p:nvGrpSpPr>
          <p:cNvPr id="444" name="Google Shape;444;g37b1e9927e7_0_0"/>
          <p:cNvGrpSpPr/>
          <p:nvPr/>
        </p:nvGrpSpPr>
        <p:grpSpPr>
          <a:xfrm>
            <a:off x="3175928" y="3579018"/>
            <a:ext cx="2278747" cy="2530573"/>
            <a:chOff x="2699423" y="1957150"/>
            <a:chExt cx="1709103" cy="1897977"/>
          </a:xfrm>
        </p:grpSpPr>
        <p:sp>
          <p:nvSpPr>
            <p:cNvPr id="445" name="Google Shape;445;g37b1e9927e7_0_0"/>
            <p:cNvSpPr/>
            <p:nvPr/>
          </p:nvSpPr>
          <p:spPr>
            <a:xfrm>
              <a:off x="3256823" y="1957150"/>
              <a:ext cx="594300" cy="594300"/>
            </a:xfrm>
            <a:prstGeom prst="ellipse">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46" name="Google Shape;446;g37b1e9927e7_0_0"/>
            <p:cNvSpPr txBox="1"/>
            <p:nvPr/>
          </p:nvSpPr>
          <p:spPr>
            <a:xfrm>
              <a:off x="2699425" y="2660925"/>
              <a:ext cx="1709100" cy="446400"/>
            </a:xfrm>
            <a:prstGeom prst="rect">
              <a:avLst/>
            </a:prstGeom>
            <a:noFill/>
            <a:ln>
              <a:noFill/>
            </a:ln>
          </p:spPr>
          <p:txBody>
            <a:bodyPr spcFirstLastPara="1" wrap="square" lIns="121900" tIns="121900" rIns="121900" bIns="121900" anchor="b" anchorCtr="0">
              <a:noAutofit/>
            </a:bodyPr>
            <a:lstStyle/>
            <a:p>
              <a:pPr marL="0" lvl="0" indent="0" algn="ctr" rtl="0">
                <a:lnSpc>
                  <a:spcPct val="115000"/>
                </a:lnSpc>
                <a:spcBef>
                  <a:spcPts val="0"/>
                </a:spcBef>
                <a:spcAft>
                  <a:spcPts val="0"/>
                </a:spcAft>
                <a:buNone/>
              </a:pPr>
              <a:r>
                <a:rPr lang="en-US" sz="1300" b="1">
                  <a:solidFill>
                    <a:srgbClr val="A7291E"/>
                  </a:solidFill>
                  <a:latin typeface="Roboto"/>
                  <a:ea typeface="Roboto"/>
                  <a:cs typeface="Roboto"/>
                  <a:sym typeface="Roboto"/>
                </a:rPr>
                <a:t>Train / Test Split</a:t>
              </a:r>
              <a:endParaRPr sz="1300" b="1">
                <a:solidFill>
                  <a:srgbClr val="A7291E"/>
                </a:solidFill>
                <a:latin typeface="Roboto"/>
                <a:ea typeface="Roboto"/>
                <a:cs typeface="Roboto"/>
                <a:sym typeface="Roboto"/>
              </a:endParaRPr>
            </a:p>
          </p:txBody>
        </p:sp>
        <p:sp>
          <p:nvSpPr>
            <p:cNvPr id="447" name="Google Shape;447;g37b1e9927e7_0_0"/>
            <p:cNvSpPr txBox="1"/>
            <p:nvPr/>
          </p:nvSpPr>
          <p:spPr>
            <a:xfrm>
              <a:off x="2699423" y="3117727"/>
              <a:ext cx="1709100" cy="7374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100">
                  <a:solidFill>
                    <a:srgbClr val="A7291E"/>
                  </a:solidFill>
                  <a:latin typeface="Roboto"/>
                  <a:ea typeface="Roboto"/>
                  <a:cs typeface="Roboto"/>
                  <a:sym typeface="Roboto"/>
                </a:rPr>
                <a:t>20% test, 80% train</a:t>
              </a:r>
              <a:endParaRPr sz="1100">
                <a:solidFill>
                  <a:srgbClr val="A7291E"/>
                </a:solidFill>
                <a:latin typeface="Roboto"/>
                <a:ea typeface="Roboto"/>
                <a:cs typeface="Roboto"/>
                <a:sym typeface="Roboto"/>
              </a:endParaRPr>
            </a:p>
          </p:txBody>
        </p:sp>
        <p:sp>
          <p:nvSpPr>
            <p:cNvPr id="448" name="Google Shape;448;g37b1e9927e7_0_0"/>
            <p:cNvSpPr txBox="1"/>
            <p:nvPr/>
          </p:nvSpPr>
          <p:spPr>
            <a:xfrm>
              <a:off x="3329873" y="2032447"/>
              <a:ext cx="436800" cy="3210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2400" b="1">
                  <a:solidFill>
                    <a:srgbClr val="A7291E"/>
                  </a:solidFill>
                  <a:latin typeface="Roboto"/>
                  <a:ea typeface="Roboto"/>
                  <a:cs typeface="Roboto"/>
                  <a:sym typeface="Roboto"/>
                </a:rPr>
                <a:t>2</a:t>
              </a:r>
              <a:endParaRPr sz="2400" b="1">
                <a:solidFill>
                  <a:srgbClr val="A7291E"/>
                </a:solidFill>
                <a:latin typeface="Roboto"/>
                <a:ea typeface="Roboto"/>
                <a:cs typeface="Roboto"/>
                <a:sym typeface="Roboto"/>
              </a:endParaRPr>
            </a:p>
          </p:txBody>
        </p:sp>
      </p:grpSp>
      <p:sp>
        <p:nvSpPr>
          <p:cNvPr id="449" name="Google Shape;449;g37b1e9927e7_0_0"/>
          <p:cNvSpPr/>
          <p:nvPr/>
        </p:nvSpPr>
        <p:spPr>
          <a:xfrm>
            <a:off x="6580575" y="2459075"/>
            <a:ext cx="2134800" cy="55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858585"/>
                </a:solidFill>
                <a:latin typeface="Roboto"/>
                <a:ea typeface="Roboto"/>
                <a:cs typeface="Roboto"/>
                <a:sym typeface="Roboto"/>
              </a:rPr>
              <a:t>Linear Regression</a:t>
            </a:r>
            <a:endParaRPr/>
          </a:p>
        </p:txBody>
      </p:sp>
      <p:grpSp>
        <p:nvGrpSpPr>
          <p:cNvPr id="450" name="Google Shape;450;g37b1e9927e7_0_0"/>
          <p:cNvGrpSpPr/>
          <p:nvPr/>
        </p:nvGrpSpPr>
        <p:grpSpPr>
          <a:xfrm>
            <a:off x="9151090" y="3579018"/>
            <a:ext cx="2278746" cy="2530573"/>
            <a:chOff x="6863386" y="1957150"/>
            <a:chExt cx="1709102" cy="1897977"/>
          </a:xfrm>
        </p:grpSpPr>
        <p:sp>
          <p:nvSpPr>
            <p:cNvPr id="451" name="Google Shape;451;g37b1e9927e7_0_0"/>
            <p:cNvSpPr/>
            <p:nvPr/>
          </p:nvSpPr>
          <p:spPr>
            <a:xfrm>
              <a:off x="7420786" y="1957150"/>
              <a:ext cx="594300" cy="594300"/>
            </a:xfrm>
            <a:prstGeom prst="ellipse">
              <a:avLst/>
            </a:prstGeom>
            <a:noFill/>
            <a:ln w="50800" cap="flat" cmpd="sng">
              <a:solidFill>
                <a:srgbClr val="858585"/>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2" name="Google Shape;452;g37b1e9927e7_0_0"/>
            <p:cNvSpPr txBox="1"/>
            <p:nvPr/>
          </p:nvSpPr>
          <p:spPr>
            <a:xfrm>
              <a:off x="6863388" y="2660925"/>
              <a:ext cx="1709100" cy="446400"/>
            </a:xfrm>
            <a:prstGeom prst="rect">
              <a:avLst/>
            </a:prstGeom>
            <a:noFill/>
            <a:ln>
              <a:noFill/>
            </a:ln>
          </p:spPr>
          <p:txBody>
            <a:bodyPr spcFirstLastPara="1" wrap="square" lIns="121900" tIns="121900" rIns="121900" bIns="121900" anchor="b" anchorCtr="0">
              <a:noAutofit/>
            </a:bodyPr>
            <a:lstStyle/>
            <a:p>
              <a:pPr marL="0" lvl="0" indent="0" algn="ctr" rtl="0">
                <a:lnSpc>
                  <a:spcPct val="115000"/>
                </a:lnSpc>
                <a:spcBef>
                  <a:spcPts val="0"/>
                </a:spcBef>
                <a:spcAft>
                  <a:spcPts val="0"/>
                </a:spcAft>
                <a:buNone/>
              </a:pPr>
              <a:r>
                <a:rPr lang="en-US" sz="1300" b="1">
                  <a:solidFill>
                    <a:srgbClr val="858585"/>
                  </a:solidFill>
                  <a:latin typeface="Roboto"/>
                  <a:ea typeface="Roboto"/>
                  <a:cs typeface="Roboto"/>
                  <a:sym typeface="Roboto"/>
                </a:rPr>
                <a:t>Forecasting</a:t>
              </a:r>
              <a:endParaRPr sz="1300" b="1">
                <a:solidFill>
                  <a:srgbClr val="858585"/>
                </a:solidFill>
                <a:latin typeface="Roboto"/>
                <a:ea typeface="Roboto"/>
                <a:cs typeface="Roboto"/>
                <a:sym typeface="Roboto"/>
              </a:endParaRPr>
            </a:p>
          </p:txBody>
        </p:sp>
        <p:sp>
          <p:nvSpPr>
            <p:cNvPr id="453" name="Google Shape;453;g37b1e9927e7_0_0"/>
            <p:cNvSpPr txBox="1"/>
            <p:nvPr/>
          </p:nvSpPr>
          <p:spPr>
            <a:xfrm>
              <a:off x="6863386" y="3117727"/>
              <a:ext cx="1709100" cy="7374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100">
                  <a:solidFill>
                    <a:srgbClr val="858585"/>
                  </a:solidFill>
                  <a:latin typeface="Roboto"/>
                  <a:ea typeface="Roboto"/>
                  <a:cs typeface="Roboto"/>
                  <a:sym typeface="Roboto"/>
                </a:rPr>
                <a:t>revenue forecast??</a:t>
              </a:r>
              <a:endParaRPr sz="1100">
                <a:solidFill>
                  <a:srgbClr val="858585"/>
                </a:solidFill>
                <a:latin typeface="Roboto"/>
                <a:ea typeface="Roboto"/>
                <a:cs typeface="Roboto"/>
                <a:sym typeface="Roboto"/>
              </a:endParaRPr>
            </a:p>
          </p:txBody>
        </p:sp>
        <p:sp>
          <p:nvSpPr>
            <p:cNvPr id="454" name="Google Shape;454;g37b1e9927e7_0_0"/>
            <p:cNvSpPr txBox="1"/>
            <p:nvPr/>
          </p:nvSpPr>
          <p:spPr>
            <a:xfrm>
              <a:off x="7499536" y="2118324"/>
              <a:ext cx="436800" cy="3210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100" b="1">
                  <a:solidFill>
                    <a:srgbClr val="858585"/>
                  </a:solidFill>
                  <a:latin typeface="Roboto"/>
                  <a:ea typeface="Roboto"/>
                  <a:cs typeface="Roboto"/>
                  <a:sym typeface="Roboto"/>
                </a:rPr>
                <a:t>20XX</a:t>
              </a:r>
              <a:endParaRPr sz="1100" b="1">
                <a:solidFill>
                  <a:srgbClr val="858585"/>
                </a:solidFill>
                <a:latin typeface="Roboto"/>
                <a:ea typeface="Roboto"/>
                <a:cs typeface="Roboto"/>
                <a:sym typeface="Roboto"/>
              </a:endParaRPr>
            </a:p>
          </p:txBody>
        </p:sp>
      </p:grpSp>
      <p:sp>
        <p:nvSpPr>
          <p:cNvPr id="455" name="Google Shape;455;g37b1e9927e7_0_0"/>
          <p:cNvSpPr/>
          <p:nvPr/>
        </p:nvSpPr>
        <p:spPr>
          <a:xfrm>
            <a:off x="8722421" y="3966450"/>
            <a:ext cx="11583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6" name="Google Shape;456;g37b1e9927e7_0_0"/>
          <p:cNvSpPr/>
          <p:nvPr/>
        </p:nvSpPr>
        <p:spPr>
          <a:xfrm>
            <a:off x="5788263" y="3967023"/>
            <a:ext cx="7923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7" name="Google Shape;457;g37b1e9927e7_0_0"/>
          <p:cNvSpPr/>
          <p:nvPr/>
        </p:nvSpPr>
        <p:spPr>
          <a:xfrm>
            <a:off x="5788275" y="5223413"/>
            <a:ext cx="7923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8" name="Google Shape;458;g37b1e9927e7_0_0"/>
          <p:cNvSpPr/>
          <p:nvPr/>
        </p:nvSpPr>
        <p:spPr>
          <a:xfrm>
            <a:off x="5788263" y="2710633"/>
            <a:ext cx="7923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9" name="Google Shape;459;g37b1e9927e7_0_0"/>
          <p:cNvSpPr/>
          <p:nvPr/>
        </p:nvSpPr>
        <p:spPr>
          <a:xfrm rot="5400000">
            <a:off x="4532475" y="3966438"/>
            <a:ext cx="25608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60" name="Google Shape;460;g37b1e9927e7_0_0"/>
          <p:cNvSpPr/>
          <p:nvPr/>
        </p:nvSpPr>
        <p:spPr>
          <a:xfrm>
            <a:off x="6580575" y="4970725"/>
            <a:ext cx="2134800" cy="55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858585"/>
                </a:solidFill>
                <a:latin typeface="Roboto"/>
                <a:ea typeface="Roboto"/>
                <a:cs typeface="Roboto"/>
                <a:sym typeface="Roboto"/>
              </a:rPr>
              <a:t>Decision Tree</a:t>
            </a:r>
            <a:endParaRPr/>
          </a:p>
        </p:txBody>
      </p:sp>
      <p:sp>
        <p:nvSpPr>
          <p:cNvPr id="461" name="Google Shape;461;g37b1e9927e7_0_0"/>
          <p:cNvSpPr/>
          <p:nvPr/>
        </p:nvSpPr>
        <p:spPr>
          <a:xfrm>
            <a:off x="6580575" y="3714900"/>
            <a:ext cx="2134800" cy="552300"/>
          </a:xfrm>
          <a:prstGeom prst="roundRect">
            <a:avLst>
              <a:gd name="adj" fmla="val 16667"/>
            </a:avLst>
          </a:prstGeom>
          <a:noFill/>
          <a:ln w="508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None/>
            </a:pPr>
            <a:r>
              <a:rPr lang="en-US" sz="1300" b="1">
                <a:solidFill>
                  <a:srgbClr val="858585"/>
                </a:solidFill>
                <a:latin typeface="Roboto"/>
                <a:ea typeface="Roboto"/>
                <a:cs typeface="Roboto"/>
                <a:sym typeface="Roboto"/>
              </a:rPr>
              <a:t>XGBoost</a:t>
            </a:r>
            <a:endParaRPr/>
          </a:p>
        </p:txBody>
      </p:sp>
      <p:sp>
        <p:nvSpPr>
          <p:cNvPr id="462" name="Google Shape;462;g37b1e9927e7_0_0"/>
          <p:cNvSpPr/>
          <p:nvPr/>
        </p:nvSpPr>
        <p:spPr>
          <a:xfrm>
            <a:off x="4697545" y="3967025"/>
            <a:ext cx="1210500" cy="492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63" name="Google Shape;463;g37b1e9927e7_0_0"/>
          <p:cNvSpPr txBox="1"/>
          <p:nvPr/>
        </p:nvSpPr>
        <p:spPr>
          <a:xfrm>
            <a:off x="6580575" y="4267195"/>
            <a:ext cx="2278800" cy="4605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100">
                <a:solidFill>
                  <a:srgbClr val="858585"/>
                </a:solidFill>
                <a:latin typeface="Roboto"/>
                <a:ea typeface="Roboto"/>
                <a:cs typeface="Roboto"/>
                <a:sym typeface="Roboto"/>
              </a:rPr>
              <a:t>why did we pick XGBoost</a:t>
            </a:r>
            <a:endParaRPr sz="1100">
              <a:solidFill>
                <a:srgbClr val="858585"/>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379461babfd_2_7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469" name="Google Shape;469;g379461babfd_2_7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Identify top 3 retailers (in the champion cluster?)</a:t>
            </a:r>
            <a:endParaRPr/>
          </a:p>
          <a:p>
            <a:pPr marL="457200" lvl="0" indent="-342900" algn="l" rtl="0">
              <a:spcBef>
                <a:spcPts val="0"/>
              </a:spcBef>
              <a:spcAft>
                <a:spcPts val="0"/>
              </a:spcAft>
              <a:buSzPts val="1800"/>
              <a:buChar char="-"/>
            </a:pPr>
            <a:r>
              <a:rPr lang="en-US"/>
              <a:t>top 3 SKUs</a:t>
            </a:r>
            <a:endParaRPr/>
          </a:p>
          <a:p>
            <a:pPr marL="457200" lvl="0" indent="-342900" algn="l" rtl="0">
              <a:spcBef>
                <a:spcPts val="0"/>
              </a:spcBef>
              <a:spcAft>
                <a:spcPts val="0"/>
              </a:spcAft>
              <a:buSzPts val="1800"/>
              <a:buChar char="-"/>
            </a:pPr>
            <a:r>
              <a:rPr lang="en-US"/>
              <a:t>sales trend analysis of last 2 years, present NEXT 90-180 days</a:t>
            </a:r>
            <a:endParaRPr/>
          </a:p>
          <a:p>
            <a:pPr marL="0" lvl="0" indent="0" algn="l" rtl="0">
              <a:spcBef>
                <a:spcPts val="1000"/>
              </a:spcBef>
              <a:spcAft>
                <a:spcPts val="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379461babfd_2_1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475" name="Google Shape;475;g379461babfd_2_19"/>
          <p:cNvSpPr txBox="1">
            <a:spLocks noGrp="1"/>
          </p:cNvSpPr>
          <p:nvPr>
            <p:ph type="body" idx="1"/>
          </p:nvPr>
        </p:nvSpPr>
        <p:spPr>
          <a:xfrm>
            <a:off x="838200" y="1825625"/>
            <a:ext cx="10515600" cy="4683000"/>
          </a:xfrm>
          <a:prstGeom prst="rect">
            <a:avLst/>
          </a:prstGeom>
        </p:spPr>
        <p:txBody>
          <a:bodyPr spcFirstLastPara="1" wrap="square" lIns="91425" tIns="45700" rIns="91425" bIns="45700" anchor="t" anchorCtr="0">
            <a:normAutofit lnSpcReduction="10000"/>
          </a:bodyPr>
          <a:lstStyle/>
          <a:p>
            <a:pPr marL="457200" lvl="0" indent="-342900" algn="l" rtl="0">
              <a:spcBef>
                <a:spcPts val="1000"/>
              </a:spcBef>
              <a:spcAft>
                <a:spcPts val="0"/>
              </a:spcAft>
              <a:buSzPts val="1800"/>
              <a:buChar char="-"/>
            </a:pPr>
            <a:r>
              <a:rPr lang="en-US"/>
              <a:t>% of contribution to revenue (Which cluster contributes the most to Quinet's revenue) ✅</a:t>
            </a:r>
            <a:br>
              <a:rPr lang="en-US"/>
            </a:br>
            <a:endParaRPr/>
          </a:p>
          <a:p>
            <a:pPr marL="457200" lvl="0" indent="-342900" algn="l" rtl="0">
              <a:spcBef>
                <a:spcPts val="0"/>
              </a:spcBef>
              <a:spcAft>
                <a:spcPts val="0"/>
              </a:spcAft>
              <a:buSzPts val="1800"/>
              <a:buChar char="-"/>
            </a:pPr>
            <a:r>
              <a:rPr lang="en-US"/>
              <a:t>Based on the cluster selected:</a:t>
            </a:r>
            <a:endParaRPr/>
          </a:p>
          <a:p>
            <a:pPr marL="914400" lvl="1" indent="-342900" algn="l" rtl="0">
              <a:spcBef>
                <a:spcPts val="0"/>
              </a:spcBef>
              <a:spcAft>
                <a:spcPts val="0"/>
              </a:spcAft>
              <a:buSzPts val="1800"/>
              <a:buChar char="-"/>
            </a:pPr>
            <a:r>
              <a:rPr lang="en-US"/>
              <a:t>Monetary value over-time ✅ </a:t>
            </a:r>
            <a:br>
              <a:rPr lang="en-US"/>
            </a:br>
            <a:endParaRPr/>
          </a:p>
          <a:p>
            <a:pPr marL="457200" lvl="0" indent="-342900" algn="l" rtl="0">
              <a:spcBef>
                <a:spcPts val="0"/>
              </a:spcBef>
              <a:spcAft>
                <a:spcPts val="0"/>
              </a:spcAft>
              <a:buSzPts val="1800"/>
              <a:buChar char="-"/>
            </a:pPr>
            <a:r>
              <a:rPr lang="en-US"/>
              <a:t>?Trendline of retailer within each group</a:t>
            </a:r>
            <a:endParaRPr/>
          </a:p>
          <a:p>
            <a:pPr marL="914400" lvl="1" indent="-342900" algn="l" rtl="0">
              <a:spcBef>
                <a:spcPts val="0"/>
              </a:spcBef>
              <a:spcAft>
                <a:spcPts val="0"/>
              </a:spcAft>
              <a:buSzPts val="1800"/>
              <a:buChar char="-"/>
            </a:pPr>
            <a:r>
              <a:rPr lang="en-US"/>
              <a:t>If decreasing:</a:t>
            </a:r>
            <a:endParaRPr/>
          </a:p>
          <a:p>
            <a:pPr marL="1371600" lvl="2" indent="-342900" algn="l" rtl="0">
              <a:spcBef>
                <a:spcPts val="0"/>
              </a:spcBef>
              <a:spcAft>
                <a:spcPts val="0"/>
              </a:spcAft>
              <a:buSzPts val="1800"/>
              <a:buChar char="-"/>
            </a:pPr>
            <a:r>
              <a:rPr lang="en-US"/>
              <a:t>How to re-engage</a:t>
            </a:r>
            <a:endParaRPr/>
          </a:p>
          <a:p>
            <a:pPr marL="1371600" lvl="2" indent="-342900" algn="l" rtl="0">
              <a:spcBef>
                <a:spcPts val="0"/>
              </a:spcBef>
              <a:spcAft>
                <a:spcPts val="0"/>
              </a:spcAft>
              <a:buSzPts val="1800"/>
              <a:buChar char="-"/>
            </a:pPr>
            <a:r>
              <a:rPr lang="en-US"/>
              <a:t>ROI of re-engagement</a:t>
            </a:r>
            <a:endParaRPr/>
          </a:p>
          <a:p>
            <a:pPr marL="914400" lvl="1" indent="-342900" algn="l" rtl="0">
              <a:spcBef>
                <a:spcPts val="0"/>
              </a:spcBef>
              <a:spcAft>
                <a:spcPts val="0"/>
              </a:spcAft>
              <a:buSzPts val="1800"/>
              <a:buChar char="-"/>
            </a:pPr>
            <a:r>
              <a:rPr lang="en-US"/>
              <a:t>If increasing:</a:t>
            </a:r>
            <a:endParaRPr/>
          </a:p>
          <a:p>
            <a:pPr marL="1371600" lvl="2" indent="-342900" algn="l" rtl="0">
              <a:spcBef>
                <a:spcPts val="0"/>
              </a:spcBef>
              <a:spcAft>
                <a:spcPts val="0"/>
              </a:spcAft>
              <a:buSzPts val="1800"/>
              <a:buChar char="-"/>
            </a:pPr>
            <a:r>
              <a:rPr lang="en-US"/>
              <a:t>How to reward</a:t>
            </a:r>
            <a:endParaRPr/>
          </a:p>
          <a:p>
            <a:pPr marL="1371600" lvl="2" indent="-342900" algn="l" rtl="0">
              <a:spcBef>
                <a:spcPts val="0"/>
              </a:spcBef>
              <a:spcAft>
                <a:spcPts val="0"/>
              </a:spcAft>
              <a:buSzPts val="1800"/>
              <a:buChar char="-"/>
            </a:pPr>
            <a:r>
              <a:rPr lang="en-US"/>
              <a:t>ROI of reward</a:t>
            </a:r>
            <a:br>
              <a:rPr lang="en-US"/>
            </a:br>
            <a:endParaRPr/>
          </a:p>
          <a:p>
            <a:pPr marL="457200" lvl="0" indent="-342900" algn="l" rtl="0">
              <a:spcBef>
                <a:spcPts val="0"/>
              </a:spcBef>
              <a:spcAft>
                <a:spcPts val="0"/>
              </a:spcAft>
              <a:buSzPts val="1800"/>
              <a:buChar char="-"/>
            </a:pPr>
            <a:r>
              <a:rPr lang="en-US"/>
              <a:t>Pipeline ahh</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g3853bc6cd8b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from sifat</a:t>
            </a:r>
            <a:endParaRPr/>
          </a:p>
        </p:txBody>
      </p:sp>
      <p:sp>
        <p:nvSpPr>
          <p:cNvPr id="481" name="Google Shape;481;g3853bc6cd8b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20000"/>
          </a:bodyPr>
          <a:lstStyle/>
          <a:p>
            <a:pPr marL="457200" lvl="0" indent="-293211" algn="l" rtl="0">
              <a:lnSpc>
                <a:spcPct val="115000"/>
              </a:lnSpc>
              <a:spcBef>
                <a:spcPts val="1200"/>
              </a:spcBef>
              <a:spcAft>
                <a:spcPts val="0"/>
              </a:spcAft>
              <a:buSzPct val="39285"/>
              <a:buAutoNum type="arabicPeriod"/>
            </a:pPr>
            <a:r>
              <a:rPr lang="en-US"/>
              <a:t>Demonstrate knowledge of analytics workflow - How did steps in analytical workflows were used in solution generation?</a:t>
            </a:r>
            <a:endParaRPr/>
          </a:p>
          <a:p>
            <a:pPr marL="457200" lvl="0" indent="-293211" algn="l" rtl="0">
              <a:lnSpc>
                <a:spcPct val="115000"/>
              </a:lnSpc>
              <a:spcBef>
                <a:spcPts val="0"/>
              </a:spcBef>
              <a:spcAft>
                <a:spcPts val="0"/>
              </a:spcAft>
              <a:buSzPct val="39285"/>
              <a:buAutoNum type="arabicPeriod"/>
            </a:pPr>
            <a:r>
              <a:rPr lang="en-US"/>
              <a:t>Completeness of Solution - Is there a solution to deliver to end stakeholder?</a:t>
            </a:r>
            <a:endParaRPr/>
          </a:p>
          <a:p>
            <a:pPr marL="457200" lvl="0" indent="-293211" algn="l" rtl="0">
              <a:lnSpc>
                <a:spcPct val="115000"/>
              </a:lnSpc>
              <a:spcBef>
                <a:spcPts val="0"/>
              </a:spcBef>
              <a:spcAft>
                <a:spcPts val="0"/>
              </a:spcAft>
              <a:buSzPct val="39285"/>
              <a:buAutoNum type="arabicPeriod"/>
            </a:pPr>
            <a:r>
              <a:rPr lang="en-US"/>
              <a:t>Quality of Content - How well does the recommendations add value to end stakeholder?</a:t>
            </a:r>
            <a:endParaRPr/>
          </a:p>
          <a:p>
            <a:pPr marL="457200" lvl="0" indent="-293211" algn="l" rtl="0">
              <a:lnSpc>
                <a:spcPct val="115000"/>
              </a:lnSpc>
              <a:spcBef>
                <a:spcPts val="0"/>
              </a:spcBef>
              <a:spcAft>
                <a:spcPts val="0"/>
              </a:spcAft>
              <a:buSzPct val="39285"/>
              <a:buAutoNum type="arabicPeriod"/>
            </a:pPr>
            <a:r>
              <a:rPr lang="en-US"/>
              <a:t>Presentation Skill - How engaging and interesting the presentation delivery?</a:t>
            </a:r>
            <a:endParaRPr/>
          </a:p>
          <a:p>
            <a:pPr marL="457200" lvl="0" indent="-293211" algn="l" rtl="0">
              <a:lnSpc>
                <a:spcPct val="115000"/>
              </a:lnSpc>
              <a:spcBef>
                <a:spcPts val="0"/>
              </a:spcBef>
              <a:spcAft>
                <a:spcPts val="0"/>
              </a:spcAft>
              <a:buSzPct val="39285"/>
              <a:buAutoNum type="arabicPeriod"/>
            </a:pPr>
            <a:r>
              <a:rPr lang="en-US"/>
              <a:t>Timeliness - is time limit met? (Note: 12mins presentation + 10mins Q&amp;A)</a:t>
            </a:r>
            <a:endParaRPr/>
          </a:p>
          <a:p>
            <a:pPr marL="0" lvl="0" indent="0" algn="l" rtl="0">
              <a:spcBef>
                <a:spcPts val="1200"/>
              </a:spcBef>
              <a:spcAft>
                <a:spcPts val="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3853bc6cd8b_0_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From Geetika</a:t>
            </a:r>
            <a:endParaRPr/>
          </a:p>
        </p:txBody>
      </p:sp>
      <p:sp>
        <p:nvSpPr>
          <p:cNvPr id="487" name="Google Shape;487;g3853bc6cd8b_0_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Clr>
                <a:schemeClr val="dk1"/>
              </a:buClr>
              <a:buSzPct val="39285"/>
              <a:buFont typeface="Arial"/>
              <a:buNone/>
            </a:pPr>
            <a:endParaRPr/>
          </a:p>
          <a:p>
            <a:pPr marL="0" lvl="0" indent="0" algn="l" rtl="0">
              <a:spcBef>
                <a:spcPts val="1000"/>
              </a:spcBef>
              <a:spcAft>
                <a:spcPts val="0"/>
              </a:spcAft>
              <a:buNone/>
            </a:pPr>
            <a:r>
              <a:rPr lang="en-US"/>
              <a:t>1. Raw data+processed data files </a:t>
            </a:r>
            <a:br>
              <a:rPr lang="en-US"/>
            </a:br>
            <a:r>
              <a:rPr lang="en-US"/>
              <a:t>Make sure we have all the raw data and process data files read - e.g. all the csv, excel, text files - have these ready, nicely organised and structured in folder - whenever needed, can just show the file to back up our claim </a:t>
            </a:r>
            <a:endParaRPr/>
          </a:p>
          <a:p>
            <a:pPr marL="0" lvl="0" indent="0" algn="l" rtl="0">
              <a:spcBef>
                <a:spcPts val="1000"/>
              </a:spcBef>
              <a:spcAft>
                <a:spcPts val="0"/>
              </a:spcAft>
              <a:buNone/>
            </a:pPr>
            <a:endParaRPr/>
          </a:p>
          <a:p>
            <a:pPr marL="0" lvl="0" indent="0" algn="l" rtl="0">
              <a:spcBef>
                <a:spcPts val="1000"/>
              </a:spcBef>
              <a:spcAft>
                <a:spcPts val="0"/>
              </a:spcAft>
              <a:buClr>
                <a:schemeClr val="dk1"/>
              </a:buClr>
              <a:buSzPct val="39285"/>
              <a:buFont typeface="Arial"/>
              <a:buNone/>
            </a:pPr>
            <a:r>
              <a:rPr lang="en-US"/>
              <a:t>2. Completeness wrt base question </a:t>
            </a:r>
            <a:endParaRPr/>
          </a:p>
          <a:p>
            <a:pPr marL="0" lvl="0" indent="0" algn="l" rtl="0">
              <a:spcBef>
                <a:spcPts val="1000"/>
              </a:spcBef>
              <a:spcAft>
                <a:spcPts val="0"/>
              </a:spcAft>
              <a:buClr>
                <a:schemeClr val="dk1"/>
              </a:buClr>
              <a:buSzPct val="39285"/>
              <a:buFont typeface="Arial"/>
              <a:buNone/>
            </a:pPr>
            <a:r>
              <a:rPr lang="en-US"/>
              <a:t>Completeness of the solution - based on deck brief </a:t>
            </a:r>
            <a:endParaRPr/>
          </a:p>
          <a:p>
            <a:pPr marL="0" lvl="0" indent="0" algn="l" rtl="0">
              <a:spcBef>
                <a:spcPts val="1000"/>
              </a:spcBef>
              <a:spcAft>
                <a:spcPts val="0"/>
              </a:spcAft>
              <a:buClr>
                <a:schemeClr val="dk1"/>
              </a:buClr>
              <a:buSzPct val="39285"/>
              <a:buFont typeface="Arial"/>
              <a:buNone/>
            </a:pPr>
            <a:r>
              <a:rPr lang="en-US"/>
              <a:t>Make sure that all points are addressed </a:t>
            </a:r>
            <a:endParaRPr/>
          </a:p>
          <a:p>
            <a:pPr marL="0" lvl="0" indent="0" algn="l" rtl="0">
              <a:spcBef>
                <a:spcPts val="1000"/>
              </a:spcBef>
              <a:spcAft>
                <a:spcPts val="0"/>
              </a:spcAft>
              <a:buClr>
                <a:schemeClr val="dk1"/>
              </a:buClr>
              <a:buSzPct val="39285"/>
              <a:buFont typeface="Arial"/>
              <a:buNone/>
            </a:pPr>
            <a:r>
              <a:rPr lang="en-US"/>
              <a:t>Base questions are listed and answered </a:t>
            </a:r>
            <a:endParaRPr/>
          </a:p>
          <a:p>
            <a:pPr marL="0" lvl="0" indent="0" algn="l" rtl="0">
              <a:spcBef>
                <a:spcPts val="1000"/>
              </a:spcBef>
              <a:spcAft>
                <a:spcPts val="0"/>
              </a:spcAft>
              <a:buClr>
                <a:schemeClr val="dk1"/>
              </a:buClr>
              <a:buSzPct val="39285"/>
              <a:buFont typeface="Arial"/>
              <a:buNone/>
            </a:pPr>
            <a:r>
              <a:rPr lang="en-US"/>
              <a:t>Checklist with all the components are present </a:t>
            </a:r>
            <a:endParaRPr/>
          </a:p>
          <a:p>
            <a:pPr marL="0" lvl="0" indent="0" algn="l" rtl="0">
              <a:spcBef>
                <a:spcPts val="100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2767</Words>
  <Application>Microsoft Office PowerPoint</Application>
  <PresentationFormat>Widescreen</PresentationFormat>
  <Paragraphs>514</Paragraphs>
  <Slides>42</Slides>
  <Notes>42</Notes>
  <HiddenSlides>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Roboto</vt:lpstr>
      <vt:lpstr>Times New Roman</vt:lpstr>
      <vt:lpstr>Roboto Mono</vt:lpstr>
      <vt:lpstr>Play</vt:lpstr>
      <vt:lpstr>Office Theme</vt:lpstr>
      <vt:lpstr>BCG RISE 2.0 </vt:lpstr>
      <vt:lpstr>AGENDA</vt:lpstr>
      <vt:lpstr>OVERVIEW</vt:lpstr>
      <vt:lpstr>PRELIMINARY FINDINGS AND OBSERVATIONS</vt:lpstr>
      <vt:lpstr>PowerPoint Presentation</vt:lpstr>
      <vt:lpstr>PowerPoint Presentation</vt:lpstr>
      <vt:lpstr>PowerPoint Presentation</vt:lpstr>
      <vt:lpstr>PRELIMINARY FINDINGS AND OBSERVATIONS</vt:lpstr>
      <vt:lpstr>DATA ANALYSIS</vt:lpstr>
      <vt:lpstr>CUSTOMER SEGMENTATION</vt:lpstr>
      <vt:lpstr>CUSTOMER SEGMENTATION</vt:lpstr>
      <vt:lpstr>CUSTOMER SEGMENTATION - PROFIT ANALYSIS </vt:lpstr>
      <vt:lpstr>PROFIT ANALYSIS (COMPARISON) </vt:lpstr>
      <vt:lpstr>“CHAMPION” - MONETARY TREND</vt:lpstr>
      <vt:lpstr>“LOYAL” - MONETARY TREND</vt:lpstr>
      <vt:lpstr>“NEEDS ATTENTION” - MONETARY TREND</vt:lpstr>
      <vt:lpstr>PREDICTIVE MODELS EXPLORED</vt:lpstr>
      <vt:lpstr>XGBoost</vt:lpstr>
      <vt:lpstr>SOFT CHURN PREDICTION (2024)</vt:lpstr>
      <vt:lpstr>FORWARD LOOKING ROADMAP</vt:lpstr>
      <vt:lpstr>PowerPoint Presentation</vt:lpstr>
      <vt:lpstr>Prioritization framework</vt:lpstr>
      <vt:lpstr>6 MONTHS FORWARD LOOKING ROADMAP</vt:lpstr>
      <vt:lpstr>Q&amp;A</vt:lpstr>
      <vt:lpstr>The End</vt:lpstr>
      <vt:lpstr>OVERVIEW</vt:lpstr>
      <vt:lpstr>OVERVIEW</vt:lpstr>
      <vt:lpstr>Loyal Cluster</vt:lpstr>
      <vt:lpstr>SOFT CHURN ANALYSIS – CUSTOMER SEGMENTATION</vt:lpstr>
      <vt:lpstr>QUESTIONS RAISED</vt:lpstr>
      <vt:lpstr>POTENTIAL SOFT CHURN CUSTOMERS</vt:lpstr>
      <vt:lpstr>POTENTIAL SOFT CHURN CUSTOMERS</vt:lpstr>
      <vt:lpstr>Kmeans vs RFM</vt:lpstr>
      <vt:lpstr>CUSTOMER SEGMENTATION  - PROFIT ANALYSIS (OVERALL)</vt:lpstr>
      <vt:lpstr>CUSTOMER SEGMENTATION  - PROFIT ANALYSIS (2024)</vt:lpstr>
      <vt:lpstr>CUSTOMER SEGMENTATION - LOYAL REFLECTING RETAILER TYPE</vt:lpstr>
      <vt:lpstr>CUSTOMER SEGMENTATION - NEEDS ATTENTION REFLECTING RETAILER TYPE</vt:lpstr>
      <vt:lpstr>PREDICTIVE MODELS EXPLORED</vt:lpstr>
      <vt:lpstr>PowerPoint Presentation</vt:lpstr>
      <vt:lpstr>PowerPoint Presentation</vt:lpstr>
      <vt:lpstr>from sifat</vt:lpstr>
      <vt:lpstr>From Geetika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Kah Yan Li</dc:creator>
  <cp:lastModifiedBy>SINGH ARUSH</cp:lastModifiedBy>
  <cp:revision>1</cp:revision>
  <dcterms:created xsi:type="dcterms:W3CDTF">2025-08-12T12:13:20Z</dcterms:created>
  <dcterms:modified xsi:type="dcterms:W3CDTF">2025-09-04T13:52:29Z</dcterms:modified>
</cp:coreProperties>
</file>